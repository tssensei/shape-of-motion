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d3a1d3e3e94c26" /><Relationship Type="http://schemas.openxmlformats.org/officeDocument/2006/relationships/extended-properties" Target="/docProps/app.xml" Id="Ra3dca1aec0f84a78" /><Relationship Type="http://schemas.openxmlformats.org/officeDocument/2006/relationships/officeDocument" Target="/ppt/presentation.xml" Id="R28de15458846472d" /></Relationships>
</file>

<file path=ppt/presentation.xml><?xml version="1.0" encoding="utf-8"?>
<p:presentation xmlns:p="http://schemas.openxmlformats.org/presentationml/2006/main">
  <p:sldMasterIdLst>
    <p:sldMasterId xmlns:r="http://schemas.openxmlformats.org/officeDocument/2006/relationships" id="2147483648" r:id="R7a40f01e6146457b"/>
  </p:sldMasterIdLst>
  <p:notesMasterIdLst>
    <p:notesMasterId xmlns:r="http://schemas.openxmlformats.org/officeDocument/2006/relationships" r:id="R9c414c61fffa406a"/>
  </p:notesMasterIdLst>
  <p:sldIdLst>
    <p:sldId xmlns:r="http://schemas.openxmlformats.org/officeDocument/2006/relationships" id="256" r:id="R85d63248571f47d2"/>
  </p:sldIdLst>
  <p:sldSz cx="27432000" cy="3657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ed59c65316471c" /><Relationship Type="http://schemas.openxmlformats.org/officeDocument/2006/relationships/slideMaster" Target="/ppt/slideMasters/slideMaster1.xml" Id="R7a40f01e6146457b" /><Relationship Type="http://schemas.openxmlformats.org/officeDocument/2006/relationships/notesMaster" Target="/ppt/notesMasters/notesMaster1.xml" Id="R9c414c61fffa406a" /><Relationship Type="http://schemas.openxmlformats.org/officeDocument/2006/relationships/presProps" Target="/ppt/presProps.xml" Id="R350b1a3e5b094e4e" /><Relationship Type="http://schemas.openxmlformats.org/officeDocument/2006/relationships/tableStyles" Target="/ppt/tableStyles.xml" Id="R682f276c1bf84640" /><Relationship Type="http://schemas.openxmlformats.org/officeDocument/2006/relationships/slide" Target="/ppt/slides/slide1.xml" Id="R85d63248571f47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8645f6d83c4e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c9147168e48c5" /><Relationship Type="http://schemas.openxmlformats.org/officeDocument/2006/relationships/notesMaster" Target="/ppt/notesMasters/notesMaster1.xml" Id="Re167132b0e894b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endParaRPr/>
          </a:p>
          <a:p xmlns:a="http://schemas.openxmlformats.org/drawingml/2006/main">
            <a:pPr>
              <a:buNone/>
            </a:pPr>
            <a:r>
              <a:t>- docs/poster_drafts/bush_spatial_modes_poster_v2.tex (poster copy and layout source)</a:t>
            </a:r>
            <a:endParaRPr/>
          </a:p>
          <a:p xmlns:a="http://schemas.openxmlformats.org/drawingml/2006/main">
            <a:pPr>
              <a:buNone/>
            </a:pPr>
            <a:r>
              <a:t>- C:/Users/zitengsong/Documents/school/research/dynamicGSPaper/Shape of Motion.pdf (3D Gaussian motion context)</a:t>
            </a:r>
            <a:endParaRPr/>
          </a:p>
          <a:p xmlns:a="http://schemas.openxmlformats.org/drawingml/2006/main">
            <a:pPr>
              <a:buNone/>
            </a:pPr>
            <a:r>
              <a:t>- C:/Users/zitengsong/Documents/school/research/ISMB_Davis_2015.pdf (video modal analysis)</a:t>
            </a:r>
            <a:endParaRPr/>
          </a:p>
          <a:p xmlns:a="http://schemas.openxmlformats.org/drawingml/2006/main">
            <a:pPr>
              <a:buNone/>
            </a:pPr>
            <a:r>
              <a:t>- Kerbl et al., 3D Gaussian Splatting for Real-Time Radiance Field Rendering, 2023.</a:t>
            </a:r>
            <a:endParaRPr/>
          </a:p>
          <a:p xmlns:a="http://schemas.openxmlformats.org/drawingml/2006/main">
            <a:pPr>
              <a:buNone/>
            </a:pPr>
            <a:r>
              <a:t>- C:/Users/zitengsong/Documents/school/research/dynamicGSPaper/Computer Graphics Forum - 2023 - Petitjean - ModalNeRF  Neural Modal Analysis and Synthesis for Free-Viewpoint Navigation.pdf (3D modal analysis, reduced modes, and synthesis)</a:t>
            </a:r>
            <a:endParaRPr/>
          </a:p>
          <a:p xmlns:a="http://schemas.openxmlformats.org/drawingml/2006/main">
            <a:pPr>
              <a:buNone/>
            </a:pPr>
            <a:r>
              <a:t>[/Sources]</a:t>
            </a:r>
            <a:endParaRPr/>
          </a:p>
          <a:p xmlns:a="http://schemas.openxmlformats.org/drawingml/2006/main">
            <a:pPr>
              <a:buNone/>
            </a:pPr>
            <a:r>
              <a:t/>
            </a:r>
            <a:endParaRPr/>
          </a:p>
          <a:p xmlns:a="http://schemas.openxmlformats.org/drawingml/2006/main">
            <a:pPr>
              <a:buNone/>
            </a:pPr>
            <a:r>
              <a:t>[Sources]</a:t>
            </a:r>
            <a:endParaRPr/>
          </a:p>
          <a:p xmlns:a="http://schemas.openxmlformats.org/drawingml/2006/main">
            <a:pPr>
              <a:buNone/>
            </a:pPr>
            <a:r>
              <a:t>- docs/poster_drafts/bush_spatial_modes_poster_v3.pptx (approved visual frame and Bush experiment assets)</a:t>
            </a:r>
            <a:endParaRPr/>
          </a:p>
          <a:p xmlns:a="http://schemas.openxmlformats.org/drawingml/2006/main">
            <a:pPr>
              <a:buNone/>
            </a:pPr>
            <a:r>
              <a:t>- C:/Users/zitengsong/Documents/school/research/ISMB_Davis_2015.pdf (frequency-domain video modal extraction framing)</a:t>
            </a:r>
            <a:endParaRPr/>
          </a:p>
          <a:p xmlns:a="http://schemas.openxmlformats.org/drawingml/2006/main">
            <a:pPr>
              <a:buNone/>
            </a:pPr>
            <a:r>
              <a:t>- Kerbl et al., 3D Gaussian Splatting for Real-Time Radiance Field Rendering, 2023 (canonical 3D Gaussian representation)</a:t>
            </a:r>
            <a:endParaRPr/>
          </a:p>
          <a:p xmlns:a="http://schemas.openxmlformats.org/drawingml/2006/main">
            <a:pPr>
              <a:buNone/>
            </a:pPr>
            <a:r>
              <a:t>- OpenAI image generation, 2026-08-07 (beam vibration-mode illustration generated for this poster)</a:t>
            </a:r>
            <a:endParaRPr/>
          </a:p>
          <a:p xmlns:a="http://schemas.openxmlformats.org/drawingml/2006/main">
            <a:pPr>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9ddafcad724288"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e0ead2f5174771" /><Relationship Type="http://schemas.openxmlformats.org/officeDocument/2006/relationships/slideLayout" Target="/ppt/slideLayouts/slideLayout1.xml" Id="Rde10282e4c6f49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10282e4c6f49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2dbd81357740fb" /><Relationship Type="http://schemas.openxmlformats.org/officeDocument/2006/relationships/image" Target="/ppt/media/image.png" Id="R5f498b13045548a0" /><Relationship Type="http://schemas.openxmlformats.org/officeDocument/2006/relationships/image" Target="/ppt/media/image2.png" Id="R3cdbc568fe704ea4" /><Relationship Type="http://schemas.openxmlformats.org/officeDocument/2006/relationships/image" Target="/ppt/media/image3.png" Id="R9e7720a706fe4ae1" /><Relationship Type="http://schemas.openxmlformats.org/officeDocument/2006/relationships/image" Target="/ppt/media/image4.png" Id="Rda01a2916cc94b1c" /><Relationship Type="http://schemas.openxmlformats.org/officeDocument/2006/relationships/image" Target="/ppt/media/image5.png" Id="R82f9da38a56649ba" /><Relationship Type="http://schemas.openxmlformats.org/officeDocument/2006/relationships/image" Target="/ppt/media/image6.png" Id="R171382529f0442d3" /><Relationship Type="http://schemas.openxmlformats.org/officeDocument/2006/relationships/image" Target="/ppt/media/image.jpeg" Id="R30ac5ac526b842eb" /><Relationship Type="http://schemas.openxmlformats.org/officeDocument/2006/relationships/image" Target="/ppt/media/image2.jpeg" Id="R7b0c59be524243eb" /><Relationship Type="http://schemas.openxmlformats.org/officeDocument/2006/relationships/image" Target="/ppt/media/image7.png" Id="R616cf513af5d42c2" /><Relationship Type="http://schemas.openxmlformats.org/officeDocument/2006/relationships/image" Target="/ppt/media/image8.png" Id="R822645e2f58b4259" /><Relationship Type="http://schemas.openxmlformats.org/officeDocument/2006/relationships/image" Target="/ppt/media/image9.png" Id="R28e45cbfc06b4be2" /><Relationship Type="http://schemas.openxmlformats.org/officeDocument/2006/relationships/image" Target="/ppt/media/image10.png" Id="Rcac84cc94c0a42a9" /><Relationship Type="http://schemas.openxmlformats.org/officeDocument/2006/relationships/image" Target="/ppt/media/image11.png" Id="R7254f298475c4e5b" /><Relationship Type="http://schemas.openxmlformats.org/officeDocument/2006/relationships/image" Target="/ppt/media/image12.png" Id="R1da42e3aaf0f43e4" /><Relationship Type="http://schemas.openxmlformats.org/officeDocument/2006/relationships/image" Target="/ppt/media/image13.png" Id="R3cd1451f33db4e86" /><Relationship Type="http://schemas.openxmlformats.org/officeDocument/2006/relationships/notesSlide" Target="/ppt/notesSlides/notesSlide1.xml" Id="Rec92d04e705e4f0d"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1309834" name="poster-title">
            <a:extLst xmlns:a="http://schemas.openxmlformats.org/drawingml/2006/main">
              <a:ext uri="{FF2B5EF4-FFF2-40B4-BE49-F238E27FC236}">
                <a16:creationId xmlns:a16="http://schemas.microsoft.com/office/drawing/2014/main" id="{E0F8E0AF-5966-4E2C-B334-274824C8A21D}"/>
              </a:ext>
            </a:extLst>
          </p:cNvPr>
          <p:cNvSpPr>
            <a:spLocks xmlns:a="http://schemas.openxmlformats.org/drawingml/2006/main" noGrp="1"/>
          </p:cNvSpPr>
          <p:nvPr/>
        </p:nvSpPr>
        <p:spPr>
          <a:xfrm xmlns:a="http://schemas.openxmlformats.org/drawingml/2006/main" rot="0">
            <a:off x="1714500" y="228600"/>
            <a:ext cx="2400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ctr">
            <a:noAutofit/>
          </a:bodyPr>
          <a:lstStyle xmlns:a="http://schemas.openxmlformats.org/drawingml/2006/main"/>
          <a:p xmlns:a="http://schemas.openxmlformats.org/drawingml/2006/main">
            <a:pPr algn="ctr">
              <a:lnSpc>
                <a:spcPct val="95000"/>
              </a:lnSpc>
              <a:buNone/>
              <a:defRPr sz="5550" b="1" i="0">
                <a:solidFill>
                  <a:srgbClr val="23313A"/>
                </a:solidFill>
                <a:latin typeface="Aptos"/>
                <a:ea typeface="Aptos"/>
                <a:cs typeface="Aptos"/>
              </a:defRPr>
            </a:pPr>
            <a:r>
              <a:rPr sz="5550" b="1" i="0" u="none" cap="none">
                <a:solidFill>
                  <a:srgbClr val="23313A"/>
                </a:solidFill>
                <a:latin typeface="Aptos"/>
                <a:ea typeface="Aptos"/>
                <a:cs typeface="Aptos"/>
              </a:rPr>
              <a:t>Toward 3D Physical Simulation from Asynchronous Multi-View Videos</a:t>
            </a:r>
            <a:endParaRPr/>
          </a:p>
        </p:txBody>
      </p:sp>
      <p:sp>
        <p:nvSpPr>
          <p:cNvPr id="636051069" name="poster-subtitle">
            <a:extLst xmlns:a="http://schemas.openxmlformats.org/drawingml/2006/main">
              <a:ext uri="{FF2B5EF4-FFF2-40B4-BE49-F238E27FC236}">
                <a16:creationId xmlns:a16="http://schemas.microsoft.com/office/drawing/2014/main" id="{1E4230B2-7A7F-45A0-BA59-856C6A457163}"/>
              </a:ext>
            </a:extLst>
          </p:cNvPr>
          <p:cNvSpPr>
            <a:spLocks xmlns:a="http://schemas.openxmlformats.org/drawingml/2006/main" noGrp="1"/>
          </p:cNvSpPr>
          <p:nvPr/>
        </p:nvSpPr>
        <p:spPr>
          <a:xfrm xmlns:a="http://schemas.openxmlformats.org/drawingml/2006/main" rot="0">
            <a:off x="2095499" y="1762124"/>
            <a:ext cx="2324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ctr">
            <a:noAutofit/>
          </a:bodyPr>
          <a:lstStyle xmlns:a="http://schemas.openxmlformats.org/drawingml/2006/main"/>
          <a:p xmlns:a="http://schemas.openxmlformats.org/drawingml/2006/main">
            <a:pPr algn="ctr">
              <a:lnSpc>
                <a:spcPct val="105000"/>
              </a:lnSpc>
              <a:buNone/>
              <a:defRPr sz="2200" b="0" i="0">
                <a:solidFill>
                  <a:srgbClr val="496577"/>
                </a:solidFill>
                <a:latin typeface="Aptos"/>
                <a:ea typeface="Aptos"/>
                <a:cs typeface="Aptos"/>
              </a:defRPr>
            </a:pPr>
            <a:r>
              <a:rPr sz="2200" b="0" i="0">
                <a:solidFill>
                  <a:srgbClr val="496577"/>
                </a:solidFill>
                <a:latin typeface="Aptos"/>
                <a:ea typeface="Aptos"/>
                <a:cs typeface="Aptos"/>
              </a:rPr>
              <a:t>Brian Song, Tianyi Zhang, Abe Davis</a:t>
            </a:r>
            <a:endParaRPr/>
          </a:p>
        </p:txBody>
      </p:sp>
      <p:sp>
        <p:nvSpPr>
          <p:cNvPr id="1599209883" name="poster-goal">
            <a:extLst xmlns:a="http://schemas.openxmlformats.org/drawingml/2006/main">
              <a:ext uri="{FF2B5EF4-FFF2-40B4-BE49-F238E27FC236}">
                <a16:creationId xmlns:a16="http://schemas.microsoft.com/office/drawing/2014/main" id="{D7023E9D-64A5-4CDF-913A-E9FB575E9B27}"/>
              </a:ext>
            </a:extLst>
          </p:cNvPr>
          <p:cNvSpPr>
            <a:spLocks xmlns:a="http://schemas.openxmlformats.org/drawingml/2006/main" noGrp="1"/>
          </p:cNvSpPr>
          <p:nvPr/>
        </p:nvSpPr>
        <p:spPr>
          <a:xfrm xmlns:a="http://schemas.openxmlformats.org/drawingml/2006/main" rot="0">
            <a:off x="476250" y="2266950"/>
            <a:ext cx="26479500" cy="742950"/>
          </a:xfrm>
          <a:prstGeom xmlns:a="http://schemas.openxmlformats.org/drawingml/2006/main" prst="rect">
            <a:avLst/>
          </a:prstGeom>
          <a:solidFill xmlns:a="http://schemas.openxmlformats.org/drawingml/2006/main">
            <a:srgbClr val="F3F0EA"/>
          </a:solidFill>
          <a:ln xmlns:a="http://schemas.openxmlformats.org/drawingml/2006/main" w="0">
            <a:noFill/>
            <a:prstDash val="solid"/>
          </a:ln>
        </p:spPr>
        <p:txBody>
          <a:bodyPr xmlns:a="http://schemas.openxmlformats.org/drawingml/2006/main" wrap="square" lIns="142875" tIns="66675" rIns="142875" bIns="66675" anchor="ctr">
            <a:noAutofit/>
          </a:bodyPr>
          <a:lstStyle xmlns:a="http://schemas.openxmlformats.org/drawingml/2006/main"/>
          <a:p xmlns:a="http://schemas.openxmlformats.org/drawingml/2006/main">
            <a:pPr algn="ctr">
              <a:lnSpc>
                <a:spcPct val="105000"/>
              </a:lnSpc>
              <a:buNone/>
              <a:defRPr sz="1750" b="0" i="0">
                <a:solidFill>
                  <a:srgbClr val="23313A"/>
                </a:solidFill>
                <a:latin typeface="Aptos"/>
                <a:ea typeface="Aptos"/>
                <a:cs typeface="Aptos"/>
              </a:defRPr>
            </a:pPr>
            <a:r>
              <a:rPr sz="2000" b="0" i="0">
                <a:solidFill>
                  <a:srgbClr val="23313A"/>
                </a:solidFill>
                <a:latin typeface="Aptos"/>
                <a:ea typeface="Aptos"/>
                <a:cs typeface="Aptos"/>
              </a:rPr>
              <a:t>Goal. Use one mobile phone to recover a view-consistent 3D Gaussian model and spatial vibration fields without synchronized cameras.</a:t>
            </a:r>
            <a:endParaRPr sz="2000"/>
          </a:p>
        </p:txBody>
      </p:sp>
      <p:sp>
        <p:nvSpPr>
          <p:cNvPr id="716764666" name="pipeline-title">
            <a:extLst xmlns:a="http://schemas.openxmlformats.org/drawingml/2006/main">
              <a:ext uri="{FF2B5EF4-FFF2-40B4-BE49-F238E27FC236}">
                <a16:creationId xmlns:a16="http://schemas.microsoft.com/office/drawing/2014/main" id="{3C6ABF21-4F43-462D-A648-B8275E5065A0}"/>
              </a:ext>
            </a:extLst>
          </p:cNvPr>
          <p:cNvSpPr>
            <a:spLocks xmlns:a="http://schemas.openxmlformats.org/drawingml/2006/main" noGrp="1"/>
          </p:cNvSpPr>
          <p:nvPr/>
        </p:nvSpPr>
        <p:spPr>
          <a:xfrm xmlns:a="http://schemas.openxmlformats.org/drawingml/2006/main" rot="0">
            <a:off x="9410699" y="2981323"/>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ctr">
              <a:lnSpc>
                <a:spcPct val="105000"/>
              </a:lnSpc>
              <a:buNone/>
              <a:defRPr sz="1900" b="1" i="0">
                <a:solidFill>
                  <a:srgbClr val="496577"/>
                </a:solidFill>
                <a:latin typeface="Aptos"/>
                <a:ea typeface="Aptos"/>
                <a:cs typeface="Aptos"/>
              </a:defRPr>
            </a:pPr>
            <a:r>
              <a:rPr sz="2200" b="1" i="0">
                <a:solidFill>
                  <a:srgbClr val="496577"/>
                </a:solidFill>
                <a:latin typeface="Aptos"/>
                <a:ea typeface="Aptos"/>
                <a:cs typeface="Aptos"/>
              </a:rPr>
              <a:t>End-to-end pipeline</a:t>
            </a:r>
            <a:endParaRPr sz="2200"/>
          </a:p>
        </p:txBody>
      </p:sp>
      <p:sp>
        <p:nvSpPr>
          <p:cNvPr id="937724527" name="pipeline-arrow-1">
            <a:extLst xmlns:a="http://schemas.openxmlformats.org/drawingml/2006/main">
              <a:ext uri="{FF2B5EF4-FFF2-40B4-BE49-F238E27FC236}">
                <a16:creationId xmlns:a16="http://schemas.microsoft.com/office/drawing/2014/main" id="{19C96416-5798-4733-B172-314F389D9C5E}"/>
              </a:ext>
            </a:extLst>
          </p:cNvPr>
          <p:cNvSpPr>
            <a:spLocks xmlns:a="http://schemas.openxmlformats.org/drawingml/2006/main" noGrp="1"/>
          </p:cNvSpPr>
          <p:nvPr/>
        </p:nvSpPr>
        <p:spPr>
          <a:xfrm xmlns:a="http://schemas.openxmlformats.org/drawingml/2006/main">
            <a:off x="3886200"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1881459701" name="pipeline-arrow-2">
            <a:extLst xmlns:a="http://schemas.openxmlformats.org/drawingml/2006/main">
              <a:ext uri="{FF2B5EF4-FFF2-40B4-BE49-F238E27FC236}">
                <a16:creationId xmlns:a16="http://schemas.microsoft.com/office/drawing/2014/main" id="{49608E98-5A88-47EB-A940-D0AB50BF7675}"/>
              </a:ext>
            </a:extLst>
          </p:cNvPr>
          <p:cNvSpPr>
            <a:spLocks xmlns:a="http://schemas.openxmlformats.org/drawingml/2006/main" noGrp="1"/>
          </p:cNvSpPr>
          <p:nvPr/>
        </p:nvSpPr>
        <p:spPr>
          <a:xfrm xmlns:a="http://schemas.openxmlformats.org/drawingml/2006/main">
            <a:off x="7000875"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882545661" name="pipeline-arrow-3">
            <a:extLst xmlns:a="http://schemas.openxmlformats.org/drawingml/2006/main">
              <a:ext uri="{FF2B5EF4-FFF2-40B4-BE49-F238E27FC236}">
                <a16:creationId xmlns:a16="http://schemas.microsoft.com/office/drawing/2014/main" id="{1F421320-524C-4A0A-82D7-6CA6099339B3}"/>
              </a:ext>
            </a:extLst>
          </p:cNvPr>
          <p:cNvSpPr>
            <a:spLocks xmlns:a="http://schemas.openxmlformats.org/drawingml/2006/main" noGrp="1"/>
          </p:cNvSpPr>
          <p:nvPr/>
        </p:nvSpPr>
        <p:spPr>
          <a:xfrm xmlns:a="http://schemas.openxmlformats.org/drawingml/2006/main">
            <a:off x="10115550"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1138591894" name="pipeline-arrow-4">
            <a:extLst xmlns:a="http://schemas.openxmlformats.org/drawingml/2006/main">
              <a:ext uri="{FF2B5EF4-FFF2-40B4-BE49-F238E27FC236}">
                <a16:creationId xmlns:a16="http://schemas.microsoft.com/office/drawing/2014/main" id="{EB79CD1C-DC6B-4C73-8831-29419B700AF8}"/>
              </a:ext>
            </a:extLst>
          </p:cNvPr>
          <p:cNvSpPr>
            <a:spLocks xmlns:a="http://schemas.openxmlformats.org/drawingml/2006/main" noGrp="1"/>
          </p:cNvSpPr>
          <p:nvPr/>
        </p:nvSpPr>
        <p:spPr>
          <a:xfrm xmlns:a="http://schemas.openxmlformats.org/drawingml/2006/main">
            <a:off x="13230225"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395323159" name="pipeline-arrow-5">
            <a:extLst xmlns:a="http://schemas.openxmlformats.org/drawingml/2006/main">
              <a:ext uri="{FF2B5EF4-FFF2-40B4-BE49-F238E27FC236}">
                <a16:creationId xmlns:a16="http://schemas.microsoft.com/office/drawing/2014/main" id="{A89266BB-1227-45A0-BE49-133DD4AF5868}"/>
              </a:ext>
            </a:extLst>
          </p:cNvPr>
          <p:cNvSpPr>
            <a:spLocks xmlns:a="http://schemas.openxmlformats.org/drawingml/2006/main" noGrp="1"/>
          </p:cNvSpPr>
          <p:nvPr/>
        </p:nvSpPr>
        <p:spPr>
          <a:xfrm xmlns:a="http://schemas.openxmlformats.org/drawingml/2006/main">
            <a:off x="16344900"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899864889" name="pipeline-arrow-6">
            <a:extLst xmlns:a="http://schemas.openxmlformats.org/drawingml/2006/main">
              <a:ext uri="{FF2B5EF4-FFF2-40B4-BE49-F238E27FC236}">
                <a16:creationId xmlns:a16="http://schemas.microsoft.com/office/drawing/2014/main" id="{5D1B5907-0762-4EB0-9E72-DAFDAFDB2D29}"/>
              </a:ext>
            </a:extLst>
          </p:cNvPr>
          <p:cNvSpPr>
            <a:spLocks xmlns:a="http://schemas.openxmlformats.org/drawingml/2006/main" noGrp="1"/>
          </p:cNvSpPr>
          <p:nvPr/>
        </p:nvSpPr>
        <p:spPr>
          <a:xfrm xmlns:a="http://schemas.openxmlformats.org/drawingml/2006/main">
            <a:off x="19459575"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676644952" name="pipeline-arrow-7">
            <a:extLst xmlns:a="http://schemas.openxmlformats.org/drawingml/2006/main">
              <a:ext uri="{FF2B5EF4-FFF2-40B4-BE49-F238E27FC236}">
                <a16:creationId xmlns:a16="http://schemas.microsoft.com/office/drawing/2014/main" id="{9C4FA56B-EEFD-4B2D-B03E-6746AA576E87}"/>
              </a:ext>
            </a:extLst>
          </p:cNvPr>
          <p:cNvSpPr>
            <a:spLocks xmlns:a="http://schemas.openxmlformats.org/drawingml/2006/main" noGrp="1"/>
          </p:cNvSpPr>
          <p:nvPr/>
        </p:nvSpPr>
        <p:spPr>
          <a:xfrm xmlns:a="http://schemas.openxmlformats.org/drawingml/2006/main">
            <a:off x="22574250" y="3686175"/>
            <a:ext cx="161925" cy="190500"/>
          </a:xfrm>
          <a:prstGeom xmlns:a="http://schemas.openxmlformats.org/drawingml/2006/main" prst="rightArrow">
            <a:avLst>
              <a:gd name="adj1" fmla="val 50000"/>
              <a:gd name="adj2" fmla="val 50000"/>
            </a:avLst>
          </a:prstGeom>
          <a:solidFill xmlns:a="http://schemas.openxmlformats.org/drawingml/2006/main">
            <a:srgbClr val="53616A"/>
          </a:solidFill>
          <a:ln xmlns:a="http://schemas.openxmlformats.org/drawingml/2006/main" w="4763">
            <a:solidFill>
              <a:srgbClr val="53616A"/>
            </a:solidFill>
            <a:prstDash val="solid"/>
          </a:ln>
        </p:spPr>
        <p:txBody>
          <a:bodyPr xmlns:a="http://schemas.openxmlformats.org/drawingml/2006/main" anchor="ctr"/>
          <a:lstStyle xmlns:a="http://schemas.openxmlformats.org/drawingml/2006/main"/>
          <a:p xmlns:a="http://schemas.openxmlformats.org/drawingml/2006/main">
            <a:pPr algn="ctr">
              <a:buNone/>
            </a:pPr>
            <a:endParaRPr sz="2200"/>
          </a:p>
        </p:txBody>
      </p:sp>
      <p:sp>
        <p:nvSpPr>
          <p:cNvPr id="1819371904" name="pipeline-step-1">
            <a:extLst xmlns:a="http://schemas.openxmlformats.org/drawingml/2006/main">
              <a:ext uri="{FF2B5EF4-FFF2-40B4-BE49-F238E27FC236}">
                <a16:creationId xmlns:a16="http://schemas.microsoft.com/office/drawing/2014/main" id="{32BD2F57-96D5-47E0-893D-5ECA58F1FD47}"/>
              </a:ext>
            </a:extLst>
          </p:cNvPr>
          <p:cNvSpPr>
            <a:spLocks xmlns:a="http://schemas.openxmlformats.org/drawingml/2006/main" noGrp="1"/>
          </p:cNvSpPr>
          <p:nvPr/>
        </p:nvSpPr>
        <p:spPr>
          <a:xfrm xmlns:a="http://schemas.openxmlformats.org/drawingml/2006/main" rot="0">
            <a:off x="952500"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496577"/>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1. Sweep + fixed videos</a:t>
            </a:r>
            <a:endParaRPr sz="2000"/>
          </a:p>
        </p:txBody>
      </p:sp>
      <p:sp>
        <p:nvSpPr>
          <p:cNvPr id="1435263483" name="pipeline-step-2">
            <a:extLst xmlns:a="http://schemas.openxmlformats.org/drawingml/2006/main">
              <a:ext uri="{FF2B5EF4-FFF2-40B4-BE49-F238E27FC236}">
                <a16:creationId xmlns:a16="http://schemas.microsoft.com/office/drawing/2014/main" id="{4FFFA9E1-D744-4C30-A0D8-50E64A1280BB}"/>
              </a:ext>
            </a:extLst>
          </p:cNvPr>
          <p:cNvSpPr>
            <a:spLocks xmlns:a="http://schemas.openxmlformats.org/drawingml/2006/main" noGrp="1"/>
          </p:cNvSpPr>
          <p:nvPr/>
        </p:nvSpPr>
        <p:spPr>
          <a:xfrm xmlns:a="http://schemas.openxmlformats.org/drawingml/2006/main" rot="0">
            <a:off x="4067175"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496577"/>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2. Joint COLMAP</a:t>
            </a:r>
            <a:endParaRPr sz="2000"/>
          </a:p>
        </p:txBody>
      </p:sp>
      <p:sp>
        <p:nvSpPr>
          <p:cNvPr id="1551068943" name="pipeline-step-3">
            <a:extLst xmlns:a="http://schemas.openxmlformats.org/drawingml/2006/main">
              <a:ext uri="{FF2B5EF4-FFF2-40B4-BE49-F238E27FC236}">
                <a16:creationId xmlns:a16="http://schemas.microsoft.com/office/drawing/2014/main" id="{1E75D61D-5518-4B61-A8A3-6D0A6FDF2367}"/>
              </a:ext>
            </a:extLst>
          </p:cNvPr>
          <p:cNvSpPr>
            <a:spLocks xmlns:a="http://schemas.openxmlformats.org/drawingml/2006/main" noGrp="1"/>
          </p:cNvSpPr>
          <p:nvPr/>
        </p:nvSpPr>
        <p:spPr>
          <a:xfrm xmlns:a="http://schemas.openxmlformats.org/drawingml/2006/main" rot="0">
            <a:off x="7181850"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658B70"/>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3. Static 3DGS</a:t>
            </a:r>
            <a:endParaRPr sz="2000"/>
          </a:p>
        </p:txBody>
      </p:sp>
      <p:sp>
        <p:nvSpPr>
          <p:cNvPr id="334198383" name="pipeline-step-4">
            <a:extLst xmlns:a="http://schemas.openxmlformats.org/drawingml/2006/main">
              <a:ext uri="{FF2B5EF4-FFF2-40B4-BE49-F238E27FC236}">
                <a16:creationId xmlns:a16="http://schemas.microsoft.com/office/drawing/2014/main" id="{8C7C507A-CC9F-463A-B32B-2D4C33015315}"/>
              </a:ext>
            </a:extLst>
          </p:cNvPr>
          <p:cNvSpPr>
            <a:spLocks xmlns:a="http://schemas.openxmlformats.org/drawingml/2006/main" noGrp="1"/>
          </p:cNvSpPr>
          <p:nvPr/>
        </p:nvSpPr>
        <p:spPr>
          <a:xfrm xmlns:a="http://schemas.openxmlformats.org/drawingml/2006/main" rot="0">
            <a:off x="10296525"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956B58"/>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4. Flow + Fourier modes</a:t>
            </a:r>
            <a:endParaRPr sz="2000"/>
          </a:p>
        </p:txBody>
      </p:sp>
      <p:sp>
        <p:nvSpPr>
          <p:cNvPr id="1994999440" name="pipeline-step-5">
            <a:extLst xmlns:a="http://schemas.openxmlformats.org/drawingml/2006/main">
              <a:ext uri="{FF2B5EF4-FFF2-40B4-BE49-F238E27FC236}">
                <a16:creationId xmlns:a16="http://schemas.microsoft.com/office/drawing/2014/main" id="{6685783E-4E1D-4125-A5A6-21938458DE66}"/>
              </a:ext>
            </a:extLst>
          </p:cNvPr>
          <p:cNvSpPr>
            <a:spLocks xmlns:a="http://schemas.openxmlformats.org/drawingml/2006/main" noGrp="1"/>
          </p:cNvSpPr>
          <p:nvPr/>
        </p:nvSpPr>
        <p:spPr>
          <a:xfrm xmlns:a="http://schemas.openxmlformats.org/drawingml/2006/main" rot="0">
            <a:off x="13411200"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658B70"/>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5. Pixel–Gaussian </a:t>
            </a:r>
            <a:r>
              <a:rPr sz="2000" b="1" i="0">
                <a:solidFill>
                  <a:srgbClr val="23313A"/>
                </a:solidFill>
                <a:latin typeface="Aptos"/>
                <a:ea typeface="Aptos"/>
                <a:cs typeface="Aptos"/>
              </a:rPr>
              <a:t>correspondence</a:t>
            </a:r>
            <a:endParaRPr sz="2000"/>
          </a:p>
        </p:txBody>
      </p:sp>
      <p:sp>
        <p:nvSpPr>
          <p:cNvPr id="1673729409" name="pipeline-step-6">
            <a:extLst xmlns:a="http://schemas.openxmlformats.org/drawingml/2006/main">
              <a:ext uri="{FF2B5EF4-FFF2-40B4-BE49-F238E27FC236}">
                <a16:creationId xmlns:a16="http://schemas.microsoft.com/office/drawing/2014/main" id="{C689486B-9E40-468F-B14A-DD131F967122}"/>
              </a:ext>
            </a:extLst>
          </p:cNvPr>
          <p:cNvSpPr>
            <a:spLocks xmlns:a="http://schemas.openxmlformats.org/drawingml/2006/main" noGrp="1"/>
          </p:cNvSpPr>
          <p:nvPr/>
        </p:nvSpPr>
        <p:spPr>
          <a:xfrm xmlns:a="http://schemas.openxmlformats.org/drawingml/2006/main" rot="0">
            <a:off x="16525875"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956B58"/>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6. View phase sync</a:t>
            </a:r>
            <a:endParaRPr sz="2000"/>
          </a:p>
        </p:txBody>
      </p:sp>
      <p:sp>
        <p:nvSpPr>
          <p:cNvPr id="1398863053" name="pipeline-step-7">
            <a:extLst xmlns:a="http://schemas.openxmlformats.org/drawingml/2006/main">
              <a:ext uri="{FF2B5EF4-FFF2-40B4-BE49-F238E27FC236}">
                <a16:creationId xmlns:a16="http://schemas.microsoft.com/office/drawing/2014/main" id="{39E64A1C-5613-4929-A6DF-1BCA37A3AA2E}"/>
              </a:ext>
            </a:extLst>
          </p:cNvPr>
          <p:cNvSpPr>
            <a:spLocks xmlns:a="http://schemas.openxmlformats.org/drawingml/2006/main" noGrp="1"/>
          </p:cNvSpPr>
          <p:nvPr/>
        </p:nvSpPr>
        <p:spPr>
          <a:xfrm xmlns:a="http://schemas.openxmlformats.org/drawingml/2006/main" rot="0">
            <a:off x="19640550"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496577"/>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7. Local 3D solve</a:t>
            </a:r>
            <a:endParaRPr sz="2000"/>
          </a:p>
        </p:txBody>
      </p:sp>
      <p:sp>
        <p:nvSpPr>
          <p:cNvPr id="139760919" name="pipeline-step-8">
            <a:extLst xmlns:a="http://schemas.openxmlformats.org/drawingml/2006/main">
              <a:ext uri="{FF2B5EF4-FFF2-40B4-BE49-F238E27FC236}">
                <a16:creationId xmlns:a16="http://schemas.microsoft.com/office/drawing/2014/main" id="{A11E2D64-8B1E-42F2-872B-1BEA31D56E3A}"/>
              </a:ext>
            </a:extLst>
          </p:cNvPr>
          <p:cNvSpPr>
            <a:spLocks xmlns:a="http://schemas.openxmlformats.org/drawingml/2006/main" noGrp="1"/>
          </p:cNvSpPr>
          <p:nvPr/>
        </p:nvSpPr>
        <p:spPr>
          <a:xfrm xmlns:a="http://schemas.openxmlformats.org/drawingml/2006/main" rot="0">
            <a:off x="22755224" y="3476625"/>
            <a:ext cx="2905125" cy="590549"/>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6193">
            <a:solidFill>
              <a:srgbClr val="658B70"/>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105000"/>
              </a:lnSpc>
              <a:buNone/>
              <a:defRPr sz="1650" b="1" i="0">
                <a:solidFill>
                  <a:srgbClr val="23313A"/>
                </a:solidFill>
                <a:latin typeface="Aptos"/>
                <a:ea typeface="Aptos"/>
                <a:cs typeface="Aptos"/>
              </a:defRPr>
            </a:pPr>
            <a:r>
              <a:rPr sz="2000" b="1" i="0">
                <a:solidFill>
                  <a:srgbClr val="23313A"/>
                </a:solidFill>
                <a:latin typeface="Aptos"/>
                <a:ea typeface="Aptos"/>
                <a:cs typeface="Aptos"/>
              </a:rPr>
              <a:t>8. Motion fill</a:t>
            </a:r>
            <a:endParaRPr sz="2000"/>
          </a:p>
        </p:txBody>
      </p:sp>
      <p:sp>
        <p:nvSpPr>
          <p:cNvPr id="628327327" name="pipeline-output">
            <a:extLst xmlns:a="http://schemas.openxmlformats.org/drawingml/2006/main">
              <a:ext uri="{FF2B5EF4-FFF2-40B4-BE49-F238E27FC236}">
                <a16:creationId xmlns:a16="http://schemas.microsoft.com/office/drawing/2014/main" id="{F91D4E55-B6B8-4772-A51E-5C32171CD698}"/>
              </a:ext>
            </a:extLst>
          </p:cNvPr>
          <p:cNvSpPr>
            <a:spLocks xmlns:a="http://schemas.openxmlformats.org/drawingml/2006/main" noGrp="1"/>
          </p:cNvSpPr>
          <p:nvPr/>
        </p:nvSpPr>
        <p:spPr>
          <a:xfrm xmlns:a="http://schemas.openxmlformats.org/drawingml/2006/main" rot="0">
            <a:off x="8572500" y="41433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0000"/>
              </a:lnSpc>
              <a:buNone/>
              <a:defRPr sz="1650" b="0" i="0">
                <a:solidFill>
                  <a:srgbClr val="53616A"/>
                </a:solidFill>
                <a:latin typeface="Cambria Math"/>
                <a:ea typeface="Cambria Math"/>
                <a:cs typeface="Cambria Math"/>
              </a:defRPr>
            </a:pPr>
            <a:r>
              <a:rPr sz="1650" b="0" i="0">
                <a:solidFill>
                  <a:srgbClr val="53616A"/>
                </a:solidFill>
                <a:latin typeface="Cambria Math"/>
                <a:ea typeface="Cambria Math"/>
                <a:cs typeface="Cambria Math"/>
              </a:rPr>
              <a:t>Output: completed complex spatial fields  φₖ ∈ ℂᴳˣ³</a:t>
            </a:r>
            <a:endParaRPr sz="1600"/>
          </a:p>
        </p:txBody>
      </p:sp>
      <p:sp>
        <p:nvSpPr>
          <p:cNvPr id="1994999441" name="section-1-Why Recover Vibration Modes?">
            <a:extLst xmlns:a="http://schemas.openxmlformats.org/drawingml/2006/main">
              <a:ext uri="{FF2B5EF4-FFF2-40B4-BE49-F238E27FC236}">
                <a16:creationId xmlns:a16="http://schemas.microsoft.com/office/drawing/2014/main" id="{FA86A331-7E12-4585-9AB7-EC3A5EFED0DD}"/>
              </a:ext>
            </a:extLst>
          </p:cNvPr>
          <p:cNvSpPr>
            <a:spLocks xmlns:a="http://schemas.openxmlformats.org/drawingml/2006/main" noGrp="1"/>
          </p:cNvSpPr>
          <p:nvPr/>
        </p:nvSpPr>
        <p:spPr>
          <a:xfrm xmlns:a="http://schemas.openxmlformats.org/drawingml/2006/main" rot="0">
            <a:off x="419100" y="4857750"/>
            <a:ext cx="13144500" cy="628650"/>
          </a:xfrm>
          <a:prstGeom xmlns:a="http://schemas.openxmlformats.org/drawingml/2006/main" prst="rect">
            <a:avLst/>
          </a:prstGeom>
          <a:solidFill xmlns:a="http://schemas.openxmlformats.org/drawingml/2006/main">
            <a:srgbClr val="496577"/>
          </a:solidFill>
          <a:ln xmlns:a="http://schemas.openxmlformats.org/drawingml/2006/main" w="9525">
            <a:solidFill>
              <a:srgbClr val="496577"/>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lnSpc>
                <a:spcPct val="105000"/>
              </a:lnSpc>
              <a:buNone/>
              <a:defRPr sz="3300" b="1" i="0">
                <a:solidFill>
                  <a:srgbClr val="FFFFFF"/>
                </a:solidFill>
                <a:latin typeface="Aptos"/>
                <a:ea typeface="Aptos"/>
                <a:cs typeface="Aptos"/>
              </a:defRPr>
            </a:pPr>
            <a:r>
              <a:rPr sz="3300" b="1" i="0">
                <a:solidFill>
                  <a:srgbClr val="FFFFFF"/>
                </a:solidFill>
                <a:latin typeface="Aptos"/>
                <a:ea typeface="Aptos"/>
                <a:cs typeface="Aptos"/>
              </a:rPr>
              <a:t>1. Why Recover Vibration Modes?</a:t>
            </a:r>
          </a:p>
        </p:txBody>
      </p:sp>
      <p:sp>
        <p:nvSpPr>
          <p:cNvPr id="1994999442" name="physical-intuition-subhead">
            <a:extLst xmlns:a="http://schemas.openxmlformats.org/drawingml/2006/main">
              <a:ext uri="{FF2B5EF4-FFF2-40B4-BE49-F238E27FC236}">
                <a16:creationId xmlns:a16="http://schemas.microsoft.com/office/drawing/2014/main" id="{1AD01F9C-71D7-43FC-AA28-0B9E624F31BD}"/>
              </a:ext>
            </a:extLst>
          </p:cNvPr>
          <p:cNvSpPr>
            <a:spLocks xmlns:a="http://schemas.openxmlformats.org/drawingml/2006/main" noGrp="1"/>
          </p:cNvSpPr>
          <p:nvPr/>
        </p:nvSpPr>
        <p:spPr>
          <a:xfrm xmlns:a="http://schemas.openxmlformats.org/drawingml/2006/main" rot="0">
            <a:off x="533400" y="5638800"/>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Modes turn coupled motion into simple patterns</a:t>
            </a:r>
          </a:p>
        </p:txBody>
      </p:sp>
      <p:sp>
        <p:nvSpPr>
          <p:cNvPr id="1994999443" name="physical-intuition-body">
            <a:extLst xmlns:a="http://schemas.openxmlformats.org/drawingml/2006/main">
              <a:ext uri="{FF2B5EF4-FFF2-40B4-BE49-F238E27FC236}">
                <a16:creationId xmlns:a16="http://schemas.microsoft.com/office/drawing/2014/main" id="{20804645-9F06-4096-AEDC-FE58D4366DFD}"/>
              </a:ext>
            </a:extLst>
          </p:cNvPr>
          <p:cNvSpPr>
            <a:spLocks xmlns:a="http://schemas.openxmlformats.org/drawingml/2006/main" noGrp="1"/>
          </p:cNvSpPr>
          <p:nvPr/>
        </p:nvSpPr>
        <p:spPr>
          <a:xfrm xmlns:a="http://schemas.openxmlformats.org/drawingml/2006/main" rot="0">
            <a:off x="533400" y="6172200"/>
            <a:ext cx="12915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2175" b="0" i="0">
                <a:solidFill>
                  <a:srgbClr val="23313A"/>
                </a:solidFill>
                <a:latin typeface="Aptos"/>
                <a:ea typeface="Aptos"/>
                <a:cs typeface="Aptos"/>
              </a:defRPr>
            </a:pPr>
            <a:r>
              <a:rPr sz="2175" b="0" i="0">
                <a:solidFill>
                  <a:srgbClr val="23313A"/>
                </a:solidFill>
                <a:latin typeface="Aptos"/>
                <a:ea typeface="Aptos"/>
                <a:cs typeface="Aptos"/>
              </a:rPr>
              <a:t>Real objects have many coupled physical degrees of freedom. Tracking every point directly is unwieldy. For small vibration, modal analysis changes basis: each mode is a coherent deformation pattern, and its coordinate controls how strongly that pattern is active.</a:t>
            </a:r>
          </a:p>
        </p:txBody>
      </p:sp>
      <p:sp>
        <p:nvSpPr>
          <p:cNvPr id="1994999444" name="rod-mode-gallery-frame">
            <a:extLst xmlns:a="http://schemas.openxmlformats.org/drawingml/2006/main">
              <a:ext uri="{FF2B5EF4-FFF2-40B4-BE49-F238E27FC236}">
                <a16:creationId xmlns:a16="http://schemas.microsoft.com/office/drawing/2014/main" id="{7F8232A8-D64F-42D7-BDFE-C7D1736AF3C4}"/>
              </a:ext>
            </a:extLst>
          </p:cNvPr>
          <p:cNvSpPr>
            <a:spLocks xmlns:a="http://schemas.openxmlformats.org/drawingml/2006/main" noGrp="1"/>
          </p:cNvSpPr>
          <p:nvPr/>
        </p:nvSpPr>
        <p:spPr>
          <a:xfrm xmlns:a="http://schemas.openxmlformats.org/drawingml/2006/main">
            <a:off x="561975" y="7305675"/>
            <a:ext cx="12858750" cy="596265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61" name=""/>
          <p:cNvPicPr>
            <a:picLocks xmlns:a="http://schemas.openxmlformats.org/drawingml/2006/main" noChangeAspect="1"/>
          </p:cNvPicPr>
          <p:nvPr/>
        </p:nvPicPr>
        <p:blipFill>
          <a:blip xmlns:r="http://schemas.openxmlformats.org/officeDocument/2006/relationships" xmlns:a="http://schemas.openxmlformats.org/drawingml/2006/main" r:embed="R5f498b13045548a0"/>
          <a:stretch xmlns:a="http://schemas.openxmlformats.org/drawingml/2006/main"/>
        </p:blipFill>
        <p:spPr>
          <a:xfrm xmlns:a="http://schemas.openxmlformats.org/drawingml/2006/main">
            <a:off x="1085850" y="7334250"/>
            <a:ext cx="11811000" cy="5905500"/>
          </a:xfrm>
          <a:prstGeom xmlns:a="http://schemas.openxmlformats.org/drawingml/2006/main" prst="rect">
            <a:avLst/>
          </a:prstGeom>
        </p:spPr>
      </p:pic>
      <p:sp>
        <p:nvSpPr>
          <p:cNvPr id="1994999446" name="rod-label-1">
            <a:extLst xmlns:a="http://schemas.openxmlformats.org/drawingml/2006/main">
              <a:ext uri="{FF2B5EF4-FFF2-40B4-BE49-F238E27FC236}">
                <a16:creationId xmlns:a16="http://schemas.microsoft.com/office/drawing/2014/main" id="{109D293F-152D-4880-AC18-E69082D27345}"/>
              </a:ext>
            </a:extLst>
          </p:cNvPr>
          <p:cNvSpPr>
            <a:spLocks xmlns:a="http://schemas.openxmlformats.org/drawingml/2006/main" noGrp="1"/>
          </p:cNvSpPr>
          <p:nvPr/>
        </p:nvSpPr>
        <p:spPr>
          <a:xfrm xmlns:a="http://schemas.openxmlformats.org/drawingml/2006/main" rot="0">
            <a:off x="704850" y="7677150"/>
            <a:ext cx="1143000" cy="3429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496577"/>
            </a:solid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500" b="1" i="0">
                <a:solidFill>
                  <a:srgbClr val="496577"/>
                </a:solidFill>
                <a:latin typeface="Aptos"/>
                <a:ea typeface="Aptos"/>
                <a:cs typeface="Aptos"/>
              </a:defRPr>
            </a:pPr>
            <a:r>
              <a:rPr sz="1500" b="1" i="0">
                <a:solidFill>
                  <a:srgbClr val="496577"/>
                </a:solidFill>
                <a:latin typeface="Aptos"/>
                <a:ea typeface="Aptos"/>
                <a:cs typeface="Aptos"/>
              </a:rPr>
              <a:t>REST</a:t>
            </a:r>
          </a:p>
        </p:txBody>
      </p:sp>
      <p:sp>
        <p:nvSpPr>
          <p:cNvPr id="1994999447" name="rod-label-2">
            <a:extLst xmlns:a="http://schemas.openxmlformats.org/drawingml/2006/main">
              <a:ext uri="{FF2B5EF4-FFF2-40B4-BE49-F238E27FC236}">
                <a16:creationId xmlns:a16="http://schemas.microsoft.com/office/drawing/2014/main" id="{9B519740-A727-4D82-B9D9-F1A375D1A5B6}"/>
              </a:ext>
            </a:extLst>
          </p:cNvPr>
          <p:cNvSpPr>
            <a:spLocks xmlns:a="http://schemas.openxmlformats.org/drawingml/2006/main" noGrp="1"/>
          </p:cNvSpPr>
          <p:nvPr/>
        </p:nvSpPr>
        <p:spPr>
          <a:xfrm xmlns:a="http://schemas.openxmlformats.org/drawingml/2006/main" rot="0">
            <a:off x="704850" y="9067800"/>
            <a:ext cx="1143000" cy="3429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496577"/>
            </a:solid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500" b="1" i="0">
                <a:solidFill>
                  <a:srgbClr val="496577"/>
                </a:solidFill>
                <a:latin typeface="Aptos"/>
                <a:ea typeface="Aptos"/>
                <a:cs typeface="Aptos"/>
              </a:defRPr>
            </a:pPr>
            <a:r>
              <a:rPr sz="1500" b="1" i="0">
                <a:solidFill>
                  <a:srgbClr val="496577"/>
                </a:solidFill>
                <a:latin typeface="Aptos"/>
                <a:ea typeface="Aptos"/>
                <a:cs typeface="Aptos"/>
              </a:rPr>
              <a:t>MODE 1</a:t>
            </a:r>
          </a:p>
        </p:txBody>
      </p:sp>
      <p:sp>
        <p:nvSpPr>
          <p:cNvPr id="1994999448" name="rod-label-3">
            <a:extLst xmlns:a="http://schemas.openxmlformats.org/drawingml/2006/main">
              <a:ext uri="{FF2B5EF4-FFF2-40B4-BE49-F238E27FC236}">
                <a16:creationId xmlns:a16="http://schemas.microsoft.com/office/drawing/2014/main" id="{131BA0B0-FED8-424A-BB54-9B29B53DFE1F}"/>
              </a:ext>
            </a:extLst>
          </p:cNvPr>
          <p:cNvSpPr>
            <a:spLocks xmlns:a="http://schemas.openxmlformats.org/drawingml/2006/main" noGrp="1"/>
          </p:cNvSpPr>
          <p:nvPr/>
        </p:nvSpPr>
        <p:spPr>
          <a:xfrm xmlns:a="http://schemas.openxmlformats.org/drawingml/2006/main" rot="0">
            <a:off x="704850" y="10439400"/>
            <a:ext cx="1143000" cy="3429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496577"/>
            </a:solid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500" b="1" i="0">
                <a:solidFill>
                  <a:srgbClr val="496577"/>
                </a:solidFill>
                <a:latin typeface="Aptos"/>
                <a:ea typeface="Aptos"/>
                <a:cs typeface="Aptos"/>
              </a:defRPr>
            </a:pPr>
            <a:r>
              <a:rPr sz="1500" b="1" i="0">
                <a:solidFill>
                  <a:srgbClr val="496577"/>
                </a:solidFill>
                <a:latin typeface="Aptos"/>
                <a:ea typeface="Aptos"/>
                <a:cs typeface="Aptos"/>
              </a:rPr>
              <a:t>MODE 2</a:t>
            </a:r>
          </a:p>
        </p:txBody>
      </p:sp>
      <p:sp>
        <p:nvSpPr>
          <p:cNvPr id="1994999449" name="rod-label-4">
            <a:extLst xmlns:a="http://schemas.openxmlformats.org/drawingml/2006/main">
              <a:ext uri="{FF2B5EF4-FFF2-40B4-BE49-F238E27FC236}">
                <a16:creationId xmlns:a16="http://schemas.microsoft.com/office/drawing/2014/main" id="{BD4904C5-BC75-47AA-9B3F-FC862B44C091}"/>
              </a:ext>
            </a:extLst>
          </p:cNvPr>
          <p:cNvSpPr>
            <a:spLocks xmlns:a="http://schemas.openxmlformats.org/drawingml/2006/main" noGrp="1"/>
          </p:cNvSpPr>
          <p:nvPr/>
        </p:nvSpPr>
        <p:spPr>
          <a:xfrm xmlns:a="http://schemas.openxmlformats.org/drawingml/2006/main" rot="0">
            <a:off x="704850" y="11830050"/>
            <a:ext cx="1143000" cy="3429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956B58"/>
            </a:solid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500" b="1" i="0">
                <a:solidFill>
                  <a:srgbClr val="956B58"/>
                </a:solidFill>
                <a:latin typeface="Aptos"/>
                <a:ea typeface="Aptos"/>
                <a:cs typeface="Aptos"/>
              </a:defRPr>
            </a:pPr>
            <a:r>
              <a:rPr sz="1500" b="1" i="0">
                <a:solidFill>
                  <a:srgbClr val="956B58"/>
                </a:solidFill>
                <a:latin typeface="Aptos"/>
                <a:ea typeface="Aptos"/>
                <a:cs typeface="Aptos"/>
              </a:rPr>
              <a:t>TWIST</a:t>
            </a:r>
          </a:p>
        </p:txBody>
      </p:sp>
      <p:sp>
        <p:nvSpPr>
          <p:cNvPr id="1994999450" name="modal-superposition">
            <a:extLst xmlns:a="http://schemas.openxmlformats.org/drawingml/2006/main">
              <a:ext uri="{FF2B5EF4-FFF2-40B4-BE49-F238E27FC236}">
                <a16:creationId xmlns:a16="http://schemas.microsoft.com/office/drawing/2014/main" id="{90F2A98F-2568-4571-8ED8-D9F364F86A1A}"/>
              </a:ext>
            </a:extLst>
          </p:cNvPr>
          <p:cNvSpPr>
            <a:spLocks xmlns:a="http://schemas.openxmlformats.org/drawingml/2006/main" noGrp="1"/>
          </p:cNvSpPr>
          <p:nvPr/>
        </p:nvSpPr>
        <p:spPr>
          <a:xfrm xmlns:a="http://schemas.openxmlformats.org/drawingml/2006/main" rot="0">
            <a:off x="533400" y="13382625"/>
            <a:ext cx="12915900" cy="838200"/>
          </a:xfrm>
          <a:prstGeom xmlns:a="http://schemas.openxmlformats.org/drawingml/2006/main" prst="rect">
            <a:avLst/>
          </a:prstGeom>
          <a:solidFill xmlns:a="http://schemas.openxmlformats.org/drawingml/2006/main">
            <a:srgbClr val="EEF1F2"/>
          </a:solidFill>
          <a:ln xmlns:a="http://schemas.openxmlformats.org/drawingml/2006/main" w="15240">
            <a:solidFill>
              <a:srgbClr val="658B70"/>
            </a:solidFill>
            <a:prstDash val="solid"/>
          </a:ln>
        </p:spPr>
        <p:txBody>
          <a:bodyPr xmlns:a="http://schemas.openxmlformats.org/drawingml/2006/main" wrap="square" lIns="76200" tIns="28575" rIns="76200" bIns="28575" anchor="ctr">
            <a:noAutofit/>
          </a:bodyPr>
          <a:lstStyle xmlns:a="http://schemas.openxmlformats.org/drawingml/2006/main"/>
          <a:p xmlns:a="http://schemas.openxmlformats.org/drawingml/2006/main">
            <a:pPr algn="ctr">
              <a:lnSpc>
                <a:spcPct val="105000"/>
              </a:lnSpc>
              <a:buNone/>
              <a:defRPr sz="2850" b="0" i="0">
                <a:solidFill>
                  <a:srgbClr val="23313A"/>
                </a:solidFill>
                <a:latin typeface="Cambria Math"/>
                <a:ea typeface="Cambria Math"/>
                <a:cs typeface="Cambria Math"/>
              </a:defRPr>
            </a:pPr>
            <a:r>
              <a:rPr sz="2850" b="0" i="0">
                <a:solidFill>
                  <a:srgbClr val="23313A"/>
                </a:solidFill>
                <a:latin typeface="Cambria Math"/>
                <a:ea typeface="Cambria Math"/>
                <a:cs typeface="Cambria Math"/>
              </a:rPr>
              <a:t>u(x,t)  ≈  Σₖ  φₖ(x) qₖ(t)</a:t>
            </a:r>
          </a:p>
        </p:txBody>
      </p:sp>
      <p:sp>
        <p:nvSpPr>
          <p:cNvPr id="1994999451" name="modal-superposition-caption">
            <a:extLst xmlns:a="http://schemas.openxmlformats.org/drawingml/2006/main">
              <a:ext uri="{FF2B5EF4-FFF2-40B4-BE49-F238E27FC236}">
                <a16:creationId xmlns:a16="http://schemas.microsoft.com/office/drawing/2014/main" id="{D8215964-EB8E-4FB3-B1FC-23743BAAB43A}"/>
              </a:ext>
            </a:extLst>
          </p:cNvPr>
          <p:cNvSpPr>
            <a:spLocks xmlns:a="http://schemas.openxmlformats.org/drawingml/2006/main" noGrp="1"/>
          </p:cNvSpPr>
          <p:nvPr/>
        </p:nvSpPr>
        <p:spPr>
          <a:xfrm xmlns:a="http://schemas.openxmlformats.org/drawingml/2006/main" rot="0">
            <a:off x="533400" y="14239875"/>
            <a:ext cx="1291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800" b="0" i="0">
                <a:solidFill>
                  <a:srgbClr val="53616A"/>
                </a:solidFill>
                <a:latin typeface="Aptos"/>
                <a:ea typeface="Aptos"/>
                <a:cs typeface="Aptos"/>
              </a:defRPr>
            </a:pPr>
            <a:r>
              <a:rPr sz="1800" b="0" i="0">
                <a:solidFill>
                  <a:srgbClr val="53616A"/>
                </a:solidFill>
                <a:latin typeface="Aptos"/>
                <a:ea typeface="Aptos"/>
                <a:cs typeface="Aptos"/>
              </a:rPr>
              <a:t>mode shape × modal coordinate</a:t>
            </a:r>
          </a:p>
        </p:txBody>
      </p:sp>
      <p:sp>
        <p:nvSpPr>
          <p:cNvPr id="1994999452" name="section-2-Why Work in Frequency?">
            <a:extLst xmlns:a="http://schemas.openxmlformats.org/drawingml/2006/main">
              <a:ext uri="{FF2B5EF4-FFF2-40B4-BE49-F238E27FC236}">
                <a16:creationId xmlns:a16="http://schemas.microsoft.com/office/drawing/2014/main" id="{496D9D8F-C115-47D3-8A0B-6BBFD5083B84}"/>
              </a:ext>
            </a:extLst>
          </p:cNvPr>
          <p:cNvSpPr>
            <a:spLocks xmlns:a="http://schemas.openxmlformats.org/drawingml/2006/main" noGrp="1"/>
          </p:cNvSpPr>
          <p:nvPr/>
        </p:nvSpPr>
        <p:spPr>
          <a:xfrm xmlns:a="http://schemas.openxmlformats.org/drawingml/2006/main" rot="0">
            <a:off x="419100" y="14763750"/>
            <a:ext cx="13144500" cy="628650"/>
          </a:xfrm>
          <a:prstGeom xmlns:a="http://schemas.openxmlformats.org/drawingml/2006/main" prst="rect">
            <a:avLst/>
          </a:prstGeom>
          <a:solidFill xmlns:a="http://schemas.openxmlformats.org/drawingml/2006/main">
            <a:srgbClr val="658B70"/>
          </a:solidFill>
          <a:ln xmlns:a="http://schemas.openxmlformats.org/drawingml/2006/main" w="9525">
            <a:solidFill>
              <a:srgbClr val="658B70"/>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lnSpc>
                <a:spcPct val="105000"/>
              </a:lnSpc>
              <a:buNone/>
              <a:defRPr sz="3300" b="1" i="0">
                <a:solidFill>
                  <a:srgbClr val="FFFFFF"/>
                </a:solidFill>
                <a:latin typeface="Aptos"/>
                <a:ea typeface="Aptos"/>
                <a:cs typeface="Aptos"/>
              </a:defRPr>
            </a:pPr>
            <a:r>
              <a:rPr sz="3300" b="1" i="0">
                <a:solidFill>
                  <a:srgbClr val="FFFFFF"/>
                </a:solidFill>
                <a:latin typeface="Aptos"/>
                <a:ea typeface="Aptos"/>
                <a:cs typeface="Aptos"/>
              </a:rPr>
              <a:t>2. Why Work in Frequency?</a:t>
            </a:r>
          </a:p>
        </p:txBody>
      </p:sp>
      <p:sp>
        <p:nvSpPr>
          <p:cNvPr id="1994999453" name="frequency-intuition-subhead">
            <a:extLst xmlns:a="http://schemas.openxmlformats.org/drawingml/2006/main">
              <a:ext uri="{FF2B5EF4-FFF2-40B4-BE49-F238E27FC236}">
                <a16:creationId xmlns:a16="http://schemas.microsoft.com/office/drawing/2014/main" id="{0EFE3F66-ADAD-4854-857F-C19B89B422A1}"/>
              </a:ext>
            </a:extLst>
          </p:cNvPr>
          <p:cNvSpPr>
            <a:spLocks xmlns:a="http://schemas.openxmlformats.org/drawingml/2006/main" noGrp="1"/>
          </p:cNvSpPr>
          <p:nvPr/>
        </p:nvSpPr>
        <p:spPr>
          <a:xfrm xmlns:a="http://schemas.openxmlformats.org/drawingml/2006/main" rot="0">
            <a:off x="533400" y="15544800"/>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Periodic motion reveals a compact basis</a:t>
            </a:r>
          </a:p>
        </p:txBody>
      </p:sp>
      <p:sp>
        <p:nvSpPr>
          <p:cNvPr id="1994999454" name="frequency-intuition-body">
            <a:extLst xmlns:a="http://schemas.openxmlformats.org/drawingml/2006/main">
              <a:ext uri="{FF2B5EF4-FFF2-40B4-BE49-F238E27FC236}">
                <a16:creationId xmlns:a16="http://schemas.microsoft.com/office/drawing/2014/main" id="{F12DF160-476D-4ECD-814A-C9DB4BE6A6F2}"/>
              </a:ext>
            </a:extLst>
          </p:cNvPr>
          <p:cNvSpPr>
            <a:spLocks xmlns:a="http://schemas.openxmlformats.org/drawingml/2006/main" noGrp="1"/>
          </p:cNvSpPr>
          <p:nvPr/>
        </p:nvSpPr>
        <p:spPr>
          <a:xfrm xmlns:a="http://schemas.openxmlformats.org/drawingml/2006/main" rot="0">
            <a:off x="533400" y="16078200"/>
            <a:ext cx="12915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2175" b="0" i="0">
                <a:solidFill>
                  <a:srgbClr val="23313A"/>
                </a:solidFill>
                <a:latin typeface="Aptos"/>
                <a:ea typeface="Aptos"/>
                <a:cs typeface="Aptos"/>
              </a:defRPr>
            </a:pPr>
            <a:r>
              <a:rPr sz="2175" b="0" i="0">
                <a:solidFill>
                  <a:srgbClr val="23313A"/>
                </a:solidFill>
                <a:latin typeface="Aptos"/>
                <a:ea typeface="Aptos"/>
                <a:cs typeface="Aptos"/>
              </a:rPr>
              <a:t>Vibration is approximately periodic. Time-domain motion mixes modes, while a Fourier transform separates them by natural frequency. Following Davis et al., we estimate small optical flow and retain a few strong spectral peaks.</a:t>
            </a:r>
          </a:p>
        </p:txBody>
      </p:sp>
      <p:sp>
        <p:nvSpPr>
          <p:cNvPr id="1994999455" name="video-modal-flow-step-1">
            <a:extLst xmlns:a="http://schemas.openxmlformats.org/drawingml/2006/main">
              <a:ext uri="{FF2B5EF4-FFF2-40B4-BE49-F238E27FC236}">
                <a16:creationId xmlns:a16="http://schemas.microsoft.com/office/drawing/2014/main" id="{9BC99CCE-17A7-4B47-9F2B-2ABCE7986FAB}"/>
              </a:ext>
            </a:extLst>
          </p:cNvPr>
          <p:cNvSpPr>
            <a:spLocks xmlns:a="http://schemas.openxmlformats.org/drawingml/2006/main" noGrp="1"/>
          </p:cNvSpPr>
          <p:nvPr/>
        </p:nvSpPr>
        <p:spPr>
          <a:xfrm xmlns:a="http://schemas.openxmlformats.org/drawingml/2006/main" rot="0">
            <a:off x="552450" y="17335500"/>
            <a:ext cx="2301240" cy="10287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496577"/>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fixed-view</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video</a:t>
            </a:r>
          </a:p>
        </p:txBody>
      </p:sp>
      <p:sp>
        <p:nvSpPr>
          <p:cNvPr id="1994999456" name="video-modal-flow-arrow-1">
            <a:extLst xmlns:a="http://schemas.openxmlformats.org/drawingml/2006/main">
              <a:ext uri="{FF2B5EF4-FFF2-40B4-BE49-F238E27FC236}">
                <a16:creationId xmlns:a16="http://schemas.microsoft.com/office/drawing/2014/main" id="{E2DCB081-9DEA-4D93-B946-2E9343A53269}"/>
              </a:ext>
            </a:extLst>
          </p:cNvPr>
          <p:cNvSpPr>
            <a:spLocks xmlns:a="http://schemas.openxmlformats.org/drawingml/2006/main" noGrp="1"/>
          </p:cNvSpPr>
          <p:nvPr/>
        </p:nvSpPr>
        <p:spPr>
          <a:xfrm xmlns:a="http://schemas.openxmlformats.org/drawingml/2006/main">
            <a:off x="2939415" y="17754600"/>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57" name="video-modal-flow-step-2">
            <a:extLst xmlns:a="http://schemas.openxmlformats.org/drawingml/2006/main">
              <a:ext uri="{FF2B5EF4-FFF2-40B4-BE49-F238E27FC236}">
                <a16:creationId xmlns:a16="http://schemas.microsoft.com/office/drawing/2014/main" id="{5D692078-E714-4B0B-894F-C5B5D9758081}"/>
              </a:ext>
            </a:extLst>
          </p:cNvPr>
          <p:cNvSpPr>
            <a:spLocks xmlns:a="http://schemas.openxmlformats.org/drawingml/2006/main" noGrp="1"/>
          </p:cNvSpPr>
          <p:nvPr/>
        </p:nvSpPr>
        <p:spPr>
          <a:xfrm xmlns:a="http://schemas.openxmlformats.org/drawingml/2006/main" rot="0">
            <a:off x="3196590" y="17335500"/>
            <a:ext cx="2301240" cy="10287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658B70"/>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small optical</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flow</a:t>
            </a:r>
          </a:p>
        </p:txBody>
      </p:sp>
      <p:sp>
        <p:nvSpPr>
          <p:cNvPr id="1994999458" name="video-modal-flow-arrow-2">
            <a:extLst xmlns:a="http://schemas.openxmlformats.org/drawingml/2006/main">
              <a:ext uri="{FF2B5EF4-FFF2-40B4-BE49-F238E27FC236}">
                <a16:creationId xmlns:a16="http://schemas.microsoft.com/office/drawing/2014/main" id="{A0A2FD5A-71A8-49CA-9964-2A8A1A179127}"/>
              </a:ext>
            </a:extLst>
          </p:cNvPr>
          <p:cNvSpPr>
            <a:spLocks xmlns:a="http://schemas.openxmlformats.org/drawingml/2006/main" noGrp="1"/>
          </p:cNvSpPr>
          <p:nvPr/>
        </p:nvSpPr>
        <p:spPr>
          <a:xfrm xmlns:a="http://schemas.openxmlformats.org/drawingml/2006/main">
            <a:off x="5583555" y="17754600"/>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59" name="video-modal-flow-step-3">
            <a:extLst xmlns:a="http://schemas.openxmlformats.org/drawingml/2006/main">
              <a:ext uri="{FF2B5EF4-FFF2-40B4-BE49-F238E27FC236}">
                <a16:creationId xmlns:a16="http://schemas.microsoft.com/office/drawing/2014/main" id="{66A3D976-A2A9-43AD-AFAD-1C5B858362FB}"/>
              </a:ext>
            </a:extLst>
          </p:cNvPr>
          <p:cNvSpPr>
            <a:spLocks xmlns:a="http://schemas.openxmlformats.org/drawingml/2006/main" noGrp="1"/>
          </p:cNvSpPr>
          <p:nvPr/>
        </p:nvSpPr>
        <p:spPr>
          <a:xfrm xmlns:a="http://schemas.openxmlformats.org/drawingml/2006/main" rot="0">
            <a:off x="5840730" y="17335500"/>
            <a:ext cx="2301240" cy="10287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956B58"/>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temporal</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FFT</a:t>
            </a:r>
          </a:p>
        </p:txBody>
      </p:sp>
      <p:sp>
        <p:nvSpPr>
          <p:cNvPr id="1994999460" name="video-modal-flow-arrow-3">
            <a:extLst xmlns:a="http://schemas.openxmlformats.org/drawingml/2006/main">
              <a:ext uri="{FF2B5EF4-FFF2-40B4-BE49-F238E27FC236}">
                <a16:creationId xmlns:a16="http://schemas.microsoft.com/office/drawing/2014/main" id="{B9E0DA3A-7442-40E8-89BA-193DD4C24494}"/>
              </a:ext>
            </a:extLst>
          </p:cNvPr>
          <p:cNvSpPr>
            <a:spLocks xmlns:a="http://schemas.openxmlformats.org/drawingml/2006/main" noGrp="1"/>
          </p:cNvSpPr>
          <p:nvPr/>
        </p:nvSpPr>
        <p:spPr>
          <a:xfrm xmlns:a="http://schemas.openxmlformats.org/drawingml/2006/main">
            <a:off x="8227695" y="17754600"/>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61" name="video-modal-flow-step-4">
            <a:extLst xmlns:a="http://schemas.openxmlformats.org/drawingml/2006/main">
              <a:ext uri="{FF2B5EF4-FFF2-40B4-BE49-F238E27FC236}">
                <a16:creationId xmlns:a16="http://schemas.microsoft.com/office/drawing/2014/main" id="{B9724211-B321-4273-913D-B5E5C782C6E8}"/>
              </a:ext>
            </a:extLst>
          </p:cNvPr>
          <p:cNvSpPr>
            <a:spLocks xmlns:a="http://schemas.openxmlformats.org/drawingml/2006/main" noGrp="1"/>
          </p:cNvSpPr>
          <p:nvPr/>
        </p:nvSpPr>
        <p:spPr>
          <a:xfrm xmlns:a="http://schemas.openxmlformats.org/drawingml/2006/main" rot="0">
            <a:off x="8484870" y="17335500"/>
            <a:ext cx="2301240" cy="10287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496577"/>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dominant</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peaks</a:t>
            </a:r>
          </a:p>
        </p:txBody>
      </p:sp>
      <p:sp>
        <p:nvSpPr>
          <p:cNvPr id="1994999462" name="video-modal-flow-arrow-4">
            <a:extLst xmlns:a="http://schemas.openxmlformats.org/drawingml/2006/main">
              <a:ext uri="{FF2B5EF4-FFF2-40B4-BE49-F238E27FC236}">
                <a16:creationId xmlns:a16="http://schemas.microsoft.com/office/drawing/2014/main" id="{D3EE3740-2DEF-48B9-85B2-385CE947D422}"/>
              </a:ext>
            </a:extLst>
          </p:cNvPr>
          <p:cNvSpPr>
            <a:spLocks xmlns:a="http://schemas.openxmlformats.org/drawingml/2006/main" noGrp="1"/>
          </p:cNvSpPr>
          <p:nvPr/>
        </p:nvSpPr>
        <p:spPr>
          <a:xfrm xmlns:a="http://schemas.openxmlformats.org/drawingml/2006/main">
            <a:off x="10871835" y="17754600"/>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63" name="video-modal-flow-step-5">
            <a:extLst xmlns:a="http://schemas.openxmlformats.org/drawingml/2006/main">
              <a:ext uri="{FF2B5EF4-FFF2-40B4-BE49-F238E27FC236}">
                <a16:creationId xmlns:a16="http://schemas.microsoft.com/office/drawing/2014/main" id="{C955B0BF-A2C1-4884-B03C-E3DA82EC7ADF}"/>
              </a:ext>
            </a:extLst>
          </p:cNvPr>
          <p:cNvSpPr>
            <a:spLocks xmlns:a="http://schemas.openxmlformats.org/drawingml/2006/main" noGrp="1"/>
          </p:cNvSpPr>
          <p:nvPr/>
        </p:nvSpPr>
        <p:spPr>
          <a:xfrm xmlns:a="http://schemas.openxmlformats.org/drawingml/2006/main" rot="0">
            <a:off x="11129010" y="17335500"/>
            <a:ext cx="2301240" cy="10287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658B70"/>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complex</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2D modes</a:t>
            </a:r>
          </a:p>
        </p:txBody>
      </p:sp>
      <p:sp>
        <p:nvSpPr>
          <p:cNvPr id="1994999464" name="bush-modal-evidence-frame">
            <a:extLst xmlns:a="http://schemas.openxmlformats.org/drawingml/2006/main">
              <a:ext uri="{FF2B5EF4-FFF2-40B4-BE49-F238E27FC236}">
                <a16:creationId xmlns:a16="http://schemas.microsoft.com/office/drawing/2014/main" id="{1ACCEE43-CB29-41CB-8A9D-3DF3DDEFA0C9}"/>
              </a:ext>
            </a:extLst>
          </p:cNvPr>
          <p:cNvSpPr>
            <a:spLocks xmlns:a="http://schemas.openxmlformats.org/drawingml/2006/main" noGrp="1"/>
          </p:cNvSpPr>
          <p:nvPr/>
        </p:nvSpPr>
        <p:spPr>
          <a:xfrm xmlns:a="http://schemas.openxmlformats.org/drawingml/2006/main">
            <a:off x="561975" y="18545175"/>
            <a:ext cx="12858750" cy="920115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81" name=""/>
          <p:cNvPicPr>
            <a:picLocks xmlns:a="http://schemas.openxmlformats.org/drawingml/2006/main" noChangeAspect="1"/>
          </p:cNvPicPr>
          <p:nvPr/>
        </p:nvPicPr>
        <p:blipFill>
          <a:blip xmlns:r="http://schemas.openxmlformats.org/officeDocument/2006/relationships" xmlns:a="http://schemas.openxmlformats.org/drawingml/2006/main" r:embed="R3cdbc568fe704ea4"/>
          <a:stretch xmlns:a="http://schemas.openxmlformats.org/drawingml/2006/main"/>
        </p:blipFill>
        <p:spPr>
          <a:xfrm xmlns:a="http://schemas.openxmlformats.org/drawingml/2006/main">
            <a:off x="704850" y="18573750"/>
            <a:ext cx="12573000" cy="9144000"/>
          </a:xfrm>
          <a:prstGeom xmlns:a="http://schemas.openxmlformats.org/drawingml/2006/main" prst="rect">
            <a:avLst/>
          </a:prstGeom>
        </p:spPr>
      </p:pic>
      <p:sp>
        <p:nvSpPr>
          <p:cNvPr id="1994999466" name="bush-modal-evidence-caption">
            <a:extLst xmlns:a="http://schemas.openxmlformats.org/drawingml/2006/main">
              <a:ext uri="{FF2B5EF4-FFF2-40B4-BE49-F238E27FC236}">
                <a16:creationId xmlns:a16="http://schemas.microsoft.com/office/drawing/2014/main" id="{2EE16C8D-8A41-4CE2-AC68-6EB9E7574FD7}"/>
              </a:ext>
            </a:extLst>
          </p:cNvPr>
          <p:cNvSpPr>
            <a:spLocks xmlns:a="http://schemas.openxmlformats.org/drawingml/2006/main" noGrp="1"/>
          </p:cNvSpPr>
          <p:nvPr/>
        </p:nvSpPr>
        <p:spPr>
          <a:xfrm xmlns:a="http://schemas.openxmlformats.org/drawingml/2006/main" rot="0">
            <a:off x="590550" y="27774900"/>
            <a:ext cx="1280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800" b="0" i="0">
                <a:solidFill>
                  <a:srgbClr val="53616A"/>
                </a:solidFill>
                <a:latin typeface="Aptos"/>
                <a:ea typeface="Aptos"/>
                <a:cs typeface="Aptos"/>
              </a:defRPr>
            </a:pPr>
            <a:r>
              <a:rPr sz="1800" b="0" i="0">
                <a:solidFill>
                  <a:srgbClr val="53616A"/>
                </a:solidFill>
                <a:latin typeface="Aptos"/>
                <a:ea typeface="Aptos"/>
                <a:cs typeface="Aptos"/>
              </a:rPr>
              <a:t>One selected frequency gives a coherent projected motion pattern.</a:t>
            </a:r>
          </a:p>
        </p:txBody>
      </p:sp>
      <p:sp>
        <p:nvSpPr>
          <p:cNvPr id="1994999467" name="bush-power-spectrum-frame">
            <a:extLst xmlns:a="http://schemas.openxmlformats.org/drawingml/2006/main">
              <a:ext uri="{FF2B5EF4-FFF2-40B4-BE49-F238E27FC236}">
                <a16:creationId xmlns:a16="http://schemas.microsoft.com/office/drawing/2014/main" id="{574BBC33-4426-4504-A2BA-937DC547947D}"/>
              </a:ext>
            </a:extLst>
          </p:cNvPr>
          <p:cNvSpPr>
            <a:spLocks xmlns:a="http://schemas.openxmlformats.org/drawingml/2006/main" noGrp="1"/>
          </p:cNvSpPr>
          <p:nvPr/>
        </p:nvSpPr>
        <p:spPr>
          <a:xfrm xmlns:a="http://schemas.openxmlformats.org/drawingml/2006/main">
            <a:off x="561975" y="28165425"/>
            <a:ext cx="12858750" cy="4914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84" name=""/>
          <p:cNvPicPr>
            <a:picLocks xmlns:a="http://schemas.openxmlformats.org/drawingml/2006/main" noChangeAspect="1"/>
          </p:cNvPicPr>
          <p:nvPr/>
        </p:nvPicPr>
        <p:blipFill>
          <a:blip xmlns:r="http://schemas.openxmlformats.org/officeDocument/2006/relationships" xmlns:a="http://schemas.openxmlformats.org/drawingml/2006/main" r:embed="R9e7720a706fe4ae1"/>
          <a:stretch xmlns:a="http://schemas.openxmlformats.org/drawingml/2006/main"/>
        </p:blipFill>
        <p:spPr>
          <a:xfrm xmlns:a="http://schemas.openxmlformats.org/drawingml/2006/main">
            <a:off x="1162050" y="28194000"/>
            <a:ext cx="11658600" cy="4857750"/>
          </a:xfrm>
          <a:prstGeom xmlns:a="http://schemas.openxmlformats.org/drawingml/2006/main" prst="rect">
            <a:avLst/>
          </a:prstGeom>
        </p:spPr>
      </p:pic>
      <p:sp>
        <p:nvSpPr>
          <p:cNvPr id="1994999469" name="bush-power-spectrum-caption">
            <a:extLst xmlns:a="http://schemas.openxmlformats.org/drawingml/2006/main">
              <a:ext uri="{FF2B5EF4-FFF2-40B4-BE49-F238E27FC236}">
                <a16:creationId xmlns:a16="http://schemas.microsoft.com/office/drawing/2014/main" id="{4006F294-D652-4A14-8C67-05E6D1BA1128}"/>
              </a:ext>
            </a:extLst>
          </p:cNvPr>
          <p:cNvSpPr>
            <a:spLocks xmlns:a="http://schemas.openxmlformats.org/drawingml/2006/main" noGrp="1"/>
          </p:cNvSpPr>
          <p:nvPr/>
        </p:nvSpPr>
        <p:spPr>
          <a:xfrm xmlns:a="http://schemas.openxmlformats.org/drawingml/2006/main" rot="0">
            <a:off x="590550" y="33108900"/>
            <a:ext cx="1280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800" b="0" i="0">
                <a:solidFill>
                  <a:srgbClr val="53616A"/>
                </a:solidFill>
                <a:latin typeface="Aptos"/>
                <a:ea typeface="Aptos"/>
                <a:cs typeface="Aptos"/>
              </a:defRPr>
            </a:pPr>
            <a:r>
              <a:rPr sz="1800" b="0" i="0">
                <a:solidFill>
                  <a:srgbClr val="53616A"/>
                </a:solidFill>
                <a:latin typeface="Aptos"/>
                <a:ea typeface="Aptos"/>
                <a:cs typeface="Aptos"/>
              </a:rPr>
              <a:t>Strong peaks identify camera-visible frequencies with high measured response.</a:t>
            </a:r>
          </a:p>
        </p:txBody>
      </p:sp>
      <p:sp>
        <p:nvSpPr>
          <p:cNvPr id="1994999470" name="frequency-takeaway">
            <a:extLst xmlns:a="http://schemas.openxmlformats.org/drawingml/2006/main">
              <a:ext uri="{FF2B5EF4-FFF2-40B4-BE49-F238E27FC236}">
                <a16:creationId xmlns:a16="http://schemas.microsoft.com/office/drawing/2014/main" id="{59724A03-8573-4CAF-8EAF-A752AD90650B}"/>
              </a:ext>
            </a:extLst>
          </p:cNvPr>
          <p:cNvSpPr>
            <a:spLocks xmlns:a="http://schemas.openxmlformats.org/drawingml/2006/main" noGrp="1"/>
          </p:cNvSpPr>
          <p:nvPr/>
        </p:nvSpPr>
        <p:spPr>
          <a:xfrm xmlns:a="http://schemas.openxmlformats.org/drawingml/2006/main" rot="0">
            <a:off x="533400" y="33528000"/>
            <a:ext cx="12915900" cy="1619250"/>
          </a:xfrm>
          <a:prstGeom xmlns:a="http://schemas.openxmlformats.org/drawingml/2006/main" prst="roundRect">
            <a:avLst>
              <a:gd name="adj" fmla="val 2353"/>
            </a:avLst>
          </a:prstGeom>
          <a:solidFill xmlns:a="http://schemas.openxmlformats.org/drawingml/2006/main">
            <a:srgbClr val="E8EFEA"/>
          </a:solidFill>
          <a:ln xmlns:a="http://schemas.openxmlformats.org/drawingml/2006/main" w="14288">
            <a:solidFill>
              <a:srgbClr val="658B70"/>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l">
              <a:lnSpc>
                <a:spcPct val="105000"/>
              </a:lnSpc>
              <a:buNone/>
              <a:defRPr sz="2100" b="1" i="0">
                <a:solidFill>
                  <a:srgbClr val="23313A"/>
                </a:solidFill>
                <a:latin typeface="Aptos"/>
                <a:ea typeface="Aptos"/>
                <a:cs typeface="Aptos"/>
              </a:defRPr>
            </a:pPr>
            <a:r>
              <a:rPr sz="2100" b="1" i="0">
                <a:solidFill>
                  <a:srgbClr val="23313A"/>
                </a:solidFill>
                <a:latin typeface="Aptos"/>
                <a:ea typeface="Aptos"/>
                <a:cs typeface="Aptos"/>
              </a:rPr>
              <a:t>A few dominant peaks form a compact motion basis. Each complex frequency slice retains a spatial pattern, displacement magnitude, and relative phase while aggregating evidence over the full video.</a:t>
            </a:r>
          </a:p>
        </p:txBody>
      </p:sp>
      <p:sp>
        <p:nvSpPr>
          <p:cNvPr id="1994999471" name="section-3-Same Motion, Different Start Times">
            <a:extLst xmlns:a="http://schemas.openxmlformats.org/drawingml/2006/main">
              <a:ext uri="{FF2B5EF4-FFF2-40B4-BE49-F238E27FC236}">
                <a16:creationId xmlns:a16="http://schemas.microsoft.com/office/drawing/2014/main" id="{49DF8CCC-2C79-4B7A-BDA6-E47E6757F8C7}"/>
              </a:ext>
            </a:extLst>
          </p:cNvPr>
          <p:cNvSpPr>
            <a:spLocks xmlns:a="http://schemas.openxmlformats.org/drawingml/2006/main" noGrp="1"/>
          </p:cNvSpPr>
          <p:nvPr/>
        </p:nvSpPr>
        <p:spPr>
          <a:xfrm xmlns:a="http://schemas.openxmlformats.org/drawingml/2006/main" rot="0">
            <a:off x="13868400" y="4857750"/>
            <a:ext cx="13144500" cy="628650"/>
          </a:xfrm>
          <a:prstGeom xmlns:a="http://schemas.openxmlformats.org/drawingml/2006/main" prst="rect">
            <a:avLst/>
          </a:prstGeom>
          <a:solidFill xmlns:a="http://schemas.openxmlformats.org/drawingml/2006/main">
            <a:srgbClr val="956B58"/>
          </a:solidFill>
          <a:ln xmlns:a="http://schemas.openxmlformats.org/drawingml/2006/main" w="9525">
            <a:solidFill>
              <a:srgbClr val="956B58"/>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lnSpc>
                <a:spcPct val="105000"/>
              </a:lnSpc>
              <a:buNone/>
              <a:defRPr sz="3300" b="1" i="0">
                <a:solidFill>
                  <a:srgbClr val="FFFFFF"/>
                </a:solidFill>
                <a:latin typeface="Aptos"/>
                <a:ea typeface="Aptos"/>
                <a:cs typeface="Aptos"/>
              </a:defRPr>
            </a:pPr>
            <a:r>
              <a:rPr sz="3300" b="1" i="0">
                <a:solidFill>
                  <a:srgbClr val="FFFFFF"/>
                </a:solidFill>
                <a:latin typeface="Aptos"/>
                <a:ea typeface="Aptos"/>
                <a:cs typeface="Aptos"/>
              </a:rPr>
              <a:t>3. Same Motion, Different Start Times</a:t>
            </a:r>
          </a:p>
        </p:txBody>
      </p:sp>
      <p:sp>
        <p:nvSpPr>
          <p:cNvPr id="1994999472" name="async-subhead">
            <a:extLst xmlns:a="http://schemas.openxmlformats.org/drawingml/2006/main">
              <a:ext uri="{FF2B5EF4-FFF2-40B4-BE49-F238E27FC236}">
                <a16:creationId xmlns:a16="http://schemas.microsoft.com/office/drawing/2014/main" id="{2C1D8130-26F9-4B54-AE6A-EE67669A9797}"/>
              </a:ext>
            </a:extLst>
          </p:cNvPr>
          <p:cNvSpPr>
            <a:spLocks xmlns:a="http://schemas.openxmlformats.org/drawingml/2006/main" noGrp="1"/>
          </p:cNvSpPr>
          <p:nvPr/>
        </p:nvSpPr>
        <p:spPr>
          <a:xfrm xmlns:a="http://schemas.openxmlformats.org/drawingml/2006/main" rot="0">
            <a:off x="13982700" y="5638800"/>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One phone, several unsynchronized recordings</a:t>
            </a:r>
          </a:p>
        </p:txBody>
      </p:sp>
      <p:sp>
        <p:nvSpPr>
          <p:cNvPr id="1994999473" name="async-body">
            <a:extLst xmlns:a="http://schemas.openxmlformats.org/drawingml/2006/main">
              <a:ext uri="{FF2B5EF4-FFF2-40B4-BE49-F238E27FC236}">
                <a16:creationId xmlns:a16="http://schemas.microsoft.com/office/drawing/2014/main" id="{5C03ABA8-AFCE-4090-AB37-848497FD03E5}"/>
              </a:ext>
            </a:extLst>
          </p:cNvPr>
          <p:cNvSpPr>
            <a:spLocks xmlns:a="http://schemas.openxmlformats.org/drawingml/2006/main" noGrp="1"/>
          </p:cNvSpPr>
          <p:nvPr/>
        </p:nvSpPr>
        <p:spPr>
          <a:xfrm xmlns:a="http://schemas.openxmlformats.org/drawingml/2006/main" rot="0">
            <a:off x="13982700" y="6172200"/>
            <a:ext cx="1291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2175" b="0" i="0">
                <a:solidFill>
                  <a:srgbClr val="23313A"/>
                </a:solidFill>
                <a:latin typeface="Aptos"/>
                <a:ea typeface="Aptos"/>
                <a:cs typeface="Aptos"/>
              </a:defRPr>
            </a:pPr>
            <a:r>
              <a:rPr sz="2175" b="0" i="0">
                <a:solidFill>
                  <a:srgbClr val="23313A"/>
                </a:solidFill>
                <a:latin typeface="Aptos"/>
                <a:ea typeface="Aptos"/>
                <a:cs typeface="Aptos"/>
              </a:rPr>
              <a:t>Independent videos cannot be matched frame by frame. We assume stable geometry and boundary conditions produce the same natural frequencies and 3D mode shapes across recordings, although each view may have a different phase offset.</a:t>
            </a:r>
          </a:p>
        </p:txBody>
      </p:sp>
      <p:sp>
        <p:nvSpPr>
          <p:cNvPr id="1994999474" name="async-view-1-frame">
            <a:extLst xmlns:a="http://schemas.openxmlformats.org/drawingml/2006/main">
              <a:ext uri="{FF2B5EF4-FFF2-40B4-BE49-F238E27FC236}">
                <a16:creationId xmlns:a16="http://schemas.microsoft.com/office/drawing/2014/main" id="{A5A7CCBA-416D-4594-A4D0-AA6E1D99B6F9}"/>
              </a:ext>
            </a:extLst>
          </p:cNvPr>
          <p:cNvSpPr>
            <a:spLocks xmlns:a="http://schemas.openxmlformats.org/drawingml/2006/main" noGrp="1"/>
          </p:cNvSpPr>
          <p:nvPr/>
        </p:nvSpPr>
        <p:spPr>
          <a:xfrm xmlns:a="http://schemas.openxmlformats.org/drawingml/2006/main">
            <a:off x="14011275" y="7191375"/>
            <a:ext cx="4114800" cy="234315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91" name=""/>
          <p:cNvPicPr>
            <a:picLocks xmlns:a="http://schemas.openxmlformats.org/drawingml/2006/main" noChangeAspect="1"/>
          </p:cNvPicPr>
          <p:nvPr/>
        </p:nvPicPr>
        <p:blipFill>
          <a:blip xmlns:r="http://schemas.openxmlformats.org/officeDocument/2006/relationships" xmlns:a="http://schemas.openxmlformats.org/drawingml/2006/main" r:embed="Rda01a2916cc94b1c"/>
          <a:srcRect xmlns:a="http://schemas.openxmlformats.org/drawingml/2006/main" l="78" t="0" r="78" b="0"/>
          <a:stretch xmlns:a="http://schemas.openxmlformats.org/drawingml/2006/main">
            <a:fillRect l="0" t="0" r="0" b="0"/>
          </a:stretch>
        </p:blipFill>
        <p:spPr>
          <a:xfrm xmlns:a="http://schemas.openxmlformats.org/drawingml/2006/main">
            <a:off x="14039850" y="7219950"/>
            <a:ext cx="4057650" cy="2286000"/>
          </a:xfrm>
          <a:prstGeom xmlns:a="http://schemas.openxmlformats.org/drawingml/2006/main" prst="rect">
            <a:avLst/>
          </a:prstGeom>
        </p:spPr>
      </p:pic>
      <p:sp>
        <p:nvSpPr>
          <p:cNvPr id="1994999476" name="async-view-1-caption">
            <a:extLst xmlns:a="http://schemas.openxmlformats.org/drawingml/2006/main">
              <a:ext uri="{FF2B5EF4-FFF2-40B4-BE49-F238E27FC236}">
                <a16:creationId xmlns:a16="http://schemas.microsoft.com/office/drawing/2014/main" id="{A49E985B-8860-41C2-BFF0-8BBB2E6FFE60}"/>
              </a:ext>
            </a:extLst>
          </p:cNvPr>
          <p:cNvSpPr>
            <a:spLocks xmlns:a="http://schemas.openxmlformats.org/drawingml/2006/main" noGrp="1"/>
          </p:cNvSpPr>
          <p:nvPr/>
        </p:nvSpPr>
        <p:spPr>
          <a:xfrm xmlns:a="http://schemas.openxmlformats.org/drawingml/2006/main" rot="0">
            <a:off x="14039850" y="9553575"/>
            <a:ext cx="405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1   ·   unknown start time</a:t>
            </a:r>
          </a:p>
        </p:txBody>
      </p:sp>
      <p:sp>
        <p:nvSpPr>
          <p:cNvPr id="1994999477" name="async-view-2-frame">
            <a:extLst xmlns:a="http://schemas.openxmlformats.org/drawingml/2006/main">
              <a:ext uri="{FF2B5EF4-FFF2-40B4-BE49-F238E27FC236}">
                <a16:creationId xmlns:a16="http://schemas.microsoft.com/office/drawing/2014/main" id="{65661C70-DBA7-47C4-8DD7-01E844C3424E}"/>
              </a:ext>
            </a:extLst>
          </p:cNvPr>
          <p:cNvSpPr>
            <a:spLocks xmlns:a="http://schemas.openxmlformats.org/drawingml/2006/main" noGrp="1"/>
          </p:cNvSpPr>
          <p:nvPr/>
        </p:nvSpPr>
        <p:spPr>
          <a:xfrm xmlns:a="http://schemas.openxmlformats.org/drawingml/2006/main">
            <a:off x="18326100" y="7191375"/>
            <a:ext cx="4114800" cy="234315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94" name=""/>
          <p:cNvPicPr>
            <a:picLocks xmlns:a="http://schemas.openxmlformats.org/drawingml/2006/main" noChangeAspect="1"/>
          </p:cNvPicPr>
          <p:nvPr/>
        </p:nvPicPr>
        <p:blipFill>
          <a:blip xmlns:r="http://schemas.openxmlformats.org/officeDocument/2006/relationships" xmlns:a="http://schemas.openxmlformats.org/drawingml/2006/main" r:embed="R82f9da38a56649ba"/>
          <a:srcRect xmlns:a="http://schemas.openxmlformats.org/drawingml/2006/main" l="78" t="0" r="78" b="0"/>
          <a:stretch xmlns:a="http://schemas.openxmlformats.org/drawingml/2006/main">
            <a:fillRect l="0" t="0" r="0" b="0"/>
          </a:stretch>
        </p:blipFill>
        <p:spPr>
          <a:xfrm xmlns:a="http://schemas.openxmlformats.org/drawingml/2006/main">
            <a:off x="18354675" y="7219950"/>
            <a:ext cx="4057650" cy="2286000"/>
          </a:xfrm>
          <a:prstGeom xmlns:a="http://schemas.openxmlformats.org/drawingml/2006/main" prst="rect">
            <a:avLst/>
          </a:prstGeom>
        </p:spPr>
      </p:pic>
      <p:sp>
        <p:nvSpPr>
          <p:cNvPr id="1994999479" name="async-view-2-caption">
            <a:extLst xmlns:a="http://schemas.openxmlformats.org/drawingml/2006/main">
              <a:ext uri="{FF2B5EF4-FFF2-40B4-BE49-F238E27FC236}">
                <a16:creationId xmlns:a16="http://schemas.microsoft.com/office/drawing/2014/main" id="{FA87CC38-ED0D-45FA-B42D-7B878126B0A4}"/>
              </a:ext>
            </a:extLst>
          </p:cNvPr>
          <p:cNvSpPr>
            <a:spLocks xmlns:a="http://schemas.openxmlformats.org/drawingml/2006/main" noGrp="1"/>
          </p:cNvSpPr>
          <p:nvPr/>
        </p:nvSpPr>
        <p:spPr>
          <a:xfrm xmlns:a="http://schemas.openxmlformats.org/drawingml/2006/main" rot="0">
            <a:off x="18354675" y="9553575"/>
            <a:ext cx="405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2   ·   unknown start time</a:t>
            </a:r>
          </a:p>
        </p:txBody>
      </p:sp>
      <p:sp>
        <p:nvSpPr>
          <p:cNvPr id="1994999480" name="async-view-3-frame">
            <a:extLst xmlns:a="http://schemas.openxmlformats.org/drawingml/2006/main">
              <a:ext uri="{FF2B5EF4-FFF2-40B4-BE49-F238E27FC236}">
                <a16:creationId xmlns:a16="http://schemas.microsoft.com/office/drawing/2014/main" id="{3038D753-B7EA-4A2F-B23D-DBA9E0EB897C}"/>
              </a:ext>
            </a:extLst>
          </p:cNvPr>
          <p:cNvSpPr>
            <a:spLocks xmlns:a="http://schemas.openxmlformats.org/drawingml/2006/main" noGrp="1"/>
          </p:cNvSpPr>
          <p:nvPr/>
        </p:nvSpPr>
        <p:spPr>
          <a:xfrm xmlns:a="http://schemas.openxmlformats.org/drawingml/2006/main">
            <a:off x="22640925" y="7191375"/>
            <a:ext cx="4114800" cy="234315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597" name=""/>
          <p:cNvPicPr>
            <a:picLocks xmlns:a="http://schemas.openxmlformats.org/drawingml/2006/main" noChangeAspect="1"/>
          </p:cNvPicPr>
          <p:nvPr/>
        </p:nvPicPr>
        <p:blipFill>
          <a:blip xmlns:r="http://schemas.openxmlformats.org/officeDocument/2006/relationships" xmlns:a="http://schemas.openxmlformats.org/drawingml/2006/main" r:embed="R171382529f0442d3"/>
          <a:srcRect xmlns:a="http://schemas.openxmlformats.org/drawingml/2006/main" l="78" t="0" r="78" b="0"/>
          <a:stretch xmlns:a="http://schemas.openxmlformats.org/drawingml/2006/main">
            <a:fillRect l="0" t="0" r="0" b="0"/>
          </a:stretch>
        </p:blipFill>
        <p:spPr>
          <a:xfrm xmlns:a="http://schemas.openxmlformats.org/drawingml/2006/main">
            <a:off x="22669500" y="7219950"/>
            <a:ext cx="4057650" cy="2286000"/>
          </a:xfrm>
          <a:prstGeom xmlns:a="http://schemas.openxmlformats.org/drawingml/2006/main" prst="rect">
            <a:avLst/>
          </a:prstGeom>
        </p:spPr>
      </p:pic>
      <p:sp>
        <p:nvSpPr>
          <p:cNvPr id="1994999482" name="async-view-3-caption">
            <a:extLst xmlns:a="http://schemas.openxmlformats.org/drawingml/2006/main">
              <a:ext uri="{FF2B5EF4-FFF2-40B4-BE49-F238E27FC236}">
                <a16:creationId xmlns:a16="http://schemas.microsoft.com/office/drawing/2014/main" id="{923B2AFD-A05C-4BFC-B15C-D21A31EDAD46}"/>
              </a:ext>
            </a:extLst>
          </p:cNvPr>
          <p:cNvSpPr>
            <a:spLocks xmlns:a="http://schemas.openxmlformats.org/drawingml/2006/main" noGrp="1"/>
          </p:cNvSpPr>
          <p:nvPr/>
        </p:nvSpPr>
        <p:spPr>
          <a:xfrm xmlns:a="http://schemas.openxmlformats.org/drawingml/2006/main" rot="0">
            <a:off x="22669500" y="9553575"/>
            <a:ext cx="405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3   ·   unknown start time</a:t>
            </a:r>
          </a:p>
        </p:txBody>
      </p:sp>
      <p:sp>
        <p:nvSpPr>
          <p:cNvPr id="1994999483" name="frequency-consistency-assumption">
            <a:extLst xmlns:a="http://schemas.openxmlformats.org/drawingml/2006/main">
              <a:ext uri="{FF2B5EF4-FFF2-40B4-BE49-F238E27FC236}">
                <a16:creationId xmlns:a16="http://schemas.microsoft.com/office/drawing/2014/main" id="{99DDD849-52DD-4799-BE12-84EC9015CDE5}"/>
              </a:ext>
            </a:extLst>
          </p:cNvPr>
          <p:cNvSpPr>
            <a:spLocks xmlns:a="http://schemas.openxmlformats.org/drawingml/2006/main" noGrp="1"/>
          </p:cNvSpPr>
          <p:nvPr/>
        </p:nvSpPr>
        <p:spPr>
          <a:xfrm xmlns:a="http://schemas.openxmlformats.org/drawingml/2006/main" rot="0">
            <a:off x="13982700" y="9982200"/>
            <a:ext cx="12915900" cy="1066800"/>
          </a:xfrm>
          <a:prstGeom xmlns:a="http://schemas.openxmlformats.org/drawingml/2006/main" prst="roundRect">
            <a:avLst>
              <a:gd name="adj" fmla="val 3571"/>
            </a:avLst>
          </a:prstGeom>
          <a:solidFill xmlns:a="http://schemas.openxmlformats.org/drawingml/2006/main">
            <a:srgbClr val="F2E9E5"/>
          </a:solidFill>
          <a:ln xmlns:a="http://schemas.openxmlformats.org/drawingml/2006/main" w="14288">
            <a:solidFill>
              <a:srgbClr val="956B58"/>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l">
              <a:lnSpc>
                <a:spcPct val="105000"/>
              </a:lnSpc>
              <a:buNone/>
              <a:defRPr sz="2100" b="1" i="0">
                <a:solidFill>
                  <a:srgbClr val="23313A"/>
                </a:solidFill>
                <a:latin typeface="Aptos"/>
                <a:ea typeface="Aptos"/>
                <a:cs typeface="Aptos"/>
              </a:defRPr>
            </a:pPr>
            <a:r>
              <a:rPr sz="2100" b="1" i="0">
                <a:solidFill>
                  <a:srgbClr val="23313A"/>
                </a:solidFill>
                <a:latin typeface="Aptos"/>
                <a:ea typeface="Aptos"/>
                <a:cs typeface="Aptos"/>
              </a:rPr>
              <a:t>Frequency-domain consistency: the same resonant frequency represents the same underlying 3D spatial mode, even when recordings begin at different times.</a:t>
            </a:r>
          </a:p>
        </p:txBody>
      </p:sp>
      <p:sp>
        <p:nvSpPr>
          <p:cNvPr id="1994999484" name="async-frequency-flow-step-1">
            <a:extLst xmlns:a="http://schemas.openxmlformats.org/drawingml/2006/main">
              <a:ext uri="{FF2B5EF4-FFF2-40B4-BE49-F238E27FC236}">
                <a16:creationId xmlns:a16="http://schemas.microsoft.com/office/drawing/2014/main" id="{04B236C6-78BB-4D03-BF5E-BD4F1C9DE33B}"/>
              </a:ext>
            </a:extLst>
          </p:cNvPr>
          <p:cNvSpPr>
            <a:spLocks xmlns:a="http://schemas.openxmlformats.org/drawingml/2006/main" noGrp="1"/>
          </p:cNvSpPr>
          <p:nvPr/>
        </p:nvSpPr>
        <p:spPr>
          <a:xfrm xmlns:a="http://schemas.openxmlformats.org/drawingml/2006/main" rot="0">
            <a:off x="15201900" y="11182350"/>
            <a:ext cx="32639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4288">
            <a:solidFill>
              <a:srgbClr val="956B58"/>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different</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start times</a:t>
            </a:r>
          </a:p>
        </p:txBody>
      </p:sp>
      <p:sp>
        <p:nvSpPr>
          <p:cNvPr id="1994999485" name="async-frequency-flow-arrow-1">
            <a:extLst xmlns:a="http://schemas.openxmlformats.org/drawingml/2006/main">
              <a:ext uri="{FF2B5EF4-FFF2-40B4-BE49-F238E27FC236}">
                <a16:creationId xmlns:a16="http://schemas.microsoft.com/office/drawing/2014/main" id="{B6D8FF1E-DD25-4E1A-9EFE-C75D813289E8}"/>
              </a:ext>
            </a:extLst>
          </p:cNvPr>
          <p:cNvSpPr>
            <a:spLocks xmlns:a="http://schemas.openxmlformats.org/drawingml/2006/main" noGrp="1"/>
          </p:cNvSpPr>
          <p:nvPr/>
        </p:nvSpPr>
        <p:spPr>
          <a:xfrm xmlns:a="http://schemas.openxmlformats.org/drawingml/2006/main">
            <a:off x="18551525" y="11534775"/>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86" name="async-frequency-flow-step-2">
            <a:extLst xmlns:a="http://schemas.openxmlformats.org/drawingml/2006/main">
              <a:ext uri="{FF2B5EF4-FFF2-40B4-BE49-F238E27FC236}">
                <a16:creationId xmlns:a16="http://schemas.microsoft.com/office/drawing/2014/main" id="{9F192523-1D99-43E6-A8FC-334EEBC2B4F3}"/>
              </a:ext>
            </a:extLst>
          </p:cNvPr>
          <p:cNvSpPr>
            <a:spLocks xmlns:a="http://schemas.openxmlformats.org/drawingml/2006/main" noGrp="1"/>
          </p:cNvSpPr>
          <p:nvPr/>
        </p:nvSpPr>
        <p:spPr>
          <a:xfrm xmlns:a="http://schemas.openxmlformats.org/drawingml/2006/main" rot="0">
            <a:off x="18808700" y="11182350"/>
            <a:ext cx="32639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4288">
            <a:solidFill>
              <a:srgbClr val="658B70"/>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same natural</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frequencies</a:t>
            </a:r>
          </a:p>
        </p:txBody>
      </p:sp>
      <p:sp>
        <p:nvSpPr>
          <p:cNvPr id="1994999487" name="async-frequency-flow-arrow-2">
            <a:extLst xmlns:a="http://schemas.openxmlformats.org/drawingml/2006/main">
              <a:ext uri="{FF2B5EF4-FFF2-40B4-BE49-F238E27FC236}">
                <a16:creationId xmlns:a16="http://schemas.microsoft.com/office/drawing/2014/main" id="{D8BA6B4A-155F-4558-9047-FCB650D8D196}"/>
              </a:ext>
            </a:extLst>
          </p:cNvPr>
          <p:cNvSpPr>
            <a:spLocks xmlns:a="http://schemas.openxmlformats.org/drawingml/2006/main" noGrp="1"/>
          </p:cNvSpPr>
          <p:nvPr/>
        </p:nvSpPr>
        <p:spPr>
          <a:xfrm xmlns:a="http://schemas.openxmlformats.org/drawingml/2006/main">
            <a:off x="22158325" y="11534775"/>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488" name="async-frequency-flow-step-3">
            <a:extLst xmlns:a="http://schemas.openxmlformats.org/drawingml/2006/main">
              <a:ext uri="{FF2B5EF4-FFF2-40B4-BE49-F238E27FC236}">
                <a16:creationId xmlns:a16="http://schemas.microsoft.com/office/drawing/2014/main" id="{02BAD32F-0436-4916-A4EE-235B472A13CF}"/>
              </a:ext>
            </a:extLst>
          </p:cNvPr>
          <p:cNvSpPr>
            <a:spLocks xmlns:a="http://schemas.openxmlformats.org/drawingml/2006/main" noGrp="1"/>
          </p:cNvSpPr>
          <p:nvPr/>
        </p:nvSpPr>
        <p:spPr>
          <a:xfrm xmlns:a="http://schemas.openxmlformats.org/drawingml/2006/main" rot="0">
            <a:off x="22415500" y="11182350"/>
            <a:ext cx="3263900" cy="89535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4288">
            <a:solidFill>
              <a:srgbClr val="496577"/>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align complex</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view phase</a:t>
            </a:r>
          </a:p>
        </p:txBody>
      </p:sp>
      <p:sp>
        <p:nvSpPr>
          <p:cNvPr id="1994999489" name="section-4-Lift 2D Modes into a Shared 3D Model">
            <a:extLst xmlns:a="http://schemas.openxmlformats.org/drawingml/2006/main">
              <a:ext uri="{FF2B5EF4-FFF2-40B4-BE49-F238E27FC236}">
                <a16:creationId xmlns:a16="http://schemas.microsoft.com/office/drawing/2014/main" id="{07753E7D-3B6C-495B-B112-F4A61DB8C1E2}"/>
              </a:ext>
            </a:extLst>
          </p:cNvPr>
          <p:cNvSpPr>
            <a:spLocks xmlns:a="http://schemas.openxmlformats.org/drawingml/2006/main" noGrp="1"/>
          </p:cNvSpPr>
          <p:nvPr/>
        </p:nvSpPr>
        <p:spPr>
          <a:xfrm xmlns:a="http://schemas.openxmlformats.org/drawingml/2006/main" rot="0">
            <a:off x="13868400" y="12325350"/>
            <a:ext cx="13144500" cy="628650"/>
          </a:xfrm>
          <a:prstGeom xmlns:a="http://schemas.openxmlformats.org/drawingml/2006/main" prst="rect">
            <a:avLst/>
          </a:prstGeom>
          <a:solidFill xmlns:a="http://schemas.openxmlformats.org/drawingml/2006/main">
            <a:srgbClr val="496577"/>
          </a:solidFill>
          <a:ln xmlns:a="http://schemas.openxmlformats.org/drawingml/2006/main" w="9525">
            <a:solidFill>
              <a:srgbClr val="496577"/>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lnSpc>
                <a:spcPct val="105000"/>
              </a:lnSpc>
              <a:buNone/>
              <a:defRPr sz="3300" b="1" i="0">
                <a:solidFill>
                  <a:srgbClr val="FFFFFF"/>
                </a:solidFill>
                <a:latin typeface="Aptos"/>
                <a:ea typeface="Aptos"/>
                <a:cs typeface="Aptos"/>
              </a:defRPr>
            </a:pPr>
            <a:r>
              <a:rPr sz="3300" b="1" i="0">
                <a:solidFill>
                  <a:srgbClr val="FFFFFF"/>
                </a:solidFill>
                <a:latin typeface="Aptos"/>
                <a:ea typeface="Aptos"/>
                <a:cs typeface="Aptos"/>
              </a:rPr>
              <a:t>4. Lift 2D Modes into a Shared 3D Model</a:t>
            </a:r>
          </a:p>
        </p:txBody>
      </p:sp>
      <p:sp>
        <p:nvSpPr>
          <p:cNvPr id="1994999490" name="shared-scene-subhead">
            <a:extLst xmlns:a="http://schemas.openxmlformats.org/drawingml/2006/main">
              <a:ext uri="{FF2B5EF4-FFF2-40B4-BE49-F238E27FC236}">
                <a16:creationId xmlns:a16="http://schemas.microsoft.com/office/drawing/2014/main" id="{77EA725C-9F49-4DB0-A67B-985C715CE637}"/>
              </a:ext>
            </a:extLst>
          </p:cNvPr>
          <p:cNvSpPr>
            <a:spLocks xmlns:a="http://schemas.openxmlformats.org/drawingml/2006/main" noGrp="1"/>
          </p:cNvSpPr>
          <p:nvPr/>
        </p:nvSpPr>
        <p:spPr>
          <a:xfrm xmlns:a="http://schemas.openxmlformats.org/drawingml/2006/main" rot="0">
            <a:off x="13982700" y="13106400"/>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A canonical scene anchors every camera</a:t>
            </a:r>
          </a:p>
        </p:txBody>
      </p:sp>
      <p:sp>
        <p:nvSpPr>
          <p:cNvPr id="1994999491" name="canonical-scene-frame">
            <a:extLst xmlns:a="http://schemas.openxmlformats.org/drawingml/2006/main">
              <a:ext uri="{FF2B5EF4-FFF2-40B4-BE49-F238E27FC236}">
                <a16:creationId xmlns:a16="http://schemas.microsoft.com/office/drawing/2014/main" id="{19CE023F-9461-4710-BA4B-7628C32F1F4B}"/>
              </a:ext>
            </a:extLst>
          </p:cNvPr>
          <p:cNvSpPr>
            <a:spLocks xmlns:a="http://schemas.openxmlformats.org/drawingml/2006/main" noGrp="1"/>
          </p:cNvSpPr>
          <p:nvPr/>
        </p:nvSpPr>
        <p:spPr>
          <a:xfrm xmlns:a="http://schemas.openxmlformats.org/drawingml/2006/main">
            <a:off x="14011275" y="13649325"/>
            <a:ext cx="8010525" cy="5343525"/>
          </a:xfrm>
          <a:prstGeom xmlns:a="http://schemas.openxmlformats.org/drawingml/2006/main" prst="rect">
            <a:avLst/>
          </a:prstGeom>
          <a:solidFill xmlns:a="http://schemas.openxmlformats.org/drawingml/2006/main">
            <a:srgbClr val="111111"/>
          </a:solidFill>
          <a:ln xmlns:a="http://schemas.openxmlformats.org/drawingml/2006/main" w="14288">
            <a:solidFill>
              <a:srgbClr val="496577"/>
            </a:solidFill>
            <a:prstDash val="solid"/>
          </a:ln>
        </p:spPr>
      </p:sp>
      <p:pic>
        <p:nvPicPr>
          <p:cNvPr id="1994999608" name=""/>
          <p:cNvPicPr>
            <a:picLocks xmlns:a="http://schemas.openxmlformats.org/drawingml/2006/main" noChangeAspect="1"/>
          </p:cNvPicPr>
          <p:nvPr/>
        </p:nvPicPr>
        <p:blipFill>
          <a:blip xmlns:r="http://schemas.openxmlformats.org/officeDocument/2006/relationships" xmlns:a="http://schemas.openxmlformats.org/drawingml/2006/main" r:embed="R30ac5ac526b842eb"/>
          <a:stretch xmlns:a="http://schemas.openxmlformats.org/drawingml/2006/main"/>
        </p:blipFill>
        <p:spPr>
          <a:xfrm xmlns:a="http://schemas.openxmlformats.org/drawingml/2006/main">
            <a:off x="14039850" y="13748247"/>
            <a:ext cx="7953375" cy="5145681"/>
          </a:xfrm>
          <a:prstGeom xmlns:a="http://schemas.openxmlformats.org/drawingml/2006/main" prst="rect">
            <a:avLst/>
          </a:prstGeom>
        </p:spPr>
      </p:pic>
      <p:sp>
        <p:nvSpPr>
          <p:cNvPr id="1994999493" name="lift-step-1-number">
            <a:extLst xmlns:a="http://schemas.openxmlformats.org/drawingml/2006/main">
              <a:ext uri="{FF2B5EF4-FFF2-40B4-BE49-F238E27FC236}">
                <a16:creationId xmlns:a16="http://schemas.microsoft.com/office/drawing/2014/main" id="{A1F7759E-502E-4924-BCBF-84A6E104D8C1}"/>
              </a:ext>
            </a:extLst>
          </p:cNvPr>
          <p:cNvSpPr>
            <a:spLocks xmlns:a="http://schemas.openxmlformats.org/drawingml/2006/main" noGrp="1"/>
          </p:cNvSpPr>
          <p:nvPr/>
        </p:nvSpPr>
        <p:spPr>
          <a:xfrm xmlns:a="http://schemas.openxmlformats.org/drawingml/2006/main" rot="0">
            <a:off x="22298025" y="13677900"/>
            <a:ext cx="495300" cy="1162050"/>
          </a:xfrm>
          <a:prstGeom xmlns:a="http://schemas.openxmlformats.org/drawingml/2006/main" prst="rect">
            <a:avLst/>
          </a:prstGeom>
          <a:solidFill xmlns:a="http://schemas.openxmlformats.org/drawingml/2006/main">
            <a:srgbClr val="496577"/>
          </a:solidFill>
          <a:ln xmlns:a="http://schemas.openxmlformats.org/drawingml/2006/main" w="9525">
            <a:solidFill>
              <a:srgbClr val="496577"/>
            </a:solid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5000"/>
              </a:lnSpc>
              <a:buNone/>
              <a:defRPr sz="2325" b="1" i="0">
                <a:solidFill>
                  <a:srgbClr val="FFFFFF"/>
                </a:solidFill>
                <a:latin typeface="Aptos"/>
                <a:ea typeface="Aptos"/>
                <a:cs typeface="Aptos"/>
              </a:defRPr>
            </a:pPr>
            <a:r>
              <a:rPr sz="2325" b="1" i="0">
                <a:solidFill>
                  <a:srgbClr val="FFFFFF"/>
                </a:solidFill>
                <a:latin typeface="Aptos"/>
                <a:ea typeface="Aptos"/>
                <a:cs typeface="Aptos"/>
              </a:rPr>
              <a:t>1</a:t>
            </a:r>
          </a:p>
        </p:txBody>
      </p:sp>
      <p:sp>
        <p:nvSpPr>
          <p:cNvPr id="1994999494" name="lift-step-1-copy">
            <a:extLst xmlns:a="http://schemas.openxmlformats.org/drawingml/2006/main">
              <a:ext uri="{FF2B5EF4-FFF2-40B4-BE49-F238E27FC236}">
                <a16:creationId xmlns:a16="http://schemas.microsoft.com/office/drawing/2014/main" id="{00012577-AA7E-4820-942B-D771FD85F330}"/>
              </a:ext>
            </a:extLst>
          </p:cNvPr>
          <p:cNvSpPr>
            <a:spLocks xmlns:a="http://schemas.openxmlformats.org/drawingml/2006/main" noGrp="1"/>
          </p:cNvSpPr>
          <p:nvPr/>
        </p:nvSpPr>
        <p:spPr>
          <a:xfrm xmlns:a="http://schemas.openxmlformats.org/drawingml/2006/main" rot="0">
            <a:off x="22888575" y="13677900"/>
            <a:ext cx="3952875" cy="1162050"/>
          </a:xfrm>
          <a:prstGeom xmlns:a="http://schemas.openxmlformats.org/drawingml/2006/main" prst="rect">
            <a:avLst/>
          </a:prstGeom>
          <a:solidFill xmlns:a="http://schemas.openxmlformats.org/drawingml/2006/main">
            <a:srgbClr val="EEF1F2"/>
          </a:solidFill>
          <a:ln xmlns:a="http://schemas.openxmlformats.org/drawingml/2006/main" w="9525">
            <a:solidFill>
              <a:srgbClr val="CCD4D8"/>
            </a:solidFill>
            <a:prstDash val="solid"/>
          </a:ln>
        </p:spPr>
        <p:txBody>
          <a:bodyPr xmlns:a="http://schemas.openxmlformats.org/drawingml/2006/main" wrap="square" lIns="85725" tIns="76200" rIns="85725" bIns="76200" anchor="ctr">
            <a:noAutofit/>
          </a:bodyPr>
          <a:lstStyle xmlns:a="http://schemas.openxmlformats.org/drawingml/2006/main"/>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Shared geometry</a:t>
            </a:r>
          </a:p>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Sweep + reference frames → COLMAP + 3DGS</a:t>
            </a:r>
          </a:p>
        </p:txBody>
      </p:sp>
      <p:sp>
        <p:nvSpPr>
          <p:cNvPr id="1994999495" name="lift-step-2-number">
            <a:extLst xmlns:a="http://schemas.openxmlformats.org/drawingml/2006/main">
              <a:ext uri="{FF2B5EF4-FFF2-40B4-BE49-F238E27FC236}">
                <a16:creationId xmlns:a16="http://schemas.microsoft.com/office/drawing/2014/main" id="{E22C6FE7-ECFE-446A-9B6B-D3E09BF38B58}"/>
              </a:ext>
            </a:extLst>
          </p:cNvPr>
          <p:cNvSpPr>
            <a:spLocks xmlns:a="http://schemas.openxmlformats.org/drawingml/2006/main" noGrp="1"/>
          </p:cNvSpPr>
          <p:nvPr/>
        </p:nvSpPr>
        <p:spPr>
          <a:xfrm xmlns:a="http://schemas.openxmlformats.org/drawingml/2006/main" rot="0">
            <a:off x="22298025" y="15020925"/>
            <a:ext cx="495300" cy="1162050"/>
          </a:xfrm>
          <a:prstGeom xmlns:a="http://schemas.openxmlformats.org/drawingml/2006/main" prst="rect">
            <a:avLst/>
          </a:prstGeom>
          <a:solidFill xmlns:a="http://schemas.openxmlformats.org/drawingml/2006/main">
            <a:srgbClr val="658B70"/>
          </a:solidFill>
          <a:ln xmlns:a="http://schemas.openxmlformats.org/drawingml/2006/main" w="9525">
            <a:solidFill>
              <a:srgbClr val="658B70"/>
            </a:solid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5000"/>
              </a:lnSpc>
              <a:buNone/>
              <a:defRPr sz="2325" b="1" i="0">
                <a:solidFill>
                  <a:srgbClr val="FFFFFF"/>
                </a:solidFill>
                <a:latin typeface="Aptos"/>
                <a:ea typeface="Aptos"/>
                <a:cs typeface="Aptos"/>
              </a:defRPr>
            </a:pPr>
            <a:r>
              <a:rPr sz="2325" b="1" i="0">
                <a:solidFill>
                  <a:srgbClr val="FFFFFF"/>
                </a:solidFill>
                <a:latin typeface="Aptos"/>
                <a:ea typeface="Aptos"/>
                <a:cs typeface="Aptos"/>
              </a:rPr>
              <a:t>2</a:t>
            </a:r>
          </a:p>
        </p:txBody>
      </p:sp>
      <p:sp>
        <p:nvSpPr>
          <p:cNvPr id="1994999496" name="lift-step-2-copy">
            <a:extLst xmlns:a="http://schemas.openxmlformats.org/drawingml/2006/main">
              <a:ext uri="{FF2B5EF4-FFF2-40B4-BE49-F238E27FC236}">
                <a16:creationId xmlns:a16="http://schemas.microsoft.com/office/drawing/2014/main" id="{899DA858-613C-44AF-AB96-04085A5F4F02}"/>
              </a:ext>
            </a:extLst>
          </p:cNvPr>
          <p:cNvSpPr>
            <a:spLocks xmlns:a="http://schemas.openxmlformats.org/drawingml/2006/main" noGrp="1"/>
          </p:cNvSpPr>
          <p:nvPr/>
        </p:nvSpPr>
        <p:spPr>
          <a:xfrm xmlns:a="http://schemas.openxmlformats.org/drawingml/2006/main" rot="0">
            <a:off x="22888575" y="15020925"/>
            <a:ext cx="3952875" cy="1162050"/>
          </a:xfrm>
          <a:prstGeom xmlns:a="http://schemas.openxmlformats.org/drawingml/2006/main" prst="rect">
            <a:avLst/>
          </a:prstGeom>
          <a:solidFill xmlns:a="http://schemas.openxmlformats.org/drawingml/2006/main">
            <a:srgbClr val="EEF1F2"/>
          </a:solidFill>
          <a:ln xmlns:a="http://schemas.openxmlformats.org/drawingml/2006/main" w="9525">
            <a:solidFill>
              <a:srgbClr val="CCD4D8"/>
            </a:solidFill>
            <a:prstDash val="solid"/>
          </a:ln>
        </p:spPr>
        <p:txBody>
          <a:bodyPr xmlns:a="http://schemas.openxmlformats.org/drawingml/2006/main" wrap="square" lIns="85725" tIns="76200" rIns="85725" bIns="76200" anchor="ctr">
            <a:noAutofit/>
          </a:bodyPr>
          <a:lstStyle xmlns:a="http://schemas.openxmlformats.org/drawingml/2006/main"/>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Pixel–Gaussian links</a:t>
            </a:r>
          </a:p>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Rendered depth connects 2D evidence to the surface</a:t>
            </a:r>
          </a:p>
        </p:txBody>
      </p:sp>
      <p:sp>
        <p:nvSpPr>
          <p:cNvPr id="1994999497" name="lift-step-3-number">
            <a:extLst xmlns:a="http://schemas.openxmlformats.org/drawingml/2006/main">
              <a:ext uri="{FF2B5EF4-FFF2-40B4-BE49-F238E27FC236}">
                <a16:creationId xmlns:a16="http://schemas.microsoft.com/office/drawing/2014/main" id="{9029CC4B-446D-40CA-9006-38660D541209}"/>
              </a:ext>
            </a:extLst>
          </p:cNvPr>
          <p:cNvSpPr>
            <a:spLocks xmlns:a="http://schemas.openxmlformats.org/drawingml/2006/main" noGrp="1"/>
          </p:cNvSpPr>
          <p:nvPr/>
        </p:nvSpPr>
        <p:spPr>
          <a:xfrm xmlns:a="http://schemas.openxmlformats.org/drawingml/2006/main" rot="0">
            <a:off x="22298025" y="16363950"/>
            <a:ext cx="495300" cy="1162050"/>
          </a:xfrm>
          <a:prstGeom xmlns:a="http://schemas.openxmlformats.org/drawingml/2006/main" prst="rect">
            <a:avLst/>
          </a:prstGeom>
          <a:solidFill xmlns:a="http://schemas.openxmlformats.org/drawingml/2006/main">
            <a:srgbClr val="956B58"/>
          </a:solidFill>
          <a:ln xmlns:a="http://schemas.openxmlformats.org/drawingml/2006/main" w="9525">
            <a:solidFill>
              <a:srgbClr val="956B58"/>
            </a:solid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5000"/>
              </a:lnSpc>
              <a:buNone/>
              <a:defRPr sz="2325" b="1" i="0">
                <a:solidFill>
                  <a:srgbClr val="FFFFFF"/>
                </a:solidFill>
                <a:latin typeface="Aptos"/>
                <a:ea typeface="Aptos"/>
                <a:cs typeface="Aptos"/>
              </a:defRPr>
            </a:pPr>
            <a:r>
              <a:rPr sz="2325" b="1" i="0">
                <a:solidFill>
                  <a:srgbClr val="FFFFFF"/>
                </a:solidFill>
                <a:latin typeface="Aptos"/>
                <a:ea typeface="Aptos"/>
                <a:cs typeface="Aptos"/>
              </a:rPr>
              <a:t>3</a:t>
            </a:r>
          </a:p>
        </p:txBody>
      </p:sp>
      <p:sp>
        <p:nvSpPr>
          <p:cNvPr id="1994999498" name="lift-step-3-copy">
            <a:extLst xmlns:a="http://schemas.openxmlformats.org/drawingml/2006/main">
              <a:ext uri="{FF2B5EF4-FFF2-40B4-BE49-F238E27FC236}">
                <a16:creationId xmlns:a16="http://schemas.microsoft.com/office/drawing/2014/main" id="{B1668A9E-7ED5-44A9-9AA1-49C1B83EDBC2}"/>
              </a:ext>
            </a:extLst>
          </p:cNvPr>
          <p:cNvSpPr>
            <a:spLocks xmlns:a="http://schemas.openxmlformats.org/drawingml/2006/main" noGrp="1"/>
          </p:cNvSpPr>
          <p:nvPr/>
        </p:nvSpPr>
        <p:spPr>
          <a:xfrm xmlns:a="http://schemas.openxmlformats.org/drawingml/2006/main" rot="0">
            <a:off x="22888575" y="16363950"/>
            <a:ext cx="3952875" cy="1162050"/>
          </a:xfrm>
          <a:prstGeom xmlns:a="http://schemas.openxmlformats.org/drawingml/2006/main" prst="rect">
            <a:avLst/>
          </a:prstGeom>
          <a:solidFill xmlns:a="http://schemas.openxmlformats.org/drawingml/2006/main">
            <a:srgbClr val="EEF1F2"/>
          </a:solidFill>
          <a:ln xmlns:a="http://schemas.openxmlformats.org/drawingml/2006/main" w="9525">
            <a:solidFill>
              <a:srgbClr val="CCD4D8"/>
            </a:solidFill>
            <a:prstDash val="solid"/>
          </a:ln>
        </p:spPr>
        <p:txBody>
          <a:bodyPr xmlns:a="http://schemas.openxmlformats.org/drawingml/2006/main" wrap="square" lIns="85725" tIns="76200" rIns="85725" bIns="76200" anchor="ctr">
            <a:noAutofit/>
          </a:bodyPr>
          <a:lstStyle xmlns:a="http://schemas.openxmlformats.org/drawingml/2006/main"/>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View phase</a:t>
            </a:r>
          </a:p>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Phase-only synchronization across cameras</a:t>
            </a:r>
          </a:p>
        </p:txBody>
      </p:sp>
      <p:sp>
        <p:nvSpPr>
          <p:cNvPr id="1994999499" name="lift-step-4-number">
            <a:extLst xmlns:a="http://schemas.openxmlformats.org/drawingml/2006/main">
              <a:ext uri="{FF2B5EF4-FFF2-40B4-BE49-F238E27FC236}">
                <a16:creationId xmlns:a16="http://schemas.microsoft.com/office/drawing/2014/main" id="{0BFE6559-628D-43E2-85E6-95AE6DE92A34}"/>
              </a:ext>
            </a:extLst>
          </p:cNvPr>
          <p:cNvSpPr>
            <a:spLocks xmlns:a="http://schemas.openxmlformats.org/drawingml/2006/main" noGrp="1"/>
          </p:cNvSpPr>
          <p:nvPr/>
        </p:nvSpPr>
        <p:spPr>
          <a:xfrm xmlns:a="http://schemas.openxmlformats.org/drawingml/2006/main" rot="0">
            <a:off x="22298025" y="17706975"/>
            <a:ext cx="495300" cy="1257300"/>
          </a:xfrm>
          <a:prstGeom xmlns:a="http://schemas.openxmlformats.org/drawingml/2006/main" prst="rect">
            <a:avLst/>
          </a:prstGeom>
          <a:solidFill xmlns:a="http://schemas.openxmlformats.org/drawingml/2006/main">
            <a:srgbClr val="496577"/>
          </a:solidFill>
          <a:ln xmlns:a="http://schemas.openxmlformats.org/drawingml/2006/main" w="9525">
            <a:solidFill>
              <a:srgbClr val="496577"/>
            </a:solid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5000"/>
              </a:lnSpc>
              <a:buNone/>
              <a:defRPr sz="2325" b="1" i="0">
                <a:solidFill>
                  <a:srgbClr val="FFFFFF"/>
                </a:solidFill>
                <a:latin typeface="Aptos"/>
                <a:ea typeface="Aptos"/>
                <a:cs typeface="Aptos"/>
              </a:defRPr>
            </a:pPr>
            <a:r>
              <a:rPr sz="2325" b="1" i="0">
                <a:solidFill>
                  <a:srgbClr val="FFFFFF"/>
                </a:solidFill>
                <a:latin typeface="Aptos"/>
                <a:ea typeface="Aptos"/>
                <a:cs typeface="Aptos"/>
              </a:rPr>
              <a:t>4</a:t>
            </a:r>
          </a:p>
        </p:txBody>
      </p:sp>
      <p:sp>
        <p:nvSpPr>
          <p:cNvPr id="1994999500" name="lift-step-4-copy">
            <a:extLst xmlns:a="http://schemas.openxmlformats.org/drawingml/2006/main">
              <a:ext uri="{FF2B5EF4-FFF2-40B4-BE49-F238E27FC236}">
                <a16:creationId xmlns:a16="http://schemas.microsoft.com/office/drawing/2014/main" id="{AFC425FA-7C11-4825-8653-A011EE40DCEC}"/>
              </a:ext>
            </a:extLst>
          </p:cNvPr>
          <p:cNvSpPr>
            <a:spLocks xmlns:a="http://schemas.openxmlformats.org/drawingml/2006/main" noGrp="1"/>
          </p:cNvSpPr>
          <p:nvPr/>
        </p:nvSpPr>
        <p:spPr>
          <a:xfrm xmlns:a="http://schemas.openxmlformats.org/drawingml/2006/main" rot="0">
            <a:off x="22888575" y="17706975"/>
            <a:ext cx="3952875" cy="1257300"/>
          </a:xfrm>
          <a:prstGeom xmlns:a="http://schemas.openxmlformats.org/drawingml/2006/main" prst="rect">
            <a:avLst/>
          </a:prstGeom>
          <a:solidFill xmlns:a="http://schemas.openxmlformats.org/drawingml/2006/main">
            <a:srgbClr val="EEF1F2"/>
          </a:solidFill>
          <a:ln xmlns:a="http://schemas.openxmlformats.org/drawingml/2006/main" w="9525">
            <a:solidFill>
              <a:srgbClr val="CCD4D8"/>
            </a:solidFill>
            <a:prstDash val="solid"/>
          </a:ln>
        </p:spPr>
        <p:txBody>
          <a:bodyPr xmlns:a="http://schemas.openxmlformats.org/drawingml/2006/main" wrap="square" lIns="85725" tIns="76200" rIns="85725" bIns="76200" anchor="ctr">
            <a:noAutofit/>
          </a:bodyPr>
          <a:lstStyle xmlns:a="http://schemas.openxmlformats.org/drawingml/2006/main"/>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3D solve + fill</a:t>
            </a:r>
          </a:p>
          <a:p xmlns:a="http://schemas.openxmlformats.org/drawingml/2006/main">
            <a:pPr algn="l">
              <a:lnSpc>
                <a:spcPct val="100000"/>
              </a:lnSpc>
              <a:buNone/>
              <a:defRPr sz="1800" b="0" i="0">
                <a:solidFill>
                  <a:srgbClr val="23313A"/>
                </a:solidFill>
                <a:latin typeface="Aptos"/>
                <a:ea typeface="Aptos"/>
                <a:cs typeface="Aptos"/>
              </a:defRPr>
            </a:pPr>
            <a:r>
              <a:rPr sz="1800" b="0" i="0">
                <a:solidFill>
                  <a:srgbClr val="23313A"/>
                </a:solidFill>
                <a:latin typeface="Aptos"/>
                <a:ea typeface="Aptos"/>
                <a:cs typeface="Aptos"/>
              </a:rPr>
              <a:t>Lift local motion, then propagate to unseen Gaussians</a:t>
            </a:r>
          </a:p>
        </p:txBody>
      </p:sp>
      <p:sp>
        <p:nvSpPr>
          <p:cNvPr id="1994999501" name="lift-high-level-subhead">
            <a:extLst xmlns:a="http://schemas.openxmlformats.org/drawingml/2006/main">
              <a:ext uri="{FF2B5EF4-FFF2-40B4-BE49-F238E27FC236}">
                <a16:creationId xmlns:a16="http://schemas.microsoft.com/office/drawing/2014/main" id="{CF4BD18C-3E27-47FD-8741-82A569054BA7}"/>
              </a:ext>
            </a:extLst>
          </p:cNvPr>
          <p:cNvSpPr>
            <a:spLocks xmlns:a="http://schemas.openxmlformats.org/drawingml/2006/main" noGrp="1"/>
          </p:cNvSpPr>
          <p:nvPr/>
        </p:nvSpPr>
        <p:spPr>
          <a:xfrm xmlns:a="http://schemas.openxmlformats.org/drawingml/2006/main" rot="0">
            <a:off x="13982700" y="19145250"/>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High-level lift</a:t>
            </a:r>
          </a:p>
        </p:txBody>
      </p:sp>
      <p:sp>
        <p:nvSpPr>
          <p:cNvPr id="1994999502" name="lift-flow-step-1">
            <a:extLst xmlns:a="http://schemas.openxmlformats.org/drawingml/2006/main">
              <a:ext uri="{FF2B5EF4-FFF2-40B4-BE49-F238E27FC236}">
                <a16:creationId xmlns:a16="http://schemas.microsoft.com/office/drawing/2014/main" id="{4BF69991-2E75-4952-BB57-CAEF25B96646}"/>
              </a:ext>
            </a:extLst>
          </p:cNvPr>
          <p:cNvSpPr>
            <a:spLocks xmlns:a="http://schemas.openxmlformats.org/drawingml/2006/main" noGrp="1"/>
          </p:cNvSpPr>
          <p:nvPr/>
        </p:nvSpPr>
        <p:spPr>
          <a:xfrm xmlns:a="http://schemas.openxmlformats.org/drawingml/2006/main" rot="0">
            <a:off x="14001750" y="19659600"/>
            <a:ext cx="2962275" cy="10096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14288">
            <a:solidFill>
              <a:srgbClr val="956B58"/>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2D complex</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mode</a:t>
            </a:r>
          </a:p>
        </p:txBody>
      </p:sp>
      <p:sp>
        <p:nvSpPr>
          <p:cNvPr id="1994999503" name="lift-flow-arrow-1">
            <a:extLst xmlns:a="http://schemas.openxmlformats.org/drawingml/2006/main">
              <a:ext uri="{FF2B5EF4-FFF2-40B4-BE49-F238E27FC236}">
                <a16:creationId xmlns:a16="http://schemas.microsoft.com/office/drawing/2014/main" id="{28868ED1-9855-4BE7-9E4F-54F47A2FC249}"/>
              </a:ext>
            </a:extLst>
          </p:cNvPr>
          <p:cNvSpPr>
            <a:spLocks xmlns:a="http://schemas.openxmlformats.org/drawingml/2006/main" noGrp="1"/>
          </p:cNvSpPr>
          <p:nvPr/>
        </p:nvSpPr>
        <p:spPr>
          <a:xfrm xmlns:a="http://schemas.openxmlformats.org/drawingml/2006/main">
            <a:off x="17049750" y="20069175"/>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504" name="lift-flow-step-2">
            <a:extLst xmlns:a="http://schemas.openxmlformats.org/drawingml/2006/main">
              <a:ext uri="{FF2B5EF4-FFF2-40B4-BE49-F238E27FC236}">
                <a16:creationId xmlns:a16="http://schemas.microsoft.com/office/drawing/2014/main" id="{D700064A-0501-441B-A10F-876D6C8AFC84}"/>
              </a:ext>
            </a:extLst>
          </p:cNvPr>
          <p:cNvSpPr>
            <a:spLocks xmlns:a="http://schemas.openxmlformats.org/drawingml/2006/main" noGrp="1"/>
          </p:cNvSpPr>
          <p:nvPr/>
        </p:nvSpPr>
        <p:spPr>
          <a:xfrm xmlns:a="http://schemas.openxmlformats.org/drawingml/2006/main" rot="0">
            <a:off x="17306925" y="19659600"/>
            <a:ext cx="2962275" cy="10096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14288">
            <a:solidFill>
              <a:srgbClr val="658B70"/>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shared surface</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points</a:t>
            </a:r>
          </a:p>
        </p:txBody>
      </p:sp>
      <p:sp>
        <p:nvSpPr>
          <p:cNvPr id="1994999505" name="lift-flow-arrow-2">
            <a:extLst xmlns:a="http://schemas.openxmlformats.org/drawingml/2006/main">
              <a:ext uri="{FF2B5EF4-FFF2-40B4-BE49-F238E27FC236}">
                <a16:creationId xmlns:a16="http://schemas.microsoft.com/office/drawing/2014/main" id="{1E7E8EFB-49F5-4639-B89E-623730ECC228}"/>
              </a:ext>
            </a:extLst>
          </p:cNvPr>
          <p:cNvSpPr>
            <a:spLocks xmlns:a="http://schemas.openxmlformats.org/drawingml/2006/main" noGrp="1"/>
          </p:cNvSpPr>
          <p:nvPr/>
        </p:nvSpPr>
        <p:spPr>
          <a:xfrm xmlns:a="http://schemas.openxmlformats.org/drawingml/2006/main">
            <a:off x="20354925" y="20069175"/>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506" name="lift-flow-step-3">
            <a:extLst xmlns:a="http://schemas.openxmlformats.org/drawingml/2006/main">
              <a:ext uri="{FF2B5EF4-FFF2-40B4-BE49-F238E27FC236}">
                <a16:creationId xmlns:a16="http://schemas.microsoft.com/office/drawing/2014/main" id="{CA624DA3-D596-4FCA-A88C-134FA2C4B029}"/>
              </a:ext>
            </a:extLst>
          </p:cNvPr>
          <p:cNvSpPr>
            <a:spLocks xmlns:a="http://schemas.openxmlformats.org/drawingml/2006/main" noGrp="1"/>
          </p:cNvSpPr>
          <p:nvPr/>
        </p:nvSpPr>
        <p:spPr>
          <a:xfrm xmlns:a="http://schemas.openxmlformats.org/drawingml/2006/main" rot="0">
            <a:off x="20612100" y="19659600"/>
            <a:ext cx="2962275" cy="10096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14288">
            <a:solidFill>
              <a:srgbClr val="956B58"/>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phase-aligned</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views</a:t>
            </a:r>
          </a:p>
        </p:txBody>
      </p:sp>
      <p:sp>
        <p:nvSpPr>
          <p:cNvPr id="1994999507" name="lift-flow-arrow-3">
            <a:extLst xmlns:a="http://schemas.openxmlformats.org/drawingml/2006/main">
              <a:ext uri="{FF2B5EF4-FFF2-40B4-BE49-F238E27FC236}">
                <a16:creationId xmlns:a16="http://schemas.microsoft.com/office/drawing/2014/main" id="{DD9F2786-13AB-4A4A-8B77-C890AB228AF1}"/>
              </a:ext>
            </a:extLst>
          </p:cNvPr>
          <p:cNvSpPr>
            <a:spLocks xmlns:a="http://schemas.openxmlformats.org/drawingml/2006/main" noGrp="1"/>
          </p:cNvSpPr>
          <p:nvPr/>
        </p:nvSpPr>
        <p:spPr>
          <a:xfrm xmlns:a="http://schemas.openxmlformats.org/drawingml/2006/main">
            <a:off x="23660100" y="20069175"/>
            <a:ext cx="171450" cy="190500"/>
          </a:xfrm>
          <a:prstGeom xmlns:a="http://schemas.openxmlformats.org/drawingml/2006/main" prst="rightArrow">
            <a:avLst/>
          </a:prstGeom>
          <a:solidFill xmlns:a="http://schemas.openxmlformats.org/drawingml/2006/main">
            <a:srgbClr val="53616A"/>
          </a:solidFill>
          <a:ln xmlns:a="http://schemas.openxmlformats.org/drawingml/2006/main" w="3810">
            <a:solidFill>
              <a:srgbClr val="53616A"/>
            </a:solidFill>
            <a:prstDash val="solid"/>
          </a:ln>
        </p:spPr>
      </p:sp>
      <p:sp>
        <p:nvSpPr>
          <p:cNvPr id="1994999508" name="lift-flow-step-4">
            <a:extLst xmlns:a="http://schemas.openxmlformats.org/drawingml/2006/main">
              <a:ext uri="{FF2B5EF4-FFF2-40B4-BE49-F238E27FC236}">
                <a16:creationId xmlns:a16="http://schemas.microsoft.com/office/drawing/2014/main" id="{8234D5A4-D5E4-4A71-945A-FA13A6C6A44C}"/>
              </a:ext>
            </a:extLst>
          </p:cNvPr>
          <p:cNvSpPr>
            <a:spLocks xmlns:a="http://schemas.openxmlformats.org/drawingml/2006/main" noGrp="1"/>
          </p:cNvSpPr>
          <p:nvPr/>
        </p:nvSpPr>
        <p:spPr>
          <a:xfrm xmlns:a="http://schemas.openxmlformats.org/drawingml/2006/main" rot="0">
            <a:off x="23917275" y="19659600"/>
            <a:ext cx="2962275" cy="10096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14288">
            <a:solidFill>
              <a:srgbClr val="496577"/>
            </a:solid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3D Gaussian</a:t>
            </a:r>
          </a:p>
          <a:p xmlns:a="http://schemas.openxmlformats.org/drawingml/2006/main">
            <a:pPr algn="ctr">
              <a:lnSpc>
                <a:spcPct val="105000"/>
              </a:lnSpc>
              <a:buNone/>
              <a:defRPr sz="1725" b="1" i="0">
                <a:solidFill>
                  <a:srgbClr val="23313A"/>
                </a:solidFill>
                <a:latin typeface="Aptos"/>
                <a:ea typeface="Aptos"/>
                <a:cs typeface="Aptos"/>
              </a:defRPr>
            </a:pPr>
            <a:r>
              <a:rPr sz="1725" b="1" i="0">
                <a:solidFill>
                  <a:srgbClr val="23313A"/>
                </a:solidFill>
                <a:latin typeface="Aptos"/>
                <a:ea typeface="Aptos"/>
                <a:cs typeface="Aptos"/>
              </a:rPr>
              <a:t>mode field</a:t>
            </a:r>
          </a:p>
        </p:txBody>
      </p:sp>
      <p:sp>
        <p:nvSpPr>
          <p:cNvPr id="1994999509" name="rigid-components-frame">
            <a:extLst xmlns:a="http://schemas.openxmlformats.org/drawingml/2006/main">
              <a:ext uri="{FF2B5EF4-FFF2-40B4-BE49-F238E27FC236}">
                <a16:creationId xmlns:a16="http://schemas.microsoft.com/office/drawing/2014/main" id="{9CF37129-C475-42F3-A59B-5CB188F2F952}"/>
              </a:ext>
            </a:extLst>
          </p:cNvPr>
          <p:cNvSpPr>
            <a:spLocks xmlns:a="http://schemas.openxmlformats.org/drawingml/2006/main" noGrp="1"/>
          </p:cNvSpPr>
          <p:nvPr/>
        </p:nvSpPr>
        <p:spPr>
          <a:xfrm xmlns:a="http://schemas.openxmlformats.org/drawingml/2006/main">
            <a:off x="14011275" y="20850225"/>
            <a:ext cx="7677150" cy="4295775"/>
          </a:xfrm>
          <a:prstGeom xmlns:a="http://schemas.openxmlformats.org/drawingml/2006/main" prst="rect">
            <a:avLst/>
          </a:prstGeom>
          <a:solidFill xmlns:a="http://schemas.openxmlformats.org/drawingml/2006/main">
            <a:srgbClr val="111111"/>
          </a:solidFill>
          <a:ln xmlns:a="http://schemas.openxmlformats.org/drawingml/2006/main" w="14288">
            <a:solidFill>
              <a:srgbClr val="496577"/>
            </a:solidFill>
            <a:prstDash val="solid"/>
          </a:ln>
        </p:spPr>
      </p:sp>
      <p:pic>
        <p:nvPicPr>
          <p:cNvPr id="1994999626" name=""/>
          <p:cNvPicPr>
            <a:picLocks xmlns:a="http://schemas.openxmlformats.org/drawingml/2006/main" noChangeAspect="1"/>
          </p:cNvPicPr>
          <p:nvPr/>
        </p:nvPicPr>
        <p:blipFill>
          <a:blip xmlns:r="http://schemas.openxmlformats.org/officeDocument/2006/relationships" xmlns:a="http://schemas.openxmlformats.org/drawingml/2006/main" r:embed="R7b0c59be524243eb"/>
          <a:stretch xmlns:a="http://schemas.openxmlformats.org/drawingml/2006/main"/>
        </p:blipFill>
        <p:spPr>
          <a:xfrm xmlns:a="http://schemas.openxmlformats.org/drawingml/2006/main">
            <a:off x="14692507" y="20878800"/>
            <a:ext cx="6314686" cy="4238625"/>
          </a:xfrm>
          <a:prstGeom xmlns:a="http://schemas.openxmlformats.org/drawingml/2006/main" prst="rect">
            <a:avLst/>
          </a:prstGeom>
        </p:spPr>
      </p:pic>
      <p:sp>
        <p:nvSpPr>
          <p:cNvPr id="1994999511" name="rigid-components-caption">
            <a:extLst xmlns:a="http://schemas.openxmlformats.org/drawingml/2006/main">
              <a:ext uri="{FF2B5EF4-FFF2-40B4-BE49-F238E27FC236}">
                <a16:creationId xmlns:a16="http://schemas.microsoft.com/office/drawing/2014/main" id="{BBC1D37D-3D0F-4D59-AF10-0F65BA350623}"/>
              </a:ext>
            </a:extLst>
          </p:cNvPr>
          <p:cNvSpPr>
            <a:spLocks xmlns:a="http://schemas.openxmlformats.org/drawingml/2006/main" noGrp="1"/>
          </p:cNvSpPr>
          <p:nvPr/>
        </p:nvSpPr>
        <p:spPr>
          <a:xfrm xmlns:a="http://schemas.openxmlformats.org/drawingml/2006/main" rot="0">
            <a:off x="14039850" y="25165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Local Gaussian structure used during the 3D solve.</a:t>
            </a:r>
          </a:p>
        </p:txBody>
      </p:sp>
      <p:sp>
        <p:nvSpPr>
          <p:cNvPr id="1994999512" name="lift-summary">
            <a:extLst xmlns:a="http://schemas.openxmlformats.org/drawingml/2006/main">
              <a:ext uri="{FF2B5EF4-FFF2-40B4-BE49-F238E27FC236}">
                <a16:creationId xmlns:a16="http://schemas.microsoft.com/office/drawing/2014/main" id="{00102C77-22AC-4AC6-A043-3D19551E100D}"/>
              </a:ext>
            </a:extLst>
          </p:cNvPr>
          <p:cNvSpPr>
            <a:spLocks xmlns:a="http://schemas.openxmlformats.org/drawingml/2006/main" noGrp="1"/>
          </p:cNvSpPr>
          <p:nvPr/>
        </p:nvSpPr>
        <p:spPr>
          <a:xfrm xmlns:a="http://schemas.openxmlformats.org/drawingml/2006/main" rot="0">
            <a:off x="21888450" y="20878800"/>
            <a:ext cx="4953000" cy="4238625"/>
          </a:xfrm>
          <a:prstGeom xmlns:a="http://schemas.openxmlformats.org/drawingml/2006/main" prst="roundRect">
            <a:avLst>
              <a:gd name="adj" fmla="val 899"/>
            </a:avLst>
          </a:prstGeom>
          <a:solidFill xmlns:a="http://schemas.openxmlformats.org/drawingml/2006/main">
            <a:srgbClr val="EEF1F2"/>
          </a:solidFill>
          <a:ln xmlns:a="http://schemas.openxmlformats.org/drawingml/2006/main" w="14288">
            <a:solidFill>
              <a:srgbClr val="496577"/>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l">
              <a:lnSpc>
                <a:spcPct val="105000"/>
              </a:lnSpc>
              <a:buNone/>
              <a:defRPr sz="2025" b="0" i="0">
                <a:solidFill>
                  <a:srgbClr val="23313A"/>
                </a:solidFill>
                <a:latin typeface="Aptos"/>
                <a:ea typeface="Aptos"/>
                <a:cs typeface="Aptos"/>
              </a:defRPr>
            </a:pPr>
            <a:r>
              <a:rPr sz="2025" b="0" i="0">
                <a:solidFill>
                  <a:srgbClr val="23313A"/>
                </a:solidFill>
                <a:latin typeface="Aptos"/>
                <a:ea typeface="Aptos"/>
                <a:cs typeface="Aptos"/>
              </a:rPr>
              <a:t>Rendered depth links image measurements to foreground Gaussians. Calibrated projection Jacobians lift phase-aligned 2D modes into local 3D motion; a separate foreground graph carries compatible motion to unobserved Gaussians.</a:t>
            </a:r>
          </a:p>
        </p:txBody>
      </p:sp>
      <p:sp>
        <p:nvSpPr>
          <p:cNvPr id="1994999513" name="section-5-Recovered Modes Reproject Across Views">
            <a:extLst xmlns:a="http://schemas.openxmlformats.org/drawingml/2006/main">
              <a:ext uri="{FF2B5EF4-FFF2-40B4-BE49-F238E27FC236}">
                <a16:creationId xmlns:a16="http://schemas.microsoft.com/office/drawing/2014/main" id="{CB1BA9EF-6E1F-41B0-B356-A97B659BC9F6}"/>
              </a:ext>
            </a:extLst>
          </p:cNvPr>
          <p:cNvSpPr>
            <a:spLocks xmlns:a="http://schemas.openxmlformats.org/drawingml/2006/main" noGrp="1"/>
          </p:cNvSpPr>
          <p:nvPr/>
        </p:nvSpPr>
        <p:spPr>
          <a:xfrm xmlns:a="http://schemas.openxmlformats.org/drawingml/2006/main" rot="0">
            <a:off x="13868400" y="25574625"/>
            <a:ext cx="13144500" cy="628650"/>
          </a:xfrm>
          <a:prstGeom xmlns:a="http://schemas.openxmlformats.org/drawingml/2006/main" prst="rect">
            <a:avLst/>
          </a:prstGeom>
          <a:solidFill xmlns:a="http://schemas.openxmlformats.org/drawingml/2006/main">
            <a:srgbClr val="658B70"/>
          </a:solidFill>
          <a:ln xmlns:a="http://schemas.openxmlformats.org/drawingml/2006/main" w="9525">
            <a:solidFill>
              <a:srgbClr val="658B70"/>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lnSpc>
                <a:spcPct val="105000"/>
              </a:lnSpc>
              <a:buNone/>
              <a:defRPr sz="3300" b="1" i="0">
                <a:solidFill>
                  <a:srgbClr val="FFFFFF"/>
                </a:solidFill>
                <a:latin typeface="Aptos"/>
                <a:ea typeface="Aptos"/>
                <a:cs typeface="Aptos"/>
              </a:defRPr>
            </a:pPr>
            <a:r>
              <a:rPr sz="3300" b="1" i="0">
                <a:solidFill>
                  <a:srgbClr val="FFFFFF"/>
                </a:solidFill>
                <a:latin typeface="Aptos"/>
                <a:ea typeface="Aptos"/>
                <a:cs typeface="Aptos"/>
              </a:rPr>
              <a:t>5. Recovered Modes Reproject Across Views</a:t>
            </a:r>
          </a:p>
        </p:txBody>
      </p:sp>
      <p:sp>
        <p:nvSpPr>
          <p:cNvPr id="1994999514" name="result-subhead">
            <a:extLst xmlns:a="http://schemas.openxmlformats.org/drawingml/2006/main">
              <a:ext uri="{FF2B5EF4-FFF2-40B4-BE49-F238E27FC236}">
                <a16:creationId xmlns:a16="http://schemas.microsoft.com/office/drawing/2014/main" id="{10356D7F-8D43-4CC2-A4B9-4976F0F72FE5}"/>
              </a:ext>
            </a:extLst>
          </p:cNvPr>
          <p:cNvSpPr>
            <a:spLocks xmlns:a="http://schemas.openxmlformats.org/drawingml/2006/main" noGrp="1"/>
          </p:cNvSpPr>
          <p:nvPr/>
        </p:nvSpPr>
        <p:spPr>
          <a:xfrm xmlns:a="http://schemas.openxmlformats.org/drawingml/2006/main" rot="0">
            <a:off x="13982700" y="26317575"/>
            <a:ext cx="1291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5000"/>
              </a:lnSpc>
              <a:buNone/>
              <a:defRPr sz="2550" b="1" i="0">
                <a:solidFill>
                  <a:srgbClr val="23313A"/>
                </a:solidFill>
                <a:latin typeface="Aptos"/>
                <a:ea typeface="Aptos"/>
                <a:cs typeface="Aptos"/>
              </a:defRPr>
            </a:pPr>
            <a:r>
              <a:rPr sz="2550" b="1" i="0">
                <a:solidFill>
                  <a:srgbClr val="23313A"/>
                </a:solidFill>
                <a:latin typeface="Aptos"/>
                <a:ea typeface="Aptos"/>
                <a:cs typeface="Aptos"/>
              </a:rPr>
              <a:t>One 3D mode, projected into three cameras</a:t>
            </a:r>
          </a:p>
        </p:txBody>
      </p:sp>
      <p:sp>
        <p:nvSpPr>
          <p:cNvPr id="1994999515" name="observed-row-label">
            <a:extLst xmlns:a="http://schemas.openxmlformats.org/drawingml/2006/main">
              <a:ext uri="{FF2B5EF4-FFF2-40B4-BE49-F238E27FC236}">
                <a16:creationId xmlns:a16="http://schemas.microsoft.com/office/drawing/2014/main" id="{7A10841F-6A9E-4B03-AF14-937B92AFBA60}"/>
              </a:ext>
            </a:extLst>
          </p:cNvPr>
          <p:cNvSpPr>
            <a:spLocks xmlns:a="http://schemas.openxmlformats.org/drawingml/2006/main" noGrp="1"/>
          </p:cNvSpPr>
          <p:nvPr/>
        </p:nvSpPr>
        <p:spPr>
          <a:xfrm xmlns:a="http://schemas.openxmlformats.org/drawingml/2006/main" rot="0">
            <a:off x="14039850" y="26803350"/>
            <a:ext cx="1280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l">
              <a:lnSpc>
                <a:spcPct val="105000"/>
              </a:lnSpc>
              <a:buNone/>
              <a:defRPr sz="1725" b="0" i="0">
                <a:solidFill>
                  <a:srgbClr val="23313A"/>
                </a:solidFill>
                <a:latin typeface="Aptos"/>
                <a:ea typeface="Aptos"/>
                <a:cs typeface="Aptos"/>
              </a:defRPr>
            </a:pPr>
            <a:r>
              <a:rPr sz="1725" b="0" i="0">
                <a:solidFill>
                  <a:srgbClr val="23313A"/>
                </a:solidFill>
                <a:latin typeface="Aptos"/>
                <a:ea typeface="Aptos"/>
                <a:cs typeface="Aptos"/>
              </a:rPr>
              <a:t>Observed 2D mode</a:t>
            </a:r>
          </a:p>
        </p:txBody>
      </p:sp>
      <p:sp>
        <p:nvSpPr>
          <p:cNvPr id="1994999516" name="projection-observed-1-frame">
            <a:extLst xmlns:a="http://schemas.openxmlformats.org/drawingml/2006/main">
              <a:ext uri="{FF2B5EF4-FFF2-40B4-BE49-F238E27FC236}">
                <a16:creationId xmlns:a16="http://schemas.microsoft.com/office/drawing/2014/main" id="{06602031-286A-4328-B6BC-1632D839BA45}"/>
              </a:ext>
            </a:extLst>
          </p:cNvPr>
          <p:cNvSpPr>
            <a:spLocks xmlns:a="http://schemas.openxmlformats.org/drawingml/2006/main" noGrp="1"/>
          </p:cNvSpPr>
          <p:nvPr/>
        </p:nvSpPr>
        <p:spPr>
          <a:xfrm xmlns:a="http://schemas.openxmlformats.org/drawingml/2006/main">
            <a:off x="14011275" y="270986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33" name=""/>
          <p:cNvPicPr>
            <a:picLocks xmlns:a="http://schemas.openxmlformats.org/drawingml/2006/main" noChangeAspect="1"/>
          </p:cNvPicPr>
          <p:nvPr/>
        </p:nvPicPr>
        <p:blipFill>
          <a:blip xmlns:r="http://schemas.openxmlformats.org/officeDocument/2006/relationships" xmlns:a="http://schemas.openxmlformats.org/drawingml/2006/main" r:embed="R616cf513af5d42c2"/>
          <a:stretch xmlns:a="http://schemas.openxmlformats.org/drawingml/2006/main"/>
        </p:blipFill>
        <p:spPr>
          <a:xfrm xmlns:a="http://schemas.openxmlformats.org/drawingml/2006/main">
            <a:off x="14081852" y="27127200"/>
            <a:ext cx="3935546" cy="2190750"/>
          </a:xfrm>
          <a:prstGeom xmlns:a="http://schemas.openxmlformats.org/drawingml/2006/main" prst="rect">
            <a:avLst/>
          </a:prstGeom>
        </p:spPr>
      </p:pic>
      <p:sp>
        <p:nvSpPr>
          <p:cNvPr id="1994999518" name="projection-observed-2-frame">
            <a:extLst xmlns:a="http://schemas.openxmlformats.org/drawingml/2006/main">
              <a:ext uri="{FF2B5EF4-FFF2-40B4-BE49-F238E27FC236}">
                <a16:creationId xmlns:a16="http://schemas.microsoft.com/office/drawing/2014/main" id="{254873FC-D02B-47F4-A00B-D3348AC43BBA}"/>
              </a:ext>
            </a:extLst>
          </p:cNvPr>
          <p:cNvSpPr>
            <a:spLocks xmlns:a="http://schemas.openxmlformats.org/drawingml/2006/main" noGrp="1"/>
          </p:cNvSpPr>
          <p:nvPr/>
        </p:nvSpPr>
        <p:spPr>
          <a:xfrm xmlns:a="http://schemas.openxmlformats.org/drawingml/2006/main">
            <a:off x="18335625" y="270986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35" name=""/>
          <p:cNvPicPr>
            <a:picLocks xmlns:a="http://schemas.openxmlformats.org/drawingml/2006/main" noChangeAspect="1"/>
          </p:cNvPicPr>
          <p:nvPr/>
        </p:nvPicPr>
        <p:blipFill>
          <a:blip xmlns:r="http://schemas.openxmlformats.org/officeDocument/2006/relationships" xmlns:a="http://schemas.openxmlformats.org/drawingml/2006/main" r:embed="R822645e2f58b4259"/>
          <a:stretch xmlns:a="http://schemas.openxmlformats.org/drawingml/2006/main"/>
        </p:blipFill>
        <p:spPr>
          <a:xfrm xmlns:a="http://schemas.openxmlformats.org/drawingml/2006/main">
            <a:off x="18402300" y="27127200"/>
            <a:ext cx="3943350" cy="2190750"/>
          </a:xfrm>
          <a:prstGeom xmlns:a="http://schemas.openxmlformats.org/drawingml/2006/main" prst="rect">
            <a:avLst/>
          </a:prstGeom>
        </p:spPr>
      </p:pic>
      <p:sp>
        <p:nvSpPr>
          <p:cNvPr id="1994999520" name="projection-observed-3-frame">
            <a:extLst xmlns:a="http://schemas.openxmlformats.org/drawingml/2006/main">
              <a:ext uri="{FF2B5EF4-FFF2-40B4-BE49-F238E27FC236}">
                <a16:creationId xmlns:a16="http://schemas.microsoft.com/office/drawing/2014/main" id="{EB8D3677-8532-4EC1-B9CB-F3A9CB61B242}"/>
              </a:ext>
            </a:extLst>
          </p:cNvPr>
          <p:cNvSpPr>
            <a:spLocks xmlns:a="http://schemas.openxmlformats.org/drawingml/2006/main" noGrp="1"/>
          </p:cNvSpPr>
          <p:nvPr/>
        </p:nvSpPr>
        <p:spPr>
          <a:xfrm xmlns:a="http://schemas.openxmlformats.org/drawingml/2006/main">
            <a:off x="22659975" y="270986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37" name=""/>
          <p:cNvPicPr>
            <a:picLocks xmlns:a="http://schemas.openxmlformats.org/drawingml/2006/main" noChangeAspect="1"/>
          </p:cNvPicPr>
          <p:nvPr/>
        </p:nvPicPr>
        <p:blipFill>
          <a:blip xmlns:r="http://schemas.openxmlformats.org/officeDocument/2006/relationships" xmlns:a="http://schemas.openxmlformats.org/drawingml/2006/main" r:embed="R28e45cbfc06b4be2"/>
          <a:stretch xmlns:a="http://schemas.openxmlformats.org/drawingml/2006/main"/>
        </p:blipFill>
        <p:spPr>
          <a:xfrm xmlns:a="http://schemas.openxmlformats.org/drawingml/2006/main">
            <a:off x="22739853" y="27127200"/>
            <a:ext cx="3916944" cy="2190750"/>
          </a:xfrm>
          <a:prstGeom xmlns:a="http://schemas.openxmlformats.org/drawingml/2006/main" prst="rect">
            <a:avLst/>
          </a:prstGeom>
        </p:spPr>
      </p:pic>
      <p:sp>
        <p:nvSpPr>
          <p:cNvPr id="1994999522" name="projected-row-label">
            <a:extLst xmlns:a="http://schemas.openxmlformats.org/drawingml/2006/main">
              <a:ext uri="{FF2B5EF4-FFF2-40B4-BE49-F238E27FC236}">
                <a16:creationId xmlns:a16="http://schemas.microsoft.com/office/drawing/2014/main" id="{01C85A38-4F6C-43C0-9699-EAE1F987ABF6}"/>
              </a:ext>
            </a:extLst>
          </p:cNvPr>
          <p:cNvSpPr>
            <a:spLocks xmlns:a="http://schemas.openxmlformats.org/drawingml/2006/main" noGrp="1"/>
          </p:cNvSpPr>
          <p:nvPr/>
        </p:nvSpPr>
        <p:spPr>
          <a:xfrm xmlns:a="http://schemas.openxmlformats.org/drawingml/2006/main" rot="0">
            <a:off x="14039850" y="29394150"/>
            <a:ext cx="1280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l">
              <a:lnSpc>
                <a:spcPct val="105000"/>
              </a:lnSpc>
              <a:buNone/>
              <a:defRPr sz="1725" b="0" i="0">
                <a:solidFill>
                  <a:srgbClr val="23313A"/>
                </a:solidFill>
                <a:latin typeface="Aptos"/>
                <a:ea typeface="Aptos"/>
                <a:cs typeface="Aptos"/>
              </a:defRPr>
            </a:pPr>
            <a:r>
              <a:rPr sz="1725" b="0" i="0">
                <a:solidFill>
                  <a:srgbClr val="23313A"/>
                </a:solidFill>
                <a:latin typeface="Aptos"/>
                <a:ea typeface="Aptos"/>
                <a:cs typeface="Aptos"/>
              </a:rPr>
              <a:t>Projected 3D mode</a:t>
            </a:r>
          </a:p>
        </p:txBody>
      </p:sp>
      <p:sp>
        <p:nvSpPr>
          <p:cNvPr id="1994999523" name="projection-rendered-1-frame">
            <a:extLst xmlns:a="http://schemas.openxmlformats.org/drawingml/2006/main">
              <a:ext uri="{FF2B5EF4-FFF2-40B4-BE49-F238E27FC236}">
                <a16:creationId xmlns:a16="http://schemas.microsoft.com/office/drawing/2014/main" id="{0640E573-7300-4DD6-AE21-D5091DF1CDFF}"/>
              </a:ext>
            </a:extLst>
          </p:cNvPr>
          <p:cNvSpPr>
            <a:spLocks xmlns:a="http://schemas.openxmlformats.org/drawingml/2006/main" noGrp="1"/>
          </p:cNvSpPr>
          <p:nvPr/>
        </p:nvSpPr>
        <p:spPr>
          <a:xfrm xmlns:a="http://schemas.openxmlformats.org/drawingml/2006/main">
            <a:off x="14011275" y="296894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40" name=""/>
          <p:cNvPicPr>
            <a:picLocks xmlns:a="http://schemas.openxmlformats.org/drawingml/2006/main" noChangeAspect="1"/>
          </p:cNvPicPr>
          <p:nvPr/>
        </p:nvPicPr>
        <p:blipFill>
          <a:blip xmlns:r="http://schemas.openxmlformats.org/officeDocument/2006/relationships" xmlns:a="http://schemas.openxmlformats.org/drawingml/2006/main" r:embed="Rcac84cc94c0a42a9"/>
          <a:stretch xmlns:a="http://schemas.openxmlformats.org/drawingml/2006/main"/>
        </p:blipFill>
        <p:spPr>
          <a:xfrm xmlns:a="http://schemas.openxmlformats.org/drawingml/2006/main">
            <a:off x="14086846" y="29718000"/>
            <a:ext cx="3925557" cy="2190750"/>
          </a:xfrm>
          <a:prstGeom xmlns:a="http://schemas.openxmlformats.org/drawingml/2006/main" prst="rect">
            <a:avLst/>
          </a:prstGeom>
        </p:spPr>
      </p:pic>
      <p:sp>
        <p:nvSpPr>
          <p:cNvPr id="1994999525" name="projection-comparison-1-caption">
            <a:extLst xmlns:a="http://schemas.openxmlformats.org/drawingml/2006/main">
              <a:ext uri="{FF2B5EF4-FFF2-40B4-BE49-F238E27FC236}">
                <a16:creationId xmlns:a16="http://schemas.microsoft.com/office/drawing/2014/main" id="{60D2734A-1823-43FD-A8E8-880CD597AED2}"/>
              </a:ext>
            </a:extLst>
          </p:cNvPr>
          <p:cNvSpPr>
            <a:spLocks xmlns:a="http://schemas.openxmlformats.org/drawingml/2006/main" noGrp="1"/>
          </p:cNvSpPr>
          <p:nvPr/>
        </p:nvSpPr>
        <p:spPr>
          <a:xfrm xmlns:a="http://schemas.openxmlformats.org/drawingml/2006/main" rot="0">
            <a:off x="14039850" y="3194685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1</a:t>
            </a:r>
          </a:p>
        </p:txBody>
      </p:sp>
      <p:sp>
        <p:nvSpPr>
          <p:cNvPr id="1994999526" name="projection-rendered-2-frame">
            <a:extLst xmlns:a="http://schemas.openxmlformats.org/drawingml/2006/main">
              <a:ext uri="{FF2B5EF4-FFF2-40B4-BE49-F238E27FC236}">
                <a16:creationId xmlns:a16="http://schemas.microsoft.com/office/drawing/2014/main" id="{97314B17-CA0A-42D4-BBD4-30B320588221}"/>
              </a:ext>
            </a:extLst>
          </p:cNvPr>
          <p:cNvSpPr>
            <a:spLocks xmlns:a="http://schemas.openxmlformats.org/drawingml/2006/main" noGrp="1"/>
          </p:cNvSpPr>
          <p:nvPr/>
        </p:nvSpPr>
        <p:spPr>
          <a:xfrm xmlns:a="http://schemas.openxmlformats.org/drawingml/2006/main">
            <a:off x="18335625" y="296894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43" name=""/>
          <p:cNvPicPr>
            <a:picLocks xmlns:a="http://schemas.openxmlformats.org/drawingml/2006/main" noChangeAspect="1"/>
          </p:cNvPicPr>
          <p:nvPr/>
        </p:nvPicPr>
        <p:blipFill>
          <a:blip xmlns:r="http://schemas.openxmlformats.org/officeDocument/2006/relationships" xmlns:a="http://schemas.openxmlformats.org/drawingml/2006/main" r:embed="R7254f298475c4e5b"/>
          <a:stretch xmlns:a="http://schemas.openxmlformats.org/drawingml/2006/main"/>
        </p:blipFill>
        <p:spPr>
          <a:xfrm xmlns:a="http://schemas.openxmlformats.org/drawingml/2006/main">
            <a:off x="18402300" y="29718000"/>
            <a:ext cx="3943350" cy="2190750"/>
          </a:xfrm>
          <a:prstGeom xmlns:a="http://schemas.openxmlformats.org/drawingml/2006/main" prst="rect">
            <a:avLst/>
          </a:prstGeom>
        </p:spPr>
      </p:pic>
      <p:sp>
        <p:nvSpPr>
          <p:cNvPr id="1994999528" name="projection-comparison-2-caption">
            <a:extLst xmlns:a="http://schemas.openxmlformats.org/drawingml/2006/main">
              <a:ext uri="{FF2B5EF4-FFF2-40B4-BE49-F238E27FC236}">
                <a16:creationId xmlns:a16="http://schemas.microsoft.com/office/drawing/2014/main" id="{4763D7B8-516A-45E2-94B0-E0151E5DEB72}"/>
              </a:ext>
            </a:extLst>
          </p:cNvPr>
          <p:cNvSpPr>
            <a:spLocks xmlns:a="http://schemas.openxmlformats.org/drawingml/2006/main" noGrp="1"/>
          </p:cNvSpPr>
          <p:nvPr/>
        </p:nvSpPr>
        <p:spPr>
          <a:xfrm xmlns:a="http://schemas.openxmlformats.org/drawingml/2006/main" rot="0">
            <a:off x="18364200" y="3194685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2</a:t>
            </a:r>
          </a:p>
        </p:txBody>
      </p:sp>
      <p:sp>
        <p:nvSpPr>
          <p:cNvPr id="1994999529" name="projection-rendered-3-frame">
            <a:extLst xmlns:a="http://schemas.openxmlformats.org/drawingml/2006/main">
              <a:ext uri="{FF2B5EF4-FFF2-40B4-BE49-F238E27FC236}">
                <a16:creationId xmlns:a16="http://schemas.microsoft.com/office/drawing/2014/main" id="{1E8D499B-49C8-4BFC-ABD0-83DDBB094C27}"/>
              </a:ext>
            </a:extLst>
          </p:cNvPr>
          <p:cNvSpPr>
            <a:spLocks xmlns:a="http://schemas.openxmlformats.org/drawingml/2006/main" noGrp="1"/>
          </p:cNvSpPr>
          <p:nvPr/>
        </p:nvSpPr>
        <p:spPr>
          <a:xfrm xmlns:a="http://schemas.openxmlformats.org/drawingml/2006/main">
            <a:off x="22659975" y="29689425"/>
            <a:ext cx="4076700" cy="2247900"/>
          </a:xfrm>
          <a:prstGeom xmlns:a="http://schemas.openxmlformats.org/drawingml/2006/main" prst="rect">
            <a:avLst/>
          </a:prstGeom>
          <a:solidFill xmlns:a="http://schemas.openxmlformats.org/drawingml/2006/main">
            <a:srgbClr val="FFFFFF"/>
          </a:solidFill>
          <a:ln xmlns:a="http://schemas.openxmlformats.org/drawingml/2006/main" w="14288">
            <a:solidFill>
              <a:srgbClr val="CCD4D8"/>
            </a:solidFill>
            <a:prstDash val="solid"/>
          </a:ln>
        </p:spPr>
      </p:sp>
      <p:pic>
        <p:nvPicPr>
          <p:cNvPr id="1994999646" name=""/>
          <p:cNvPicPr>
            <a:picLocks xmlns:a="http://schemas.openxmlformats.org/drawingml/2006/main" noChangeAspect="1"/>
          </p:cNvPicPr>
          <p:nvPr/>
        </p:nvPicPr>
        <p:blipFill>
          <a:blip xmlns:r="http://schemas.openxmlformats.org/officeDocument/2006/relationships" xmlns:a="http://schemas.openxmlformats.org/drawingml/2006/main" r:embed="R1da42e3aaf0f43e4"/>
          <a:stretch xmlns:a="http://schemas.openxmlformats.org/drawingml/2006/main"/>
        </p:blipFill>
        <p:spPr>
          <a:xfrm xmlns:a="http://schemas.openxmlformats.org/drawingml/2006/main">
            <a:off x="22739853" y="29718000"/>
            <a:ext cx="3916944" cy="2190750"/>
          </a:xfrm>
          <a:prstGeom xmlns:a="http://schemas.openxmlformats.org/drawingml/2006/main" prst="rect">
            <a:avLst/>
          </a:prstGeom>
        </p:spPr>
      </p:pic>
      <p:sp>
        <p:nvSpPr>
          <p:cNvPr id="1994999531" name="projection-comparison-3-caption">
            <a:extLst xmlns:a="http://schemas.openxmlformats.org/drawingml/2006/main">
              <a:ext uri="{FF2B5EF4-FFF2-40B4-BE49-F238E27FC236}">
                <a16:creationId xmlns:a16="http://schemas.microsoft.com/office/drawing/2014/main" id="{57352A24-ED84-4489-917F-2740CEFDDD76}"/>
              </a:ext>
            </a:extLst>
          </p:cNvPr>
          <p:cNvSpPr>
            <a:spLocks xmlns:a="http://schemas.openxmlformats.org/drawingml/2006/main" noGrp="1"/>
          </p:cNvSpPr>
          <p:nvPr/>
        </p:nvSpPr>
        <p:spPr>
          <a:xfrm xmlns:a="http://schemas.openxmlformats.org/drawingml/2006/main" rot="0">
            <a:off x="22688550" y="3194685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view 3</a:t>
            </a:r>
          </a:p>
        </p:txBody>
      </p:sp>
      <p:sp>
        <p:nvSpPr>
          <p:cNvPr id="1994999532" name="viser-result-frame">
            <a:extLst xmlns:a="http://schemas.openxmlformats.org/drawingml/2006/main">
              <a:ext uri="{FF2B5EF4-FFF2-40B4-BE49-F238E27FC236}">
                <a16:creationId xmlns:a16="http://schemas.microsoft.com/office/drawing/2014/main" id="{AC2A2389-D0D0-4090-BD49-BFEEC570D896}"/>
              </a:ext>
            </a:extLst>
          </p:cNvPr>
          <p:cNvSpPr>
            <a:spLocks xmlns:a="http://schemas.openxmlformats.org/drawingml/2006/main" noGrp="1"/>
          </p:cNvSpPr>
          <p:nvPr/>
        </p:nvSpPr>
        <p:spPr>
          <a:xfrm xmlns:a="http://schemas.openxmlformats.org/drawingml/2006/main">
            <a:off x="14011275" y="32299275"/>
            <a:ext cx="8153400" cy="3295650"/>
          </a:xfrm>
          <a:prstGeom xmlns:a="http://schemas.openxmlformats.org/drawingml/2006/main" prst="rect">
            <a:avLst/>
          </a:prstGeom>
          <a:solidFill xmlns:a="http://schemas.openxmlformats.org/drawingml/2006/main">
            <a:srgbClr val="FFFFFF"/>
          </a:solidFill>
          <a:ln xmlns:a="http://schemas.openxmlformats.org/drawingml/2006/main" w="14288">
            <a:solidFill>
              <a:srgbClr val="496577"/>
            </a:solidFill>
            <a:prstDash val="solid"/>
          </a:ln>
        </p:spPr>
      </p:sp>
      <p:pic>
        <p:nvPicPr>
          <p:cNvPr id="1994999649" name=""/>
          <p:cNvPicPr>
            <a:picLocks xmlns:a="http://schemas.openxmlformats.org/drawingml/2006/main" noChangeAspect="1"/>
          </p:cNvPicPr>
          <p:nvPr/>
        </p:nvPicPr>
        <p:blipFill>
          <a:blip xmlns:r="http://schemas.openxmlformats.org/officeDocument/2006/relationships" xmlns:a="http://schemas.openxmlformats.org/drawingml/2006/main" r:embed="R3cd1451f33db4e86"/>
          <a:srcRect xmlns:a="http://schemas.openxmlformats.org/drawingml/2006/main" l="0" t="10208" r="0" b="10208"/>
          <a:stretch xmlns:a="http://schemas.openxmlformats.org/drawingml/2006/main">
            <a:fillRect l="0" t="0" r="0" b="0"/>
          </a:stretch>
        </p:blipFill>
        <p:spPr>
          <a:xfrm xmlns:a="http://schemas.openxmlformats.org/drawingml/2006/main">
            <a:off x="14039850" y="32327850"/>
            <a:ext cx="8096250" cy="3238500"/>
          </a:xfrm>
          <a:prstGeom xmlns:a="http://schemas.openxmlformats.org/drawingml/2006/main" prst="rect">
            <a:avLst/>
          </a:prstGeom>
        </p:spPr>
      </p:pic>
      <p:sp>
        <p:nvSpPr>
          <p:cNvPr id="1994999534" name="viser-result-caption">
            <a:extLst xmlns:a="http://schemas.openxmlformats.org/drawingml/2006/main">
              <a:ext uri="{FF2B5EF4-FFF2-40B4-BE49-F238E27FC236}">
                <a16:creationId xmlns:a16="http://schemas.microsoft.com/office/drawing/2014/main" id="{55793C39-15E5-4572-9447-0951B2D91134}"/>
              </a:ext>
            </a:extLst>
          </p:cNvPr>
          <p:cNvSpPr>
            <a:spLocks xmlns:a="http://schemas.openxmlformats.org/drawingml/2006/main" noGrp="1"/>
          </p:cNvSpPr>
          <p:nvPr/>
        </p:nvSpPr>
        <p:spPr>
          <a:xfrm xmlns:a="http://schemas.openxmlformats.org/drawingml/2006/main" rot="0">
            <a:off x="14039850" y="356044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ctr">
              <a:lnSpc>
                <a:spcPct val="105000"/>
              </a:lnSpc>
              <a:buNone/>
              <a:defRPr sz="1725" b="0" i="0">
                <a:solidFill>
                  <a:srgbClr val="53616A"/>
                </a:solidFill>
                <a:latin typeface="Aptos"/>
                <a:ea typeface="Aptos"/>
                <a:cs typeface="Aptos"/>
              </a:defRPr>
            </a:pPr>
            <a:r>
              <a:rPr sz="1725" b="0" i="0">
                <a:solidFill>
                  <a:srgbClr val="53616A"/>
                </a:solidFill>
                <a:latin typeface="Aptos"/>
                <a:ea typeface="Aptos"/>
                <a:cs typeface="Aptos"/>
              </a:rPr>
              <a:t>Interactive Viser view</a:t>
            </a:r>
          </a:p>
        </p:txBody>
      </p:sp>
      <p:sp>
        <p:nvSpPr>
          <p:cNvPr id="1994999535" name="result-summary">
            <a:extLst xmlns:a="http://schemas.openxmlformats.org/drawingml/2006/main">
              <a:ext uri="{FF2B5EF4-FFF2-40B4-BE49-F238E27FC236}">
                <a16:creationId xmlns:a16="http://schemas.microsoft.com/office/drawing/2014/main" id="{2C990FFA-3DCC-4AE1-9D16-C64E00F1E8D6}"/>
              </a:ext>
            </a:extLst>
          </p:cNvPr>
          <p:cNvSpPr>
            <a:spLocks xmlns:a="http://schemas.openxmlformats.org/drawingml/2006/main" noGrp="1"/>
          </p:cNvSpPr>
          <p:nvPr/>
        </p:nvSpPr>
        <p:spPr>
          <a:xfrm xmlns:a="http://schemas.openxmlformats.org/drawingml/2006/main" rot="0">
            <a:off x="22364700" y="32327850"/>
            <a:ext cx="4476750" cy="3238500"/>
          </a:xfrm>
          <a:prstGeom xmlns:a="http://schemas.openxmlformats.org/drawingml/2006/main" prst="roundRect">
            <a:avLst>
              <a:gd name="adj" fmla="val 1176"/>
            </a:avLst>
          </a:prstGeom>
          <a:solidFill xmlns:a="http://schemas.openxmlformats.org/drawingml/2006/main">
            <a:srgbClr val="E8EFEA"/>
          </a:solidFill>
          <a:ln xmlns:a="http://schemas.openxmlformats.org/drawingml/2006/main" w="14288">
            <a:solidFill>
              <a:srgbClr val="658B70"/>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l">
              <a:lnSpc>
                <a:spcPct val="105000"/>
              </a:lnSpc>
              <a:buNone/>
              <a:defRPr sz="2025" b="1" i="0">
                <a:solidFill>
                  <a:srgbClr val="23313A"/>
                </a:solidFill>
                <a:latin typeface="Aptos"/>
                <a:ea typeface="Aptos"/>
                <a:cs typeface="Aptos"/>
              </a:defRPr>
            </a:pPr>
            <a:r>
              <a:rPr sz="2025" b="1" i="0">
                <a:solidFill>
                  <a:srgbClr val="23313A"/>
                </a:solidFill>
                <a:latin typeface="Aptos"/>
                <a:ea typeface="Aptos"/>
                <a:cs typeface="Aptos"/>
              </a:rPr>
              <a:t>Each recovered mode is a complex 3D displacement field. Its projections qualitatively agree with the spatial and phase patterns observed in all three cameras.</a:t>
            </a:r>
          </a:p>
          <a:p xmlns:a="http://schemas.openxmlformats.org/drawingml/2006/main">
            <a:r>
              <a:t/>
            </a:r>
          </a:p>
          <a:p xmlns:a="http://schemas.openxmlformats.org/drawingml/2006/main">
            <a:pPr algn="l">
              <a:lnSpc>
                <a:spcPct val="105000"/>
              </a:lnSpc>
              <a:buNone/>
              <a:defRPr sz="2025" b="1" i="0">
                <a:solidFill>
                  <a:srgbClr val="23313A"/>
                </a:solidFill>
                <a:latin typeface="Aptos"/>
                <a:ea typeface="Aptos"/>
                <a:cs typeface="Aptos"/>
              </a:defRPr>
            </a:pPr>
            <a:r>
              <a:rPr sz="2025" b="1" i="0">
                <a:solidFill>
                  <a:srgbClr val="23313A"/>
                </a:solidFill>
                <a:latin typeface="Aptos"/>
                <a:ea typeface="Aptos"/>
                <a:cs typeface="Aptos"/>
              </a:rPr>
              <a:t>Current scope: evidence-driven mode fields—not yet mass- or stiffness-normalized structural eigenmodes.</a:t>
            </a:r>
          </a:p>
        </p:txBody>
      </p:sp>
      <p:sp>
        <p:nvSpPr>
          <p:cNvPr id="1994999536" name="column-divider">
            <a:extLst xmlns:a="http://schemas.openxmlformats.org/drawingml/2006/main">
              <a:ext uri="{FF2B5EF4-FFF2-40B4-BE49-F238E27FC236}">
                <a16:creationId xmlns:a16="http://schemas.microsoft.com/office/drawing/2014/main" id="{65059B83-12E0-4A3F-8717-58AEB115C64B}"/>
              </a:ext>
            </a:extLst>
          </p:cNvPr>
          <p:cNvSpPr>
            <a:spLocks xmlns:a="http://schemas.openxmlformats.org/drawingml/2006/main" noGrp="1"/>
          </p:cNvSpPr>
          <p:nvPr/>
        </p:nvSpPr>
        <p:spPr>
          <a:xfrm xmlns:a="http://schemas.openxmlformats.org/drawingml/2006/main">
            <a:off x="13706475" y="4857750"/>
            <a:ext cx="19050" cy="31242000"/>
          </a:xfrm>
          <a:prstGeom xmlns:a="http://schemas.openxmlformats.org/drawingml/2006/main" prst="rect">
            <a:avLst/>
          </a:prstGeom>
          <a:solidFill xmlns:a="http://schemas.openxmlformats.org/drawingml/2006/main">
            <a:srgbClr val="CCD4D8"/>
          </a:solidFill>
          <a:ln xmlns:a="http://schemas.openxmlformats.org/drawingml/2006/main" w="0">
            <a:solidFill>
              <a:srgbClr val="CCD4D8"/>
            </a:solidFill>
            <a:prstDash val="solid"/>
          </a:ln>
        </p:spPr>
      </p:sp>
    </p:spTree>
    <p:extLst>
      <p:ext uri="{BB962C8B-B14F-4D97-AF65-F5344CB8AC3E}">
        <p14:creationId xmlns:p14="http://schemas.microsoft.com/office/powerpoint/2010/main" val="277546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2026-08-07T05:31:33.3860000Z</dcterms:created>
  <dcterms:modified xsi:type="dcterms:W3CDTF">2026-08-07T05:31:33.3860000Z</dcterms:modified>
</coreProperties>
</file>