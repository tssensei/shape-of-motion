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fd909303424192" /><Relationship Type="http://schemas.openxmlformats.org/officeDocument/2006/relationships/extended-properties" Target="/docProps/app.xml" Id="R839307602b9e406c" /><Relationship Type="http://schemas.openxmlformats.org/officeDocument/2006/relationships/officeDocument" Target="/ppt/presentation.xml" Id="Rfda0a8a3100e49f6" /></Relationships>
</file>

<file path=ppt/presentation.xml><?xml version="1.0" encoding="utf-8"?>
<p:presentation xmlns:p="http://schemas.openxmlformats.org/presentationml/2006/main">
  <p:sldMasterIdLst>
    <p:sldMasterId xmlns:r="http://schemas.openxmlformats.org/officeDocument/2006/relationships" id="2147483648" r:id="Re7ce445ac96b4de8"/>
  </p:sldMasterIdLst>
  <p:notesMasterIdLst>
    <p:notesMasterId xmlns:r="http://schemas.openxmlformats.org/officeDocument/2006/relationships" r:id="Rc681329f1a9f427d"/>
  </p:notesMasterIdLst>
  <p:sldIdLst>
    <p:sldId xmlns:r="http://schemas.openxmlformats.org/officeDocument/2006/relationships" id="256" r:id="R211ef91386b5475f"/>
  </p:sldIdLst>
  <p:sldSz cx="27432000" cy="3657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700687e32741e3" /><Relationship Type="http://schemas.openxmlformats.org/officeDocument/2006/relationships/slideMaster" Target="/ppt/slideMasters/slideMaster1.xml" Id="Re7ce445ac96b4de8" /><Relationship Type="http://schemas.openxmlformats.org/officeDocument/2006/relationships/notesMaster" Target="/ppt/notesMasters/notesMaster1.xml" Id="Rc681329f1a9f427d" /><Relationship Type="http://schemas.openxmlformats.org/officeDocument/2006/relationships/presProps" Target="/ppt/presProps.xml" Id="Rd4bf5d5478154951" /><Relationship Type="http://schemas.openxmlformats.org/officeDocument/2006/relationships/tableStyles" Target="/ppt/tableStyles.xml" Id="Rc3f6d6c0315f4594" /><Relationship Type="http://schemas.openxmlformats.org/officeDocument/2006/relationships/slide" Target="/ppt/slides/slide1.xml" Id="R211ef91386b547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989a5a01a140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9bf24facf641a6" /><Relationship Type="http://schemas.openxmlformats.org/officeDocument/2006/relationships/notesMaster" Target="/ppt/notesMasters/notesMaster1.xml" Id="R7bd9b82539e844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Local project brief: docs/poster_brief/shape_of_motion_poster_brief.tex</a:t>
            </a:r>
          </a:p>
          <a:p xmlns:a="http://schemas.openxmlformats.org/drawingml/2006/main">
            <a:r>
              <a:t>- Local poster copy and layout: docs/poster_package/bush_internal_v1/poster_copy.md; docs/poster_package/bush_internal_v1/poster_layout.md</a:t>
            </a:r>
          </a:p>
          <a:p xmlns:a="http://schemas.openxmlformats.org/drawingml/2006/main">
            <a:r>
              <a:t>- Kerbl et al., “3D Gaussian Splatting for Real-Time Radiance Field Rendering,” ACM TOG 2023. https://doi.org/10.1145/3592433</a:t>
            </a:r>
          </a:p>
          <a:p xmlns:a="http://schemas.openxmlformats.org/drawingml/2006/main">
            <a:r>
              <a:t>- Schönberger and Frahm, “Structure-from-Motion Revisited,” CVPR 2016. https://doi.org/10.1109/CVPR.2016.445</a:t>
            </a:r>
          </a:p>
          <a:p xmlns:a="http://schemas.openxmlformats.org/drawingml/2006/main">
            <a:r>
              <a:t>- Farnebäck, “Two-Frame Motion Estimation Based on Polynomial Expansion,” SCIA 2003. https://doi.org/10.1007/3-540-45103-X_50</a:t>
            </a:r>
          </a:p>
          <a:p xmlns:a="http://schemas.openxmlformats.org/drawingml/2006/main">
            <a:r>
              <a:t>- Guo et al., “Motion-aware 3D Gaussian Splatting for Efficient Dynamic Scene Reconstruction,” arXiv:2403.11447. https://arxiv.org/abs/2403.11447</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92e26bf2b741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f4ab2d94904803" /><Relationship Type="http://schemas.openxmlformats.org/officeDocument/2006/relationships/slideLayout" Target="/ppt/slideLayouts/slideLayout1.xml" Id="Rc8c0050f405340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c0050f405340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97ef416a094620" /><Relationship Type="http://schemas.openxmlformats.org/officeDocument/2006/relationships/notesSlide" Target="/ppt/notesSlides/notesSlide1.xml" Id="R00b0464034794ce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 name="">
            <a:extLst xmlns:a="http://schemas.openxmlformats.org/drawingml/2006/main">
              <a:ext uri="{FF2B5EF4-FFF2-40B4-BE49-F238E27FC236}">
                <a16:creationId xmlns:a16="http://schemas.microsoft.com/office/drawing/2014/main" id="{5C61B64E-BF8A-4932-926F-6145FE506CBC}"/>
              </a:ext>
            </a:extLst>
          </p:cNvPr>
          <p:cNvSpPr>
            <a:spLocks xmlns:a="http://schemas.openxmlformats.org/drawingml/2006/main" noGrp="1"/>
          </p:cNvSpPr>
          <p:nvPr/>
        </p:nvSpPr>
        <p:spPr>
          <a:xfrm xmlns:a="http://schemas.openxmlformats.org/drawingml/2006/main">
            <a:off x="0" y="0"/>
            <a:ext cx="27432000" cy="228600"/>
          </a:xfrm>
          <a:prstGeom xmlns:a="http://schemas.openxmlformats.org/drawingml/2006/main" prst="roundRect">
            <a:avLst>
              <a:gd name="adj" fmla="val 0"/>
            </a:avLst>
          </a:prstGeom>
          <a:solidFill xmlns:a="http://schemas.openxmlformats.org/drawingml/2006/main">
            <a:srgbClr val="2563EB"/>
          </a:solidFill>
          <a:ln xmlns:a="http://schemas.openxmlformats.org/drawingml/2006/main" w="0">
            <a:solidFill>
              <a:srgbClr val="2563EB"/>
            </a:solidFill>
            <a:prstDash val="solid"/>
          </a:ln>
        </p:spPr>
      </p:sp>
      <p:sp>
        <p:nvSpPr>
          <p:cNvPr id="2" name="">
            <a:extLst xmlns:a="http://schemas.openxmlformats.org/drawingml/2006/main">
              <a:ext uri="{FF2B5EF4-FFF2-40B4-BE49-F238E27FC236}">
                <a16:creationId xmlns:a16="http://schemas.microsoft.com/office/drawing/2014/main" id="{689A047E-EF50-4F85-AEA0-CB882C410D66}"/>
              </a:ext>
            </a:extLst>
          </p:cNvPr>
          <p:cNvSpPr>
            <a:spLocks xmlns:a="http://schemas.openxmlformats.org/drawingml/2006/main" noGrp="1"/>
          </p:cNvSpPr>
          <p:nvPr/>
        </p:nvSpPr>
        <p:spPr>
          <a:xfrm xmlns:a="http://schemas.openxmlformats.org/drawingml/2006/main">
            <a:off x="723900" y="685800"/>
            <a:ext cx="25955625"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6825" b="1">
                <a:solidFill>
                  <a:srgbClr val="172033"/>
                </a:solidFill>
                <a:latin typeface="Aptos Display"/>
                <a:ea typeface="Aptos Display"/>
                <a:cs typeface="Aptos Display"/>
              </a:defRPr>
            </a:pPr>
            <a:r>
              <a:rPr sz="6825" b="1">
                <a:solidFill>
                  <a:srgbClr val="172033"/>
                </a:solidFill>
                <a:latin typeface="Aptos Display"/>
                <a:ea typeface="Aptos Display"/>
                <a:cs typeface="Aptos Display"/>
              </a:rPr>
              <a:t>Recovering 3D Vibration Modes from Multi-View Videos</a:t>
            </a:r>
          </a:p>
        </p:txBody>
      </p:sp>
      <p:sp>
        <p:nvSpPr>
          <p:cNvPr id="3" name="">
            <a:extLst xmlns:a="http://schemas.openxmlformats.org/drawingml/2006/main">
              <a:ext uri="{FF2B5EF4-FFF2-40B4-BE49-F238E27FC236}">
                <a16:creationId xmlns:a16="http://schemas.microsoft.com/office/drawing/2014/main" id="{14C3D3BB-EFAD-405C-89B5-D4056562F14B}"/>
              </a:ext>
            </a:extLst>
          </p:cNvPr>
          <p:cNvSpPr>
            <a:spLocks xmlns:a="http://schemas.openxmlformats.org/drawingml/2006/main" noGrp="1"/>
          </p:cNvSpPr>
          <p:nvPr/>
        </p:nvSpPr>
        <p:spPr>
          <a:xfrm xmlns:a="http://schemas.openxmlformats.org/drawingml/2006/main">
            <a:off x="723900" y="1838325"/>
            <a:ext cx="195262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5400" b="1">
                <a:solidFill>
                  <a:srgbClr val="7C3AED"/>
                </a:solidFill>
                <a:latin typeface="Aptos Display"/>
                <a:ea typeface="Aptos Display"/>
                <a:cs typeface="Aptos Display"/>
              </a:defRPr>
            </a:pPr>
            <a:r>
              <a:rPr sz="5400" b="1">
                <a:solidFill>
                  <a:srgbClr val="7C3AED"/>
                </a:solidFill>
                <a:latin typeface="Aptos Display"/>
                <a:ea typeface="Aptos Display"/>
                <a:cs typeface="Aptos Display"/>
              </a:rPr>
              <a:t>with Gaussian Splatting</a:t>
            </a:r>
          </a:p>
        </p:txBody>
      </p:sp>
      <p:sp>
        <p:nvSpPr>
          <p:cNvPr id="4" name="">
            <a:extLst xmlns:a="http://schemas.openxmlformats.org/drawingml/2006/main">
              <a:ext uri="{FF2B5EF4-FFF2-40B4-BE49-F238E27FC236}">
                <a16:creationId xmlns:a16="http://schemas.microsoft.com/office/drawing/2014/main" id="{278B250A-B5D6-433E-8097-7E0D992D9EE1}"/>
              </a:ext>
            </a:extLst>
          </p:cNvPr>
          <p:cNvSpPr>
            <a:spLocks xmlns:a="http://schemas.openxmlformats.org/drawingml/2006/main" noGrp="1"/>
          </p:cNvSpPr>
          <p:nvPr/>
        </p:nvSpPr>
        <p:spPr>
          <a:xfrm xmlns:a="http://schemas.openxmlformats.org/drawingml/2006/main">
            <a:off x="781050" y="2876550"/>
            <a:ext cx="25431750" cy="866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550" b="0">
                <a:solidFill>
                  <a:srgbClr val="526174"/>
                </a:solidFill>
                <a:latin typeface="Aptos"/>
                <a:ea typeface="Aptos"/>
                <a:cs typeface="Aptos"/>
              </a:defRPr>
            </a:pPr>
            <a:r>
              <a:rPr sz="2550" b="0">
                <a:solidFill>
                  <a:srgbClr val="526174"/>
                </a:solidFill>
                <a:latin typeface="Aptos"/>
                <a:ea typeface="Aptos"/>
                <a:cs typeface="Aptos"/>
              </a:rPr>
              <a:t>One sweep video builds the scene. Fixed cameras observe vibration. A shared 3D Gaussian representation lifts selected image-space frequencies into spatial 3D motion fields.</a:t>
            </a:r>
          </a:p>
        </p:txBody>
      </p:sp>
      <p:sp>
        <p:nvSpPr>
          <p:cNvPr id="5" name="">
            <a:extLst xmlns:a="http://schemas.openxmlformats.org/drawingml/2006/main">
              <a:ext uri="{FF2B5EF4-FFF2-40B4-BE49-F238E27FC236}">
                <a16:creationId xmlns:a16="http://schemas.microsoft.com/office/drawing/2014/main" id="{6CADEE57-AADB-4422-9D73-BBE4B0047411}"/>
              </a:ext>
            </a:extLst>
          </p:cNvPr>
          <p:cNvSpPr>
            <a:spLocks xmlns:a="http://schemas.openxmlformats.org/drawingml/2006/main" noGrp="1"/>
          </p:cNvSpPr>
          <p:nvPr/>
        </p:nvSpPr>
        <p:spPr>
          <a:xfrm xmlns:a="http://schemas.openxmlformats.org/drawingml/2006/main">
            <a:off x="628650" y="4057650"/>
            <a:ext cx="26174700" cy="4095750"/>
          </a:xfrm>
          <a:prstGeom xmlns:a="http://schemas.openxmlformats.org/drawingml/2006/main" prst="roundRect">
            <a:avLst>
              <a:gd name="adj" fmla="val 5581"/>
            </a:avLst>
          </a:prstGeom>
          <a:solidFill xmlns:a="http://schemas.openxmlformats.org/drawingml/2006/main">
            <a:srgbClr val="F7F9FC"/>
          </a:solidFill>
          <a:ln xmlns:a="http://schemas.openxmlformats.org/drawingml/2006/main" w="19050">
            <a:solidFill>
              <a:srgbClr val="E6EBF1"/>
            </a:solidFill>
            <a:prstDash val="solid"/>
          </a:ln>
        </p:spPr>
      </p:sp>
      <p:sp>
        <p:nvSpPr>
          <p:cNvPr id="6" name="">
            <a:extLst xmlns:a="http://schemas.openxmlformats.org/drawingml/2006/main">
              <a:ext uri="{FF2B5EF4-FFF2-40B4-BE49-F238E27FC236}">
                <a16:creationId xmlns:a16="http://schemas.microsoft.com/office/drawing/2014/main" id="{C6A2C273-5262-4074-9D4E-319DBD0AF9C3}"/>
              </a:ext>
            </a:extLst>
          </p:cNvPr>
          <p:cNvSpPr>
            <a:spLocks xmlns:a="http://schemas.openxmlformats.org/drawingml/2006/main" noGrp="1"/>
          </p:cNvSpPr>
          <p:nvPr/>
        </p:nvSpPr>
        <p:spPr>
          <a:xfrm xmlns:a="http://schemas.openxmlformats.org/drawingml/2006/main" flipH="0" flipV="0">
            <a:off x="3781425" y="5619750"/>
            <a:ext cx="13716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526174"/>
            </a:solidFill>
            <a:prstDash val="solid"/>
          </a:ln>
        </p:spPr>
      </p:sp>
      <p:sp>
        <p:nvSpPr>
          <p:cNvPr id="7" name="">
            <a:extLst xmlns:a="http://schemas.openxmlformats.org/drawingml/2006/main">
              <a:ext uri="{FF2B5EF4-FFF2-40B4-BE49-F238E27FC236}">
                <a16:creationId xmlns:a16="http://schemas.microsoft.com/office/drawing/2014/main" id="{5531CAF3-CAF6-40ED-93A5-C777C327D8A9}"/>
              </a:ext>
            </a:extLst>
          </p:cNvPr>
          <p:cNvSpPr>
            <a:spLocks xmlns:a="http://schemas.openxmlformats.org/drawingml/2006/main" noGrp="1"/>
          </p:cNvSpPr>
          <p:nvPr/>
        </p:nvSpPr>
        <p:spPr>
          <a:xfrm xmlns:a="http://schemas.openxmlformats.org/drawingml/2006/main">
            <a:off x="4105275" y="535305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225" b="1">
                <a:solidFill>
                  <a:srgbClr val="526174"/>
                </a:solidFill>
                <a:latin typeface="Aptos"/>
                <a:ea typeface="Aptos"/>
                <a:cs typeface="Aptos"/>
              </a:defRPr>
            </a:pPr>
            <a:r>
              <a:rPr sz="3225" b="1">
                <a:solidFill>
                  <a:srgbClr val="526174"/>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539868F7-B56A-489E-9450-81665F9A9E41}"/>
              </a:ext>
            </a:extLst>
          </p:cNvPr>
          <p:cNvSpPr>
            <a:spLocks xmlns:a="http://schemas.openxmlformats.org/drawingml/2006/main" noGrp="1"/>
          </p:cNvSpPr>
          <p:nvPr/>
        </p:nvSpPr>
        <p:spPr>
          <a:xfrm xmlns:a="http://schemas.openxmlformats.org/drawingml/2006/main" flipH="0" flipV="0">
            <a:off x="7877175" y="5619750"/>
            <a:ext cx="13716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526174"/>
            </a:solidFill>
            <a:prstDash val="solid"/>
          </a:ln>
        </p:spPr>
      </p:sp>
      <p:sp>
        <p:nvSpPr>
          <p:cNvPr id="9" name="">
            <a:extLst xmlns:a="http://schemas.openxmlformats.org/drawingml/2006/main">
              <a:ext uri="{FF2B5EF4-FFF2-40B4-BE49-F238E27FC236}">
                <a16:creationId xmlns:a16="http://schemas.microsoft.com/office/drawing/2014/main" id="{44E3B0F2-A424-4EEA-B60E-FD6640E305DC}"/>
              </a:ext>
            </a:extLst>
          </p:cNvPr>
          <p:cNvSpPr>
            <a:spLocks xmlns:a="http://schemas.openxmlformats.org/drawingml/2006/main" noGrp="1"/>
          </p:cNvSpPr>
          <p:nvPr/>
        </p:nvSpPr>
        <p:spPr>
          <a:xfrm xmlns:a="http://schemas.openxmlformats.org/drawingml/2006/main">
            <a:off x="8201025" y="535305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225" b="1">
                <a:solidFill>
                  <a:srgbClr val="526174"/>
                </a:solidFill>
                <a:latin typeface="Aptos"/>
                <a:ea typeface="Aptos"/>
                <a:cs typeface="Aptos"/>
              </a:defRPr>
            </a:pPr>
            <a:r>
              <a:rPr sz="3225" b="1">
                <a:solidFill>
                  <a:srgbClr val="526174"/>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2D4FB69C-5BBC-4F58-9B8F-EEE8AF96520C}"/>
              </a:ext>
            </a:extLst>
          </p:cNvPr>
          <p:cNvSpPr>
            <a:spLocks xmlns:a="http://schemas.openxmlformats.org/drawingml/2006/main" noGrp="1"/>
          </p:cNvSpPr>
          <p:nvPr/>
        </p:nvSpPr>
        <p:spPr>
          <a:xfrm xmlns:a="http://schemas.openxmlformats.org/drawingml/2006/main" flipH="0" flipV="0">
            <a:off x="11972925" y="5619750"/>
            <a:ext cx="13716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526174"/>
            </a:solidFill>
            <a:prstDash val="solid"/>
          </a:ln>
        </p:spPr>
      </p:sp>
      <p:sp>
        <p:nvSpPr>
          <p:cNvPr id="11" name="">
            <a:extLst xmlns:a="http://schemas.openxmlformats.org/drawingml/2006/main">
              <a:ext uri="{FF2B5EF4-FFF2-40B4-BE49-F238E27FC236}">
                <a16:creationId xmlns:a16="http://schemas.microsoft.com/office/drawing/2014/main" id="{58EF0851-7494-4021-B11F-0B1F589C8C8D}"/>
              </a:ext>
            </a:extLst>
          </p:cNvPr>
          <p:cNvSpPr>
            <a:spLocks xmlns:a="http://schemas.openxmlformats.org/drawingml/2006/main" noGrp="1"/>
          </p:cNvSpPr>
          <p:nvPr/>
        </p:nvSpPr>
        <p:spPr>
          <a:xfrm xmlns:a="http://schemas.openxmlformats.org/drawingml/2006/main">
            <a:off x="12296775" y="535305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225" b="1">
                <a:solidFill>
                  <a:srgbClr val="526174"/>
                </a:solidFill>
                <a:latin typeface="Aptos"/>
                <a:ea typeface="Aptos"/>
                <a:cs typeface="Aptos"/>
              </a:defRPr>
            </a:pPr>
            <a:r>
              <a:rPr sz="3225" b="1">
                <a:solidFill>
                  <a:srgbClr val="526174"/>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F50A4D2F-5AD0-4F98-A825-59AEFAB14B64}"/>
              </a:ext>
            </a:extLst>
          </p:cNvPr>
          <p:cNvSpPr>
            <a:spLocks xmlns:a="http://schemas.openxmlformats.org/drawingml/2006/main" noGrp="1"/>
          </p:cNvSpPr>
          <p:nvPr/>
        </p:nvSpPr>
        <p:spPr>
          <a:xfrm xmlns:a="http://schemas.openxmlformats.org/drawingml/2006/main" flipH="0" flipV="0">
            <a:off x="16068675" y="5619750"/>
            <a:ext cx="13716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526174"/>
            </a:solidFill>
            <a:prstDash val="solid"/>
          </a:ln>
        </p:spPr>
      </p:sp>
      <p:sp>
        <p:nvSpPr>
          <p:cNvPr id="13" name="">
            <a:extLst xmlns:a="http://schemas.openxmlformats.org/drawingml/2006/main">
              <a:ext uri="{FF2B5EF4-FFF2-40B4-BE49-F238E27FC236}">
                <a16:creationId xmlns:a16="http://schemas.microsoft.com/office/drawing/2014/main" id="{2165D50F-88C0-4FFF-B3D2-DAD539FE927B}"/>
              </a:ext>
            </a:extLst>
          </p:cNvPr>
          <p:cNvSpPr>
            <a:spLocks xmlns:a="http://schemas.openxmlformats.org/drawingml/2006/main" noGrp="1"/>
          </p:cNvSpPr>
          <p:nvPr/>
        </p:nvSpPr>
        <p:spPr>
          <a:xfrm xmlns:a="http://schemas.openxmlformats.org/drawingml/2006/main">
            <a:off x="16392525" y="535305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225" b="1">
                <a:solidFill>
                  <a:srgbClr val="526174"/>
                </a:solidFill>
                <a:latin typeface="Aptos"/>
                <a:ea typeface="Aptos"/>
                <a:cs typeface="Aptos"/>
              </a:defRPr>
            </a:pPr>
            <a:r>
              <a:rPr sz="3225" b="1">
                <a:solidFill>
                  <a:srgbClr val="526174"/>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F7FD6E0A-4276-498C-BC80-4A3C1EE0F685}"/>
              </a:ext>
            </a:extLst>
          </p:cNvPr>
          <p:cNvSpPr>
            <a:spLocks xmlns:a="http://schemas.openxmlformats.org/drawingml/2006/main" noGrp="1"/>
          </p:cNvSpPr>
          <p:nvPr/>
        </p:nvSpPr>
        <p:spPr>
          <a:xfrm xmlns:a="http://schemas.openxmlformats.org/drawingml/2006/main" flipH="0" flipV="0">
            <a:off x="20164425" y="5619750"/>
            <a:ext cx="13716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526174"/>
            </a:solidFill>
            <a:prstDash val="solid"/>
          </a:ln>
        </p:spPr>
      </p:sp>
      <p:sp>
        <p:nvSpPr>
          <p:cNvPr id="15" name="">
            <a:extLst xmlns:a="http://schemas.openxmlformats.org/drawingml/2006/main">
              <a:ext uri="{FF2B5EF4-FFF2-40B4-BE49-F238E27FC236}">
                <a16:creationId xmlns:a16="http://schemas.microsoft.com/office/drawing/2014/main" id="{D3C2A028-273C-48E3-8839-956C1D86865A}"/>
              </a:ext>
            </a:extLst>
          </p:cNvPr>
          <p:cNvSpPr>
            <a:spLocks xmlns:a="http://schemas.openxmlformats.org/drawingml/2006/main" noGrp="1"/>
          </p:cNvSpPr>
          <p:nvPr/>
        </p:nvSpPr>
        <p:spPr>
          <a:xfrm xmlns:a="http://schemas.openxmlformats.org/drawingml/2006/main">
            <a:off x="20488275" y="535305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225" b="1">
                <a:solidFill>
                  <a:srgbClr val="526174"/>
                </a:solidFill>
                <a:latin typeface="Aptos"/>
                <a:ea typeface="Aptos"/>
                <a:cs typeface="Aptos"/>
              </a:defRPr>
            </a:pPr>
            <a:r>
              <a:rPr sz="3225" b="1">
                <a:solidFill>
                  <a:srgbClr val="526174"/>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5DCB6F2C-933E-488A-9BF7-88B121709C07}"/>
              </a:ext>
            </a:extLst>
          </p:cNvPr>
          <p:cNvSpPr>
            <a:spLocks xmlns:a="http://schemas.openxmlformats.org/drawingml/2006/main" noGrp="1"/>
          </p:cNvSpPr>
          <p:nvPr/>
        </p:nvSpPr>
        <p:spPr>
          <a:xfrm xmlns:a="http://schemas.openxmlformats.org/drawingml/2006/main">
            <a:off x="1000125" y="4343400"/>
            <a:ext cx="2857500" cy="2571750"/>
          </a:xfrm>
          <a:prstGeom xmlns:a="http://schemas.openxmlformats.org/drawingml/2006/main" prst="roundRect">
            <a:avLst>
              <a:gd name="adj" fmla="val 8148"/>
            </a:avLst>
          </a:prstGeom>
          <a:solidFill xmlns:a="http://schemas.openxmlformats.org/drawingml/2006/main">
            <a:srgbClr val="EAF1FF"/>
          </a:solidFill>
          <a:ln xmlns:a="http://schemas.openxmlformats.org/drawingml/2006/main" w="28575">
            <a:solidFill>
              <a:srgbClr val="2563EB"/>
            </a:solidFill>
            <a:prstDash val="solid"/>
          </a:ln>
        </p:spPr>
      </p:sp>
      <p:sp>
        <p:nvSpPr>
          <p:cNvPr id="17" name="">
            <a:extLst xmlns:a="http://schemas.openxmlformats.org/drawingml/2006/main">
              <a:ext uri="{FF2B5EF4-FFF2-40B4-BE49-F238E27FC236}">
                <a16:creationId xmlns:a16="http://schemas.microsoft.com/office/drawing/2014/main" id="{5B044314-4A7C-436E-B6F6-A4A17B78F13B}"/>
              </a:ext>
            </a:extLst>
          </p:cNvPr>
          <p:cNvSpPr>
            <a:spLocks xmlns:a="http://schemas.openxmlformats.org/drawingml/2006/main" noGrp="1"/>
          </p:cNvSpPr>
          <p:nvPr/>
        </p:nvSpPr>
        <p:spPr>
          <a:xfrm xmlns:a="http://schemas.openxmlformats.org/drawingml/2006/main">
            <a:off x="2038350" y="4629150"/>
            <a:ext cx="781050" cy="7810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 name="">
            <a:extLst xmlns:a="http://schemas.openxmlformats.org/drawingml/2006/main">
              <a:ext uri="{FF2B5EF4-FFF2-40B4-BE49-F238E27FC236}">
                <a16:creationId xmlns:a16="http://schemas.microsoft.com/office/drawing/2014/main" id="{8AF965C2-0FBE-4AFA-B265-1815CA2EE9EF}"/>
              </a:ext>
            </a:extLst>
          </p:cNvPr>
          <p:cNvSpPr>
            <a:spLocks xmlns:a="http://schemas.openxmlformats.org/drawingml/2006/main" noGrp="1"/>
          </p:cNvSpPr>
          <p:nvPr/>
        </p:nvSpPr>
        <p:spPr>
          <a:xfrm xmlns:a="http://schemas.openxmlformats.org/drawingml/2006/main">
            <a:off x="2038350" y="4638675"/>
            <a:ext cx="7810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3000" b="1">
                <a:solidFill>
                  <a:srgbClr val="FFFFFF"/>
                </a:solidFill>
                <a:latin typeface="Aptos"/>
                <a:ea typeface="Aptos"/>
                <a:cs typeface="Aptos"/>
              </a:defRPr>
            </a:pPr>
            <a:r>
              <a:rPr sz="3000" b="1">
                <a:solidFill>
                  <a:srgbClr val="FFFFFF"/>
                </a:solidFill>
                <a:latin typeface="Aptos"/>
                <a:ea typeface="Aptos"/>
                <a:cs typeface="Aptos"/>
              </a:rPr>
              <a:t>1</a:t>
            </a:r>
          </a:p>
        </p:txBody>
      </p:sp>
      <p:sp>
        <p:nvSpPr>
          <p:cNvPr id="19" name="">
            <a:extLst xmlns:a="http://schemas.openxmlformats.org/drawingml/2006/main">
              <a:ext uri="{FF2B5EF4-FFF2-40B4-BE49-F238E27FC236}">
                <a16:creationId xmlns:a16="http://schemas.microsoft.com/office/drawing/2014/main" id="{D4680DB3-74FF-47AE-9C0F-30B357B91824}"/>
              </a:ext>
            </a:extLst>
          </p:cNvPr>
          <p:cNvSpPr>
            <a:spLocks xmlns:a="http://schemas.openxmlformats.org/drawingml/2006/main" noGrp="1"/>
          </p:cNvSpPr>
          <p:nvPr/>
        </p:nvSpPr>
        <p:spPr>
          <a:xfrm xmlns:a="http://schemas.openxmlformats.org/drawingml/2006/main">
            <a:off x="1190625" y="5600700"/>
            <a:ext cx="2476500" cy="581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172033"/>
                </a:solidFill>
                <a:latin typeface="Aptos"/>
                <a:ea typeface="Aptos"/>
                <a:cs typeface="Aptos"/>
              </a:defRPr>
            </a:pPr>
            <a:r>
              <a:rPr sz="2250" b="1">
                <a:solidFill>
                  <a:srgbClr val="172033"/>
                </a:solidFill>
                <a:latin typeface="Aptos"/>
                <a:ea typeface="Aptos"/>
                <a:cs typeface="Aptos"/>
              </a:rPr>
              <a:t>Sweep + fixed views</a:t>
            </a:r>
          </a:p>
        </p:txBody>
      </p:sp>
      <p:sp>
        <p:nvSpPr>
          <p:cNvPr id="20" name="">
            <a:extLst xmlns:a="http://schemas.openxmlformats.org/drawingml/2006/main">
              <a:ext uri="{FF2B5EF4-FFF2-40B4-BE49-F238E27FC236}">
                <a16:creationId xmlns:a16="http://schemas.microsoft.com/office/drawing/2014/main" id="{704FAF70-25BA-449A-8E65-2891A1449265}"/>
              </a:ext>
            </a:extLst>
          </p:cNvPr>
          <p:cNvSpPr>
            <a:spLocks xmlns:a="http://schemas.openxmlformats.org/drawingml/2006/main" noGrp="1"/>
          </p:cNvSpPr>
          <p:nvPr/>
        </p:nvSpPr>
        <p:spPr>
          <a:xfrm xmlns:a="http://schemas.openxmlformats.org/drawingml/2006/main">
            <a:off x="1238250" y="6286500"/>
            <a:ext cx="238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0">
                <a:solidFill>
                  <a:srgbClr val="526174"/>
                </a:solidFill>
                <a:latin typeface="Aptos"/>
                <a:ea typeface="Aptos"/>
                <a:cs typeface="Aptos"/>
              </a:defRPr>
            </a:pPr>
            <a:r>
              <a:rPr sz="1725" b="0">
                <a:solidFill>
                  <a:srgbClr val="526174"/>
                </a:solidFill>
                <a:latin typeface="Aptos"/>
                <a:ea typeface="Aptos"/>
                <a:cs typeface="Aptos"/>
              </a:rPr>
              <a:t>shared cameras</a:t>
            </a:r>
          </a:p>
        </p:txBody>
      </p:sp>
      <p:sp>
        <p:nvSpPr>
          <p:cNvPr id="21" name="">
            <a:extLst xmlns:a="http://schemas.openxmlformats.org/drawingml/2006/main">
              <a:ext uri="{FF2B5EF4-FFF2-40B4-BE49-F238E27FC236}">
                <a16:creationId xmlns:a16="http://schemas.microsoft.com/office/drawing/2014/main" id="{DE31CFA1-4014-4A89-BCD8-2C0F40D0CFC2}"/>
              </a:ext>
            </a:extLst>
          </p:cNvPr>
          <p:cNvSpPr>
            <a:spLocks xmlns:a="http://schemas.openxmlformats.org/drawingml/2006/main" noGrp="1"/>
          </p:cNvSpPr>
          <p:nvPr/>
        </p:nvSpPr>
        <p:spPr>
          <a:xfrm xmlns:a="http://schemas.openxmlformats.org/drawingml/2006/main">
            <a:off x="5095875" y="4343400"/>
            <a:ext cx="2857500" cy="2571750"/>
          </a:xfrm>
          <a:prstGeom xmlns:a="http://schemas.openxmlformats.org/drawingml/2006/main" prst="roundRect">
            <a:avLst>
              <a:gd name="adj" fmla="val 8148"/>
            </a:avLst>
          </a:prstGeom>
          <a:solidFill xmlns:a="http://schemas.openxmlformats.org/drawingml/2006/main">
            <a:srgbClr val="E5F7F3"/>
          </a:solidFill>
          <a:ln xmlns:a="http://schemas.openxmlformats.org/drawingml/2006/main" w="28575">
            <a:solidFill>
              <a:srgbClr val="0F9D8A"/>
            </a:solidFill>
            <a:prstDash val="solid"/>
          </a:ln>
        </p:spPr>
      </p:sp>
      <p:sp>
        <p:nvSpPr>
          <p:cNvPr id="22" name="">
            <a:extLst xmlns:a="http://schemas.openxmlformats.org/drawingml/2006/main">
              <a:ext uri="{FF2B5EF4-FFF2-40B4-BE49-F238E27FC236}">
                <a16:creationId xmlns:a16="http://schemas.microsoft.com/office/drawing/2014/main" id="{D07A110C-51A9-4A2B-A962-0063A71F595B}"/>
              </a:ext>
            </a:extLst>
          </p:cNvPr>
          <p:cNvSpPr>
            <a:spLocks xmlns:a="http://schemas.openxmlformats.org/drawingml/2006/main" noGrp="1"/>
          </p:cNvSpPr>
          <p:nvPr/>
        </p:nvSpPr>
        <p:spPr>
          <a:xfrm xmlns:a="http://schemas.openxmlformats.org/drawingml/2006/main">
            <a:off x="6134100" y="4629150"/>
            <a:ext cx="781050" cy="7810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23" name="">
            <a:extLst xmlns:a="http://schemas.openxmlformats.org/drawingml/2006/main">
              <a:ext uri="{FF2B5EF4-FFF2-40B4-BE49-F238E27FC236}">
                <a16:creationId xmlns:a16="http://schemas.microsoft.com/office/drawing/2014/main" id="{CF3BA4B6-2364-44FF-98D9-8D5CEEEA4760}"/>
              </a:ext>
            </a:extLst>
          </p:cNvPr>
          <p:cNvSpPr>
            <a:spLocks xmlns:a="http://schemas.openxmlformats.org/drawingml/2006/main" noGrp="1"/>
          </p:cNvSpPr>
          <p:nvPr/>
        </p:nvSpPr>
        <p:spPr>
          <a:xfrm xmlns:a="http://schemas.openxmlformats.org/drawingml/2006/main">
            <a:off x="6134100" y="4638675"/>
            <a:ext cx="7810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3000" b="1">
                <a:solidFill>
                  <a:srgbClr val="FFFFFF"/>
                </a:solidFill>
                <a:latin typeface="Aptos"/>
                <a:ea typeface="Aptos"/>
                <a:cs typeface="Aptos"/>
              </a:defRPr>
            </a:pPr>
            <a:r>
              <a:rPr sz="3000" b="1">
                <a:solidFill>
                  <a:srgbClr val="FFFFFF"/>
                </a:solidFill>
                <a:latin typeface="Aptos"/>
                <a:ea typeface="Aptos"/>
                <a:cs typeface="Aptos"/>
              </a:rPr>
              <a:t>2</a:t>
            </a:r>
          </a:p>
        </p:txBody>
      </p:sp>
      <p:sp>
        <p:nvSpPr>
          <p:cNvPr id="24" name="">
            <a:extLst xmlns:a="http://schemas.openxmlformats.org/drawingml/2006/main">
              <a:ext uri="{FF2B5EF4-FFF2-40B4-BE49-F238E27FC236}">
                <a16:creationId xmlns:a16="http://schemas.microsoft.com/office/drawing/2014/main" id="{1E470BAA-4F8C-4C15-857F-7D0AFCA4C6ED}"/>
              </a:ext>
            </a:extLst>
          </p:cNvPr>
          <p:cNvSpPr>
            <a:spLocks xmlns:a="http://schemas.openxmlformats.org/drawingml/2006/main" noGrp="1"/>
          </p:cNvSpPr>
          <p:nvPr/>
        </p:nvSpPr>
        <p:spPr>
          <a:xfrm xmlns:a="http://schemas.openxmlformats.org/drawingml/2006/main">
            <a:off x="5286375" y="5600700"/>
            <a:ext cx="2476500" cy="581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172033"/>
                </a:solidFill>
                <a:latin typeface="Aptos"/>
                <a:ea typeface="Aptos"/>
                <a:cs typeface="Aptos"/>
              </a:defRPr>
            </a:pPr>
            <a:r>
              <a:rPr sz="2250" b="1">
                <a:solidFill>
                  <a:srgbClr val="172033"/>
                </a:solidFill>
                <a:latin typeface="Aptos"/>
                <a:ea typeface="Aptos"/>
                <a:cs typeface="Aptos"/>
              </a:rPr>
              <a:t>Static 3DGS</a:t>
            </a:r>
          </a:p>
        </p:txBody>
      </p:sp>
      <p:sp>
        <p:nvSpPr>
          <p:cNvPr id="25" name="">
            <a:extLst xmlns:a="http://schemas.openxmlformats.org/drawingml/2006/main">
              <a:ext uri="{FF2B5EF4-FFF2-40B4-BE49-F238E27FC236}">
                <a16:creationId xmlns:a16="http://schemas.microsoft.com/office/drawing/2014/main" id="{636069F8-11B8-448D-A6B0-3A74DC4D6188}"/>
              </a:ext>
            </a:extLst>
          </p:cNvPr>
          <p:cNvSpPr>
            <a:spLocks xmlns:a="http://schemas.openxmlformats.org/drawingml/2006/main" noGrp="1"/>
          </p:cNvSpPr>
          <p:nvPr/>
        </p:nvSpPr>
        <p:spPr>
          <a:xfrm xmlns:a="http://schemas.openxmlformats.org/drawingml/2006/main">
            <a:off x="5334000" y="6286500"/>
            <a:ext cx="238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0">
                <a:solidFill>
                  <a:srgbClr val="526174"/>
                </a:solidFill>
                <a:latin typeface="Aptos"/>
                <a:ea typeface="Aptos"/>
                <a:cs typeface="Aptos"/>
              </a:defRPr>
            </a:pPr>
            <a:r>
              <a:rPr sz="1725" b="0">
                <a:solidFill>
                  <a:srgbClr val="526174"/>
                </a:solidFill>
                <a:latin typeface="Aptos"/>
                <a:ea typeface="Aptos"/>
                <a:cs typeface="Aptos"/>
              </a:rPr>
              <a:t>explicit 3D support</a:t>
            </a:r>
          </a:p>
        </p:txBody>
      </p:sp>
      <p:sp>
        <p:nvSpPr>
          <p:cNvPr id="26" name="">
            <a:extLst xmlns:a="http://schemas.openxmlformats.org/drawingml/2006/main">
              <a:ext uri="{FF2B5EF4-FFF2-40B4-BE49-F238E27FC236}">
                <a16:creationId xmlns:a16="http://schemas.microsoft.com/office/drawing/2014/main" id="{BB4EB62F-35E9-46E5-9F9C-DE96FD49A262}"/>
              </a:ext>
            </a:extLst>
          </p:cNvPr>
          <p:cNvSpPr>
            <a:spLocks xmlns:a="http://schemas.openxmlformats.org/drawingml/2006/main" noGrp="1"/>
          </p:cNvSpPr>
          <p:nvPr/>
        </p:nvSpPr>
        <p:spPr>
          <a:xfrm xmlns:a="http://schemas.openxmlformats.org/drawingml/2006/main">
            <a:off x="9191625" y="4343400"/>
            <a:ext cx="2857500" cy="2571750"/>
          </a:xfrm>
          <a:prstGeom xmlns:a="http://schemas.openxmlformats.org/drawingml/2006/main" prst="roundRect">
            <a:avLst>
              <a:gd name="adj" fmla="val 8148"/>
            </a:avLst>
          </a:prstGeom>
          <a:solidFill xmlns:a="http://schemas.openxmlformats.org/drawingml/2006/main">
            <a:srgbClr val="FFF4D7"/>
          </a:solidFill>
          <a:ln xmlns:a="http://schemas.openxmlformats.org/drawingml/2006/main" w="28575">
            <a:solidFill>
              <a:srgbClr val="F59E0B"/>
            </a:solidFill>
            <a:prstDash val="solid"/>
          </a:ln>
        </p:spPr>
      </p:sp>
      <p:sp>
        <p:nvSpPr>
          <p:cNvPr id="27" name="">
            <a:extLst xmlns:a="http://schemas.openxmlformats.org/drawingml/2006/main">
              <a:ext uri="{FF2B5EF4-FFF2-40B4-BE49-F238E27FC236}">
                <a16:creationId xmlns:a16="http://schemas.microsoft.com/office/drawing/2014/main" id="{278F159D-A6F4-4FFE-908B-488C5B2AB231}"/>
              </a:ext>
            </a:extLst>
          </p:cNvPr>
          <p:cNvSpPr>
            <a:spLocks xmlns:a="http://schemas.openxmlformats.org/drawingml/2006/main" noGrp="1"/>
          </p:cNvSpPr>
          <p:nvPr/>
        </p:nvSpPr>
        <p:spPr>
          <a:xfrm xmlns:a="http://schemas.openxmlformats.org/drawingml/2006/main">
            <a:off x="10229850" y="4629150"/>
            <a:ext cx="781050" cy="7810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28" name="">
            <a:extLst xmlns:a="http://schemas.openxmlformats.org/drawingml/2006/main">
              <a:ext uri="{FF2B5EF4-FFF2-40B4-BE49-F238E27FC236}">
                <a16:creationId xmlns:a16="http://schemas.microsoft.com/office/drawing/2014/main" id="{13C615CE-5888-49B4-9653-BA179DD583D0}"/>
              </a:ext>
            </a:extLst>
          </p:cNvPr>
          <p:cNvSpPr>
            <a:spLocks xmlns:a="http://schemas.openxmlformats.org/drawingml/2006/main" noGrp="1"/>
          </p:cNvSpPr>
          <p:nvPr/>
        </p:nvSpPr>
        <p:spPr>
          <a:xfrm xmlns:a="http://schemas.openxmlformats.org/drawingml/2006/main">
            <a:off x="10229850" y="4638675"/>
            <a:ext cx="7810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3000" b="1">
                <a:solidFill>
                  <a:srgbClr val="FFFFFF"/>
                </a:solidFill>
                <a:latin typeface="Aptos"/>
                <a:ea typeface="Aptos"/>
                <a:cs typeface="Aptos"/>
              </a:defRPr>
            </a:pPr>
            <a:r>
              <a:rPr sz="3000" b="1">
                <a:solidFill>
                  <a:srgbClr val="FFFFFF"/>
                </a:solidFill>
                <a:latin typeface="Aptos"/>
                <a:ea typeface="Aptos"/>
                <a:cs typeface="Aptos"/>
              </a:rPr>
              <a:t>3</a:t>
            </a:r>
          </a:p>
        </p:txBody>
      </p:sp>
      <p:sp>
        <p:nvSpPr>
          <p:cNvPr id="29" name="">
            <a:extLst xmlns:a="http://schemas.openxmlformats.org/drawingml/2006/main">
              <a:ext uri="{FF2B5EF4-FFF2-40B4-BE49-F238E27FC236}">
                <a16:creationId xmlns:a16="http://schemas.microsoft.com/office/drawing/2014/main" id="{1BD443D2-493B-423F-B021-018110AD4134}"/>
              </a:ext>
            </a:extLst>
          </p:cNvPr>
          <p:cNvSpPr>
            <a:spLocks xmlns:a="http://schemas.openxmlformats.org/drawingml/2006/main" noGrp="1"/>
          </p:cNvSpPr>
          <p:nvPr/>
        </p:nvSpPr>
        <p:spPr>
          <a:xfrm xmlns:a="http://schemas.openxmlformats.org/drawingml/2006/main">
            <a:off x="9382125" y="5600700"/>
            <a:ext cx="2476500" cy="581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172033"/>
                </a:solidFill>
                <a:latin typeface="Aptos"/>
                <a:ea typeface="Aptos"/>
                <a:cs typeface="Aptos"/>
              </a:defRPr>
            </a:pPr>
            <a:r>
              <a:rPr sz="2250" b="1">
                <a:solidFill>
                  <a:srgbClr val="172033"/>
                </a:solidFill>
                <a:latin typeface="Aptos"/>
                <a:ea typeface="Aptos"/>
                <a:cs typeface="Aptos"/>
              </a:rPr>
              <a:t>Dense optical flow</a:t>
            </a:r>
          </a:p>
        </p:txBody>
      </p:sp>
      <p:sp>
        <p:nvSpPr>
          <p:cNvPr id="30" name="">
            <a:extLst xmlns:a="http://schemas.openxmlformats.org/drawingml/2006/main">
              <a:ext uri="{FF2B5EF4-FFF2-40B4-BE49-F238E27FC236}">
                <a16:creationId xmlns:a16="http://schemas.microsoft.com/office/drawing/2014/main" id="{8F253EAC-9054-41D2-8BA8-B930D6BCB134}"/>
              </a:ext>
            </a:extLst>
          </p:cNvPr>
          <p:cNvSpPr>
            <a:spLocks xmlns:a="http://schemas.openxmlformats.org/drawingml/2006/main" noGrp="1"/>
          </p:cNvSpPr>
          <p:nvPr/>
        </p:nvSpPr>
        <p:spPr>
          <a:xfrm xmlns:a="http://schemas.openxmlformats.org/drawingml/2006/main">
            <a:off x="9429750" y="6286500"/>
            <a:ext cx="238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0">
                <a:solidFill>
                  <a:srgbClr val="526174"/>
                </a:solidFill>
                <a:latin typeface="Aptos"/>
                <a:ea typeface="Aptos"/>
                <a:cs typeface="Aptos"/>
              </a:defRPr>
            </a:pPr>
            <a:r>
              <a:rPr sz="1725" b="0">
                <a:solidFill>
                  <a:srgbClr val="526174"/>
                </a:solidFill>
                <a:latin typeface="Aptos"/>
                <a:ea typeface="Aptos"/>
                <a:cs typeface="Aptos"/>
              </a:rPr>
              <a:t>image motion</a:t>
            </a:r>
          </a:p>
        </p:txBody>
      </p:sp>
      <p:sp>
        <p:nvSpPr>
          <p:cNvPr id="31" name="">
            <a:extLst xmlns:a="http://schemas.openxmlformats.org/drawingml/2006/main">
              <a:ext uri="{FF2B5EF4-FFF2-40B4-BE49-F238E27FC236}">
                <a16:creationId xmlns:a16="http://schemas.microsoft.com/office/drawing/2014/main" id="{97BB67CC-9966-4811-A300-791868A7B8DF}"/>
              </a:ext>
            </a:extLst>
          </p:cNvPr>
          <p:cNvSpPr>
            <a:spLocks xmlns:a="http://schemas.openxmlformats.org/drawingml/2006/main" noGrp="1"/>
          </p:cNvSpPr>
          <p:nvPr/>
        </p:nvSpPr>
        <p:spPr>
          <a:xfrm xmlns:a="http://schemas.openxmlformats.org/drawingml/2006/main">
            <a:off x="13287375" y="4343400"/>
            <a:ext cx="2857500" cy="2571750"/>
          </a:xfrm>
          <a:prstGeom xmlns:a="http://schemas.openxmlformats.org/drawingml/2006/main" prst="roundRect">
            <a:avLst>
              <a:gd name="adj" fmla="val 8148"/>
            </a:avLst>
          </a:prstGeom>
          <a:solidFill xmlns:a="http://schemas.openxmlformats.org/drawingml/2006/main">
            <a:srgbClr val="FFF4D7"/>
          </a:solidFill>
          <a:ln xmlns:a="http://schemas.openxmlformats.org/drawingml/2006/main" w="28575">
            <a:solidFill>
              <a:srgbClr val="F59E0B"/>
            </a:solidFill>
            <a:prstDash val="solid"/>
          </a:ln>
        </p:spPr>
      </p:sp>
      <p:sp>
        <p:nvSpPr>
          <p:cNvPr id="32" name="">
            <a:extLst xmlns:a="http://schemas.openxmlformats.org/drawingml/2006/main">
              <a:ext uri="{FF2B5EF4-FFF2-40B4-BE49-F238E27FC236}">
                <a16:creationId xmlns:a16="http://schemas.microsoft.com/office/drawing/2014/main" id="{ADDD839D-6D5E-403E-B19B-C4B35001098F}"/>
              </a:ext>
            </a:extLst>
          </p:cNvPr>
          <p:cNvSpPr>
            <a:spLocks xmlns:a="http://schemas.openxmlformats.org/drawingml/2006/main" noGrp="1"/>
          </p:cNvSpPr>
          <p:nvPr/>
        </p:nvSpPr>
        <p:spPr>
          <a:xfrm xmlns:a="http://schemas.openxmlformats.org/drawingml/2006/main">
            <a:off x="14325600" y="4629150"/>
            <a:ext cx="781050" cy="7810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33" name="">
            <a:extLst xmlns:a="http://schemas.openxmlformats.org/drawingml/2006/main">
              <a:ext uri="{FF2B5EF4-FFF2-40B4-BE49-F238E27FC236}">
                <a16:creationId xmlns:a16="http://schemas.microsoft.com/office/drawing/2014/main" id="{06027BB0-AC00-414E-9A7E-7ABCB8B17809}"/>
              </a:ext>
            </a:extLst>
          </p:cNvPr>
          <p:cNvSpPr>
            <a:spLocks xmlns:a="http://schemas.openxmlformats.org/drawingml/2006/main" noGrp="1"/>
          </p:cNvSpPr>
          <p:nvPr/>
        </p:nvSpPr>
        <p:spPr>
          <a:xfrm xmlns:a="http://schemas.openxmlformats.org/drawingml/2006/main">
            <a:off x="14325600" y="4638675"/>
            <a:ext cx="7810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3000" b="1">
                <a:solidFill>
                  <a:srgbClr val="FFFFFF"/>
                </a:solidFill>
                <a:latin typeface="Aptos"/>
                <a:ea typeface="Aptos"/>
                <a:cs typeface="Aptos"/>
              </a:defRPr>
            </a:pPr>
            <a:r>
              <a:rPr sz="3000" b="1">
                <a:solidFill>
                  <a:srgbClr val="FFFFFF"/>
                </a:solidFill>
                <a:latin typeface="Aptos"/>
                <a:ea typeface="Aptos"/>
                <a:cs typeface="Aptos"/>
              </a:rPr>
              <a:t>4</a:t>
            </a:r>
          </a:p>
        </p:txBody>
      </p:sp>
      <p:sp>
        <p:nvSpPr>
          <p:cNvPr id="34" name="">
            <a:extLst xmlns:a="http://schemas.openxmlformats.org/drawingml/2006/main">
              <a:ext uri="{FF2B5EF4-FFF2-40B4-BE49-F238E27FC236}">
                <a16:creationId xmlns:a16="http://schemas.microsoft.com/office/drawing/2014/main" id="{A0248FF0-2920-4DA9-B4E8-0149A845C5E9}"/>
              </a:ext>
            </a:extLst>
          </p:cNvPr>
          <p:cNvSpPr>
            <a:spLocks xmlns:a="http://schemas.openxmlformats.org/drawingml/2006/main" noGrp="1"/>
          </p:cNvSpPr>
          <p:nvPr/>
        </p:nvSpPr>
        <p:spPr>
          <a:xfrm xmlns:a="http://schemas.openxmlformats.org/drawingml/2006/main">
            <a:off x="13477875" y="5600700"/>
            <a:ext cx="2476500" cy="581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172033"/>
                </a:solidFill>
                <a:latin typeface="Aptos"/>
                <a:ea typeface="Aptos"/>
                <a:cs typeface="Aptos"/>
              </a:defRPr>
            </a:pPr>
            <a:r>
              <a:rPr sz="2250" b="1">
                <a:solidFill>
                  <a:srgbClr val="172033"/>
                </a:solidFill>
                <a:latin typeface="Aptos"/>
                <a:ea typeface="Aptos"/>
                <a:cs typeface="Aptos"/>
              </a:rPr>
              <a:t>Frequency selection</a:t>
            </a:r>
          </a:p>
        </p:txBody>
      </p:sp>
      <p:sp>
        <p:nvSpPr>
          <p:cNvPr id="35" name="">
            <a:extLst xmlns:a="http://schemas.openxmlformats.org/drawingml/2006/main">
              <a:ext uri="{FF2B5EF4-FFF2-40B4-BE49-F238E27FC236}">
                <a16:creationId xmlns:a16="http://schemas.microsoft.com/office/drawing/2014/main" id="{9C961752-2252-4741-9AF6-967752ED49BB}"/>
              </a:ext>
            </a:extLst>
          </p:cNvPr>
          <p:cNvSpPr>
            <a:spLocks xmlns:a="http://schemas.openxmlformats.org/drawingml/2006/main" noGrp="1"/>
          </p:cNvSpPr>
          <p:nvPr/>
        </p:nvSpPr>
        <p:spPr>
          <a:xfrm xmlns:a="http://schemas.openxmlformats.org/drawingml/2006/main">
            <a:off x="13525500" y="6286500"/>
            <a:ext cx="238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0">
                <a:solidFill>
                  <a:srgbClr val="526174"/>
                </a:solidFill>
                <a:latin typeface="Aptos"/>
                <a:ea typeface="Aptos"/>
                <a:cs typeface="Aptos"/>
              </a:defRPr>
            </a:pPr>
            <a:r>
              <a:rPr sz="1725" b="0">
                <a:solidFill>
                  <a:srgbClr val="526174"/>
                </a:solidFill>
                <a:latin typeface="Aptos"/>
                <a:ea typeface="Aptos"/>
                <a:cs typeface="Aptos"/>
              </a:rPr>
              <a:t>complex 2D evidence</a:t>
            </a:r>
          </a:p>
        </p:txBody>
      </p:sp>
      <p:sp>
        <p:nvSpPr>
          <p:cNvPr id="36" name="">
            <a:extLst xmlns:a="http://schemas.openxmlformats.org/drawingml/2006/main">
              <a:ext uri="{FF2B5EF4-FFF2-40B4-BE49-F238E27FC236}">
                <a16:creationId xmlns:a16="http://schemas.microsoft.com/office/drawing/2014/main" id="{59A9D76A-C905-4624-91DA-C7BBC34CB4DF}"/>
              </a:ext>
            </a:extLst>
          </p:cNvPr>
          <p:cNvSpPr>
            <a:spLocks xmlns:a="http://schemas.openxmlformats.org/drawingml/2006/main" noGrp="1"/>
          </p:cNvSpPr>
          <p:nvPr/>
        </p:nvSpPr>
        <p:spPr>
          <a:xfrm xmlns:a="http://schemas.openxmlformats.org/drawingml/2006/main">
            <a:off x="17383125" y="4343400"/>
            <a:ext cx="2857500" cy="2571750"/>
          </a:xfrm>
          <a:prstGeom xmlns:a="http://schemas.openxmlformats.org/drawingml/2006/main" prst="roundRect">
            <a:avLst>
              <a:gd name="adj" fmla="val 8148"/>
            </a:avLst>
          </a:prstGeom>
          <a:solidFill xmlns:a="http://schemas.openxmlformats.org/drawingml/2006/main">
            <a:srgbClr val="F1EAFE"/>
          </a:solidFill>
          <a:ln xmlns:a="http://schemas.openxmlformats.org/drawingml/2006/main" w="28575">
            <a:solidFill>
              <a:srgbClr val="7C3AED"/>
            </a:solidFill>
            <a:prstDash val="solid"/>
          </a:ln>
        </p:spPr>
      </p:sp>
      <p:sp>
        <p:nvSpPr>
          <p:cNvPr id="37" name="">
            <a:extLst xmlns:a="http://schemas.openxmlformats.org/drawingml/2006/main">
              <a:ext uri="{FF2B5EF4-FFF2-40B4-BE49-F238E27FC236}">
                <a16:creationId xmlns:a16="http://schemas.microsoft.com/office/drawing/2014/main" id="{E41C19F0-0DC2-4596-A488-FF19D6FD1E68}"/>
              </a:ext>
            </a:extLst>
          </p:cNvPr>
          <p:cNvSpPr>
            <a:spLocks xmlns:a="http://schemas.openxmlformats.org/drawingml/2006/main" noGrp="1"/>
          </p:cNvSpPr>
          <p:nvPr/>
        </p:nvSpPr>
        <p:spPr>
          <a:xfrm xmlns:a="http://schemas.openxmlformats.org/drawingml/2006/main">
            <a:off x="18421350" y="4629150"/>
            <a:ext cx="781050" cy="7810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8" name="">
            <a:extLst xmlns:a="http://schemas.openxmlformats.org/drawingml/2006/main">
              <a:ext uri="{FF2B5EF4-FFF2-40B4-BE49-F238E27FC236}">
                <a16:creationId xmlns:a16="http://schemas.microsoft.com/office/drawing/2014/main" id="{855C9701-260B-4F69-9B1F-4B184EF246F7}"/>
              </a:ext>
            </a:extLst>
          </p:cNvPr>
          <p:cNvSpPr>
            <a:spLocks xmlns:a="http://schemas.openxmlformats.org/drawingml/2006/main" noGrp="1"/>
          </p:cNvSpPr>
          <p:nvPr/>
        </p:nvSpPr>
        <p:spPr>
          <a:xfrm xmlns:a="http://schemas.openxmlformats.org/drawingml/2006/main">
            <a:off x="18421350" y="4638675"/>
            <a:ext cx="7810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3000" b="1">
                <a:solidFill>
                  <a:srgbClr val="FFFFFF"/>
                </a:solidFill>
                <a:latin typeface="Aptos"/>
                <a:ea typeface="Aptos"/>
                <a:cs typeface="Aptos"/>
              </a:defRPr>
            </a:pPr>
            <a:r>
              <a:rPr sz="3000" b="1">
                <a:solidFill>
                  <a:srgbClr val="FFFFFF"/>
                </a:solidFill>
                <a:latin typeface="Aptos"/>
                <a:ea typeface="Aptos"/>
                <a:cs typeface="Aptos"/>
              </a:rPr>
              <a:t>5</a:t>
            </a:r>
          </a:p>
        </p:txBody>
      </p:sp>
      <p:sp>
        <p:nvSpPr>
          <p:cNvPr id="39" name="">
            <a:extLst xmlns:a="http://schemas.openxmlformats.org/drawingml/2006/main">
              <a:ext uri="{FF2B5EF4-FFF2-40B4-BE49-F238E27FC236}">
                <a16:creationId xmlns:a16="http://schemas.microsoft.com/office/drawing/2014/main" id="{4EFE9646-2896-470D-AB1F-8B1E4CB68404}"/>
              </a:ext>
            </a:extLst>
          </p:cNvPr>
          <p:cNvSpPr>
            <a:spLocks xmlns:a="http://schemas.openxmlformats.org/drawingml/2006/main" noGrp="1"/>
          </p:cNvSpPr>
          <p:nvPr/>
        </p:nvSpPr>
        <p:spPr>
          <a:xfrm xmlns:a="http://schemas.openxmlformats.org/drawingml/2006/main">
            <a:off x="17573625" y="5600700"/>
            <a:ext cx="2476500" cy="581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172033"/>
                </a:solidFill>
                <a:latin typeface="Aptos"/>
                <a:ea typeface="Aptos"/>
                <a:cs typeface="Aptos"/>
              </a:defRPr>
            </a:pPr>
            <a:r>
              <a:rPr sz="2250" b="1">
                <a:solidFill>
                  <a:srgbClr val="172033"/>
                </a:solidFill>
                <a:latin typeface="Aptos"/>
                <a:ea typeface="Aptos"/>
                <a:cs typeface="Aptos"/>
              </a:rPr>
              <a:t>Local 3D solve</a:t>
            </a:r>
          </a:p>
        </p:txBody>
      </p:sp>
      <p:sp>
        <p:nvSpPr>
          <p:cNvPr id="40" name="">
            <a:extLst xmlns:a="http://schemas.openxmlformats.org/drawingml/2006/main">
              <a:ext uri="{FF2B5EF4-FFF2-40B4-BE49-F238E27FC236}">
                <a16:creationId xmlns:a16="http://schemas.microsoft.com/office/drawing/2014/main" id="{947AF49D-3403-46AA-BAE5-4791030DA73F}"/>
              </a:ext>
            </a:extLst>
          </p:cNvPr>
          <p:cNvSpPr>
            <a:spLocks xmlns:a="http://schemas.openxmlformats.org/drawingml/2006/main" noGrp="1"/>
          </p:cNvSpPr>
          <p:nvPr/>
        </p:nvSpPr>
        <p:spPr>
          <a:xfrm xmlns:a="http://schemas.openxmlformats.org/drawingml/2006/main">
            <a:off x="17621250" y="6286500"/>
            <a:ext cx="238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0">
                <a:solidFill>
                  <a:srgbClr val="526174"/>
                </a:solidFill>
                <a:latin typeface="Aptos"/>
                <a:ea typeface="Aptos"/>
                <a:cs typeface="Aptos"/>
              </a:defRPr>
            </a:pPr>
            <a:r>
              <a:rPr sz="1725" b="0">
                <a:solidFill>
                  <a:srgbClr val="526174"/>
                </a:solidFill>
                <a:latin typeface="Aptos"/>
                <a:ea typeface="Aptos"/>
                <a:cs typeface="Aptos"/>
              </a:rPr>
              <a:t>projected SE(3)</a:t>
            </a:r>
          </a:p>
        </p:txBody>
      </p:sp>
      <p:sp>
        <p:nvSpPr>
          <p:cNvPr id="41" name="">
            <a:extLst xmlns:a="http://schemas.openxmlformats.org/drawingml/2006/main">
              <a:ext uri="{FF2B5EF4-FFF2-40B4-BE49-F238E27FC236}">
                <a16:creationId xmlns:a16="http://schemas.microsoft.com/office/drawing/2014/main" id="{29BF5011-DB32-42E9-86C8-027DDD5B14BE}"/>
              </a:ext>
            </a:extLst>
          </p:cNvPr>
          <p:cNvSpPr>
            <a:spLocks xmlns:a="http://schemas.openxmlformats.org/drawingml/2006/main" noGrp="1"/>
          </p:cNvSpPr>
          <p:nvPr/>
        </p:nvSpPr>
        <p:spPr>
          <a:xfrm xmlns:a="http://schemas.openxmlformats.org/drawingml/2006/main">
            <a:off x="21478875" y="4343400"/>
            <a:ext cx="2857500" cy="2571750"/>
          </a:xfrm>
          <a:prstGeom xmlns:a="http://schemas.openxmlformats.org/drawingml/2006/main" prst="roundRect">
            <a:avLst>
              <a:gd name="adj" fmla="val 8148"/>
            </a:avLst>
          </a:prstGeom>
          <a:solidFill xmlns:a="http://schemas.openxmlformats.org/drawingml/2006/main">
            <a:srgbClr val="FCE7F3"/>
          </a:solidFill>
          <a:ln xmlns:a="http://schemas.openxmlformats.org/drawingml/2006/main" w="28575">
            <a:solidFill>
              <a:srgbClr val="DB2777"/>
            </a:solidFill>
            <a:prstDash val="solid"/>
          </a:ln>
        </p:spPr>
      </p:sp>
      <p:sp>
        <p:nvSpPr>
          <p:cNvPr id="42" name="">
            <a:extLst xmlns:a="http://schemas.openxmlformats.org/drawingml/2006/main">
              <a:ext uri="{FF2B5EF4-FFF2-40B4-BE49-F238E27FC236}">
                <a16:creationId xmlns:a16="http://schemas.microsoft.com/office/drawing/2014/main" id="{3E397393-364D-42BE-B4B1-4F9C128F3D90}"/>
              </a:ext>
            </a:extLst>
          </p:cNvPr>
          <p:cNvSpPr>
            <a:spLocks xmlns:a="http://schemas.openxmlformats.org/drawingml/2006/main" noGrp="1"/>
          </p:cNvSpPr>
          <p:nvPr/>
        </p:nvSpPr>
        <p:spPr>
          <a:xfrm xmlns:a="http://schemas.openxmlformats.org/drawingml/2006/main">
            <a:off x="22517100" y="4629150"/>
            <a:ext cx="781050" cy="781050"/>
          </a:xfrm>
          <a:prstGeom xmlns:a="http://schemas.openxmlformats.org/drawingml/2006/main" prst="ellipse">
            <a:avLst/>
          </a:prstGeom>
          <a:solidFill xmlns:a="http://schemas.openxmlformats.org/drawingml/2006/main">
            <a:srgbClr val="DB2777"/>
          </a:solidFill>
          <a:ln xmlns:a="http://schemas.openxmlformats.org/drawingml/2006/main" w="0">
            <a:solidFill>
              <a:srgbClr val="DB2777"/>
            </a:solidFill>
            <a:prstDash val="solid"/>
          </a:ln>
        </p:spPr>
      </p:sp>
      <p:sp>
        <p:nvSpPr>
          <p:cNvPr id="43" name="">
            <a:extLst xmlns:a="http://schemas.openxmlformats.org/drawingml/2006/main">
              <a:ext uri="{FF2B5EF4-FFF2-40B4-BE49-F238E27FC236}">
                <a16:creationId xmlns:a16="http://schemas.microsoft.com/office/drawing/2014/main" id="{AA217569-5321-4F18-B699-B9ADAACB1634}"/>
              </a:ext>
            </a:extLst>
          </p:cNvPr>
          <p:cNvSpPr>
            <a:spLocks xmlns:a="http://schemas.openxmlformats.org/drawingml/2006/main" noGrp="1"/>
          </p:cNvSpPr>
          <p:nvPr/>
        </p:nvSpPr>
        <p:spPr>
          <a:xfrm xmlns:a="http://schemas.openxmlformats.org/drawingml/2006/main">
            <a:off x="22517100" y="4638675"/>
            <a:ext cx="7810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3000" b="1">
                <a:solidFill>
                  <a:srgbClr val="FFFFFF"/>
                </a:solidFill>
                <a:latin typeface="Aptos"/>
                <a:ea typeface="Aptos"/>
                <a:cs typeface="Aptos"/>
              </a:defRPr>
            </a:pPr>
            <a:r>
              <a:rPr sz="3000" b="1">
                <a:solidFill>
                  <a:srgbClr val="FFFFFF"/>
                </a:solidFill>
                <a:latin typeface="Aptos"/>
                <a:ea typeface="Aptos"/>
                <a:cs typeface="Aptos"/>
              </a:rPr>
              <a:t>6</a:t>
            </a:r>
          </a:p>
        </p:txBody>
      </p:sp>
      <p:sp>
        <p:nvSpPr>
          <p:cNvPr id="44" name="">
            <a:extLst xmlns:a="http://schemas.openxmlformats.org/drawingml/2006/main">
              <a:ext uri="{FF2B5EF4-FFF2-40B4-BE49-F238E27FC236}">
                <a16:creationId xmlns:a16="http://schemas.microsoft.com/office/drawing/2014/main" id="{C8265DEB-036D-4474-854C-0F6C12FF43A5}"/>
              </a:ext>
            </a:extLst>
          </p:cNvPr>
          <p:cNvSpPr>
            <a:spLocks xmlns:a="http://schemas.openxmlformats.org/drawingml/2006/main" noGrp="1"/>
          </p:cNvSpPr>
          <p:nvPr/>
        </p:nvSpPr>
        <p:spPr>
          <a:xfrm xmlns:a="http://schemas.openxmlformats.org/drawingml/2006/main">
            <a:off x="21669375" y="5600700"/>
            <a:ext cx="2476500" cy="581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172033"/>
                </a:solidFill>
                <a:latin typeface="Aptos"/>
                <a:ea typeface="Aptos"/>
                <a:cs typeface="Aptos"/>
              </a:defRPr>
            </a:pPr>
            <a:r>
              <a:rPr sz="2250" b="1">
                <a:solidFill>
                  <a:srgbClr val="172033"/>
                </a:solidFill>
                <a:latin typeface="Aptos"/>
                <a:ea typeface="Aptos"/>
                <a:cs typeface="Aptos"/>
              </a:rPr>
              <a:t>Motion fill</a:t>
            </a:r>
          </a:p>
        </p:txBody>
      </p:sp>
      <p:sp>
        <p:nvSpPr>
          <p:cNvPr id="45" name="">
            <a:extLst xmlns:a="http://schemas.openxmlformats.org/drawingml/2006/main">
              <a:ext uri="{FF2B5EF4-FFF2-40B4-BE49-F238E27FC236}">
                <a16:creationId xmlns:a16="http://schemas.microsoft.com/office/drawing/2014/main" id="{E190E172-F469-4732-93E9-50BA5DC09CF8}"/>
              </a:ext>
            </a:extLst>
          </p:cNvPr>
          <p:cNvSpPr>
            <a:spLocks xmlns:a="http://schemas.openxmlformats.org/drawingml/2006/main" noGrp="1"/>
          </p:cNvSpPr>
          <p:nvPr/>
        </p:nvSpPr>
        <p:spPr>
          <a:xfrm xmlns:a="http://schemas.openxmlformats.org/drawingml/2006/main">
            <a:off x="21717000" y="6286500"/>
            <a:ext cx="238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0">
                <a:solidFill>
                  <a:srgbClr val="526174"/>
                </a:solidFill>
                <a:latin typeface="Aptos"/>
                <a:ea typeface="Aptos"/>
                <a:cs typeface="Aptos"/>
              </a:defRPr>
            </a:pPr>
            <a:r>
              <a:rPr sz="1725" b="0">
                <a:solidFill>
                  <a:srgbClr val="526174"/>
                </a:solidFill>
                <a:latin typeface="Aptos"/>
                <a:ea typeface="Aptos"/>
                <a:cs typeface="Aptos"/>
              </a:rPr>
              <a:t>complete φₖ</a:t>
            </a:r>
          </a:p>
        </p:txBody>
      </p:sp>
      <p:sp>
        <p:nvSpPr>
          <p:cNvPr id="46" name="">
            <a:extLst xmlns:a="http://schemas.openxmlformats.org/drawingml/2006/main">
              <a:ext uri="{FF2B5EF4-FFF2-40B4-BE49-F238E27FC236}">
                <a16:creationId xmlns:a16="http://schemas.microsoft.com/office/drawing/2014/main" id="{E35D1463-AE24-45E8-9835-4453716B8DE5}"/>
              </a:ext>
            </a:extLst>
          </p:cNvPr>
          <p:cNvSpPr>
            <a:spLocks xmlns:a="http://schemas.openxmlformats.org/drawingml/2006/main" noGrp="1"/>
          </p:cNvSpPr>
          <p:nvPr/>
        </p:nvSpPr>
        <p:spPr>
          <a:xfrm xmlns:a="http://schemas.openxmlformats.org/drawingml/2006/main">
            <a:off x="933450" y="7515225"/>
            <a:ext cx="23812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1">
                <a:solidFill>
                  <a:srgbClr val="2563EB"/>
                </a:solidFill>
                <a:latin typeface="Aptos"/>
                <a:ea typeface="Aptos"/>
                <a:cs typeface="Aptos"/>
              </a:defRPr>
            </a:pPr>
            <a:r>
              <a:rPr sz="1425" b="1">
                <a:solidFill>
                  <a:srgbClr val="2563EB"/>
                </a:solidFill>
                <a:latin typeface="Aptos"/>
                <a:ea typeface="Aptos"/>
                <a:cs typeface="Aptos"/>
              </a:rPr>
              <a:t>INPUT</a:t>
            </a:r>
          </a:p>
        </p:txBody>
      </p:sp>
      <p:sp>
        <p:nvSpPr>
          <p:cNvPr id="47" name="">
            <a:extLst xmlns:a="http://schemas.openxmlformats.org/drawingml/2006/main">
              <a:ext uri="{FF2B5EF4-FFF2-40B4-BE49-F238E27FC236}">
                <a16:creationId xmlns:a16="http://schemas.microsoft.com/office/drawing/2014/main" id="{C6177459-0117-49FE-B5F9-74FF200C6060}"/>
              </a:ext>
            </a:extLst>
          </p:cNvPr>
          <p:cNvSpPr>
            <a:spLocks xmlns:a="http://schemas.openxmlformats.org/drawingml/2006/main" noGrp="1"/>
          </p:cNvSpPr>
          <p:nvPr/>
        </p:nvSpPr>
        <p:spPr>
          <a:xfrm xmlns:a="http://schemas.openxmlformats.org/drawingml/2006/main">
            <a:off x="5391150" y="7515225"/>
            <a:ext cx="23812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1">
                <a:solidFill>
                  <a:srgbClr val="0F9D8A"/>
                </a:solidFill>
                <a:latin typeface="Aptos"/>
                <a:ea typeface="Aptos"/>
                <a:cs typeface="Aptos"/>
              </a:defRPr>
            </a:pPr>
            <a:r>
              <a:rPr sz="1425" b="1">
                <a:solidFill>
                  <a:srgbClr val="0F9D8A"/>
                </a:solidFill>
                <a:latin typeface="Aptos"/>
                <a:ea typeface="Aptos"/>
                <a:cs typeface="Aptos"/>
              </a:rPr>
              <a:t>STATIC SCENE</a:t>
            </a:r>
          </a:p>
        </p:txBody>
      </p:sp>
      <p:sp>
        <p:nvSpPr>
          <p:cNvPr id="48" name="">
            <a:extLst xmlns:a="http://schemas.openxmlformats.org/drawingml/2006/main">
              <a:ext uri="{FF2B5EF4-FFF2-40B4-BE49-F238E27FC236}">
                <a16:creationId xmlns:a16="http://schemas.microsoft.com/office/drawing/2014/main" id="{0BD8A341-20BF-479D-8BB0-CC930281DB73}"/>
              </a:ext>
            </a:extLst>
          </p:cNvPr>
          <p:cNvSpPr>
            <a:spLocks xmlns:a="http://schemas.openxmlformats.org/drawingml/2006/main" noGrp="1"/>
          </p:cNvSpPr>
          <p:nvPr/>
        </p:nvSpPr>
        <p:spPr>
          <a:xfrm xmlns:a="http://schemas.openxmlformats.org/drawingml/2006/main">
            <a:off x="9925050" y="7515225"/>
            <a:ext cx="438150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425" b="1">
                <a:solidFill>
                  <a:srgbClr val="F59E0B"/>
                </a:solidFill>
                <a:latin typeface="Aptos"/>
                <a:ea typeface="Aptos"/>
                <a:cs typeface="Aptos"/>
              </a:defRPr>
            </a:pPr>
            <a:r>
              <a:rPr sz="1425" b="1">
                <a:solidFill>
                  <a:srgbClr val="F59E0B"/>
                </a:solidFill>
                <a:latin typeface="Aptos"/>
                <a:ea typeface="Aptos"/>
                <a:cs typeface="Aptos"/>
              </a:rPr>
              <a:t>VIBRATION EVIDENCE</a:t>
            </a:r>
          </a:p>
        </p:txBody>
      </p:sp>
      <p:sp>
        <p:nvSpPr>
          <p:cNvPr id="49" name="">
            <a:extLst xmlns:a="http://schemas.openxmlformats.org/drawingml/2006/main">
              <a:ext uri="{FF2B5EF4-FFF2-40B4-BE49-F238E27FC236}">
                <a16:creationId xmlns:a16="http://schemas.microsoft.com/office/drawing/2014/main" id="{97C125A3-C402-4FA4-A238-B39EA27436A5}"/>
              </a:ext>
            </a:extLst>
          </p:cNvPr>
          <p:cNvSpPr>
            <a:spLocks xmlns:a="http://schemas.openxmlformats.org/drawingml/2006/main" noGrp="1"/>
          </p:cNvSpPr>
          <p:nvPr/>
        </p:nvSpPr>
        <p:spPr>
          <a:xfrm xmlns:a="http://schemas.openxmlformats.org/drawingml/2006/main">
            <a:off x="19773900" y="7515225"/>
            <a:ext cx="476250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425" b="1">
                <a:solidFill>
                  <a:srgbClr val="7C3AED"/>
                </a:solidFill>
                <a:latin typeface="Aptos"/>
                <a:ea typeface="Aptos"/>
                <a:cs typeface="Aptos"/>
              </a:defRPr>
            </a:pPr>
            <a:r>
              <a:rPr sz="1425" b="1">
                <a:solidFill>
                  <a:srgbClr val="7C3AED"/>
                </a:solidFill>
                <a:latin typeface="Aptos"/>
                <a:ea typeface="Aptos"/>
                <a:cs typeface="Aptos"/>
              </a:rPr>
              <a:t>SPATIAL 3D MODES</a:t>
            </a:r>
          </a:p>
        </p:txBody>
      </p:sp>
      <p:sp>
        <p:nvSpPr>
          <p:cNvPr id="50" name="">
            <a:extLst xmlns:a="http://schemas.openxmlformats.org/drawingml/2006/main">
              <a:ext uri="{FF2B5EF4-FFF2-40B4-BE49-F238E27FC236}">
                <a16:creationId xmlns:a16="http://schemas.microsoft.com/office/drawing/2014/main" id="{045B057E-C37B-40F8-81FA-8408A730B4C0}"/>
              </a:ext>
            </a:extLst>
          </p:cNvPr>
          <p:cNvSpPr>
            <a:spLocks xmlns:a="http://schemas.openxmlformats.org/drawingml/2006/main" noGrp="1"/>
          </p:cNvSpPr>
          <p:nvPr/>
        </p:nvSpPr>
        <p:spPr>
          <a:xfrm xmlns:a="http://schemas.openxmlformats.org/drawingml/2006/main" flipH="0" flipV="0">
            <a:off x="9220200" y="8782050"/>
            <a:ext cx="0" cy="2352675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CBD3DD"/>
            </a:solidFill>
            <a:prstDash val="solid"/>
          </a:ln>
        </p:spPr>
      </p:sp>
      <p:sp>
        <p:nvSpPr>
          <p:cNvPr id="51" name="">
            <a:extLst xmlns:a="http://schemas.openxmlformats.org/drawingml/2006/main">
              <a:ext uri="{FF2B5EF4-FFF2-40B4-BE49-F238E27FC236}">
                <a16:creationId xmlns:a16="http://schemas.microsoft.com/office/drawing/2014/main" id="{249060DF-A38F-4EBA-8E6B-889975CA5392}"/>
              </a:ext>
            </a:extLst>
          </p:cNvPr>
          <p:cNvSpPr>
            <a:spLocks xmlns:a="http://schemas.openxmlformats.org/drawingml/2006/main" noGrp="1"/>
          </p:cNvSpPr>
          <p:nvPr/>
        </p:nvSpPr>
        <p:spPr>
          <a:xfrm xmlns:a="http://schemas.openxmlformats.org/drawingml/2006/main" flipH="0" flipV="0">
            <a:off x="18078450" y="8782050"/>
            <a:ext cx="0" cy="2352675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CBD3DD"/>
            </a:solidFill>
            <a:prstDash val="solid"/>
          </a:ln>
        </p:spPr>
      </p:sp>
      <p:sp>
        <p:nvSpPr>
          <p:cNvPr id="52" name="">
            <a:extLst xmlns:a="http://schemas.openxmlformats.org/drawingml/2006/main">
              <a:ext uri="{FF2B5EF4-FFF2-40B4-BE49-F238E27FC236}">
                <a16:creationId xmlns:a16="http://schemas.microsoft.com/office/drawing/2014/main" id="{1774E781-2CFC-4E93-91D6-A92888021451}"/>
              </a:ext>
            </a:extLst>
          </p:cNvPr>
          <p:cNvSpPr>
            <a:spLocks xmlns:a="http://schemas.openxmlformats.org/drawingml/2006/main" noGrp="1"/>
          </p:cNvSpPr>
          <p:nvPr/>
        </p:nvSpPr>
        <p:spPr>
          <a:xfrm xmlns:a="http://schemas.openxmlformats.org/drawingml/2006/main">
            <a:off x="685800" y="8801100"/>
            <a:ext cx="51435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3" name="">
            <a:extLst xmlns:a="http://schemas.openxmlformats.org/drawingml/2006/main">
              <a:ext uri="{FF2B5EF4-FFF2-40B4-BE49-F238E27FC236}">
                <a16:creationId xmlns:a16="http://schemas.microsoft.com/office/drawing/2014/main" id="{C6B14A0C-0AF9-4D10-BF1E-E88E5C50ED66}"/>
              </a:ext>
            </a:extLst>
          </p:cNvPr>
          <p:cNvSpPr>
            <a:spLocks xmlns:a="http://schemas.openxmlformats.org/drawingml/2006/main" noGrp="1"/>
          </p:cNvSpPr>
          <p:nvPr/>
        </p:nvSpPr>
        <p:spPr>
          <a:xfrm xmlns:a="http://schemas.openxmlformats.org/drawingml/2006/main">
            <a:off x="685800" y="8791575"/>
            <a:ext cx="5143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FFFFFF"/>
                </a:solidFill>
                <a:latin typeface="Aptos"/>
                <a:ea typeface="Aptos"/>
                <a:cs typeface="Aptos"/>
              </a:defRPr>
            </a:pPr>
            <a:r>
              <a:rPr sz="2250" b="1">
                <a:solidFill>
                  <a:srgbClr val="FFFFFF"/>
                </a:solidFill>
                <a:latin typeface="Aptos"/>
                <a:ea typeface="Aptos"/>
                <a:cs typeface="Aptos"/>
              </a:rPr>
              <a:t>1</a:t>
            </a:r>
          </a:p>
        </p:txBody>
      </p:sp>
      <p:sp>
        <p:nvSpPr>
          <p:cNvPr id="54" name="">
            <a:extLst xmlns:a="http://schemas.openxmlformats.org/drawingml/2006/main">
              <a:ext uri="{FF2B5EF4-FFF2-40B4-BE49-F238E27FC236}">
                <a16:creationId xmlns:a16="http://schemas.microsoft.com/office/drawing/2014/main" id="{5E4A04D3-FDF6-4FF5-ACEA-0DB8021460D5}"/>
              </a:ext>
            </a:extLst>
          </p:cNvPr>
          <p:cNvSpPr>
            <a:spLocks xmlns:a="http://schemas.openxmlformats.org/drawingml/2006/main" noGrp="1"/>
          </p:cNvSpPr>
          <p:nvPr/>
        </p:nvSpPr>
        <p:spPr>
          <a:xfrm xmlns:a="http://schemas.openxmlformats.org/drawingml/2006/main">
            <a:off x="1371600" y="8763000"/>
            <a:ext cx="76581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975" b="1">
                <a:solidFill>
                  <a:srgbClr val="172033"/>
                </a:solidFill>
                <a:latin typeface="Aptos Display"/>
                <a:ea typeface="Aptos Display"/>
                <a:cs typeface="Aptos Display"/>
              </a:defRPr>
            </a:pPr>
            <a:r>
              <a:rPr sz="3975" b="1">
                <a:solidFill>
                  <a:srgbClr val="172033"/>
                </a:solidFill>
                <a:latin typeface="Aptos Display"/>
                <a:ea typeface="Aptos Display"/>
                <a:cs typeface="Aptos Display"/>
              </a:rPr>
              <a:t>Why the problem is 3D</a:t>
            </a:r>
          </a:p>
        </p:txBody>
      </p:sp>
      <p:sp>
        <p:nvSpPr>
          <p:cNvPr id="55" name="">
            <a:extLst xmlns:a="http://schemas.openxmlformats.org/drawingml/2006/main">
              <a:ext uri="{FF2B5EF4-FFF2-40B4-BE49-F238E27FC236}">
                <a16:creationId xmlns:a16="http://schemas.microsoft.com/office/drawing/2014/main" id="{F7D2F72D-A6FD-4A63-9B4C-560BFBF08E9E}"/>
              </a:ext>
            </a:extLst>
          </p:cNvPr>
          <p:cNvSpPr>
            <a:spLocks xmlns:a="http://schemas.openxmlformats.org/drawingml/2006/main" noGrp="1"/>
          </p:cNvSpPr>
          <p:nvPr/>
        </p:nvSpPr>
        <p:spPr>
          <a:xfrm xmlns:a="http://schemas.openxmlformats.org/drawingml/2006/main" flipH="0" flipV="0">
            <a:off x="685800" y="9410700"/>
            <a:ext cx="83439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2563EB"/>
            </a:solidFill>
            <a:prstDash val="solid"/>
          </a:ln>
        </p:spPr>
      </p:sp>
      <p:sp>
        <p:nvSpPr>
          <p:cNvPr id="56" name="">
            <a:extLst xmlns:a="http://schemas.openxmlformats.org/drawingml/2006/main">
              <a:ext uri="{FF2B5EF4-FFF2-40B4-BE49-F238E27FC236}">
                <a16:creationId xmlns:a16="http://schemas.microsoft.com/office/drawing/2014/main" id="{DFC938F8-7A01-4199-B903-B9B63AF3899A}"/>
              </a:ext>
            </a:extLst>
          </p:cNvPr>
          <p:cNvSpPr>
            <a:spLocks xmlns:a="http://schemas.openxmlformats.org/drawingml/2006/main" noGrp="1"/>
          </p:cNvSpPr>
          <p:nvPr/>
        </p:nvSpPr>
        <p:spPr>
          <a:xfrm xmlns:a="http://schemas.openxmlformats.org/drawingml/2006/main">
            <a:off x="685800" y="9525000"/>
            <a:ext cx="8343900" cy="1885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75" b="0">
                <a:solidFill>
                  <a:srgbClr val="172033"/>
                </a:solidFill>
                <a:latin typeface="Aptos"/>
                <a:ea typeface="Aptos"/>
                <a:cs typeface="Aptos"/>
              </a:defRPr>
            </a:pPr>
            <a:r>
              <a:rPr sz="2475" b="0">
                <a:solidFill>
                  <a:srgbClr val="172033"/>
                </a:solidFill>
                <a:latin typeface="Aptos"/>
                <a:ea typeface="Aptos"/>
                <a:cs typeface="Aptos"/>
              </a:rPr>
              <a:t>Dense optical flow tells us how pixels move, but not which 3D points moved or in what direction. A single image-space displacement can be explained by many 3D motions, so every camera must be expressed in one coordinate system.</a:t>
            </a:r>
          </a:p>
        </p:txBody>
      </p:sp>
      <p:sp>
        <p:nvSpPr>
          <p:cNvPr id="57" name="">
            <a:extLst xmlns:a="http://schemas.openxmlformats.org/drawingml/2006/main">
              <a:ext uri="{FF2B5EF4-FFF2-40B4-BE49-F238E27FC236}">
                <a16:creationId xmlns:a16="http://schemas.microsoft.com/office/drawing/2014/main" id="{A2961E8D-4077-4421-B92D-0F4421BDBD73}"/>
              </a:ext>
            </a:extLst>
          </p:cNvPr>
          <p:cNvSpPr>
            <a:spLocks xmlns:a="http://schemas.openxmlformats.org/drawingml/2006/main" noGrp="1"/>
          </p:cNvSpPr>
          <p:nvPr/>
        </p:nvSpPr>
        <p:spPr>
          <a:xfrm xmlns:a="http://schemas.openxmlformats.org/drawingml/2006/main">
            <a:off x="685800" y="11572875"/>
            <a:ext cx="8343900" cy="4095750"/>
          </a:xfrm>
          <a:prstGeom xmlns:a="http://schemas.openxmlformats.org/drawingml/2006/main" prst="roundRect">
            <a:avLst>
              <a:gd name="adj" fmla="val 4186"/>
            </a:avLst>
          </a:prstGeom>
          <a:solidFill xmlns:a="http://schemas.openxmlformats.org/drawingml/2006/main">
            <a:srgbClr val="F7F9FC"/>
          </a:solidFill>
          <a:ln xmlns:a="http://schemas.openxmlformats.org/drawingml/2006/main" w="28575">
            <a:solidFill>
              <a:srgbClr val="2563EB"/>
            </a:solidFill>
            <a:prstDash val="dash"/>
          </a:ln>
        </p:spPr>
      </p:sp>
      <p:sp>
        <p:nvSpPr>
          <p:cNvPr id="58" name="">
            <a:extLst xmlns:a="http://schemas.openxmlformats.org/drawingml/2006/main">
              <a:ext uri="{FF2B5EF4-FFF2-40B4-BE49-F238E27FC236}">
                <a16:creationId xmlns:a16="http://schemas.microsoft.com/office/drawing/2014/main" id="{C356BA85-2C2C-416A-A86A-1258858CFE15}"/>
              </a:ext>
            </a:extLst>
          </p:cNvPr>
          <p:cNvSpPr>
            <a:spLocks xmlns:a="http://schemas.openxmlformats.org/drawingml/2006/main" noGrp="1"/>
          </p:cNvSpPr>
          <p:nvPr/>
        </p:nvSpPr>
        <p:spPr>
          <a:xfrm xmlns:a="http://schemas.openxmlformats.org/drawingml/2006/main">
            <a:off x="857250" y="11734800"/>
            <a:ext cx="1952625" cy="3810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9" name="">
            <a:extLst xmlns:a="http://schemas.openxmlformats.org/drawingml/2006/main">
              <a:ext uri="{FF2B5EF4-FFF2-40B4-BE49-F238E27FC236}">
                <a16:creationId xmlns:a16="http://schemas.microsoft.com/office/drawing/2014/main" id="{AABD92D8-7433-4226-8C87-54C47DAA2F17}"/>
              </a:ext>
            </a:extLst>
          </p:cNvPr>
          <p:cNvSpPr>
            <a:spLocks xmlns:a="http://schemas.openxmlformats.org/drawingml/2006/main" noGrp="1"/>
          </p:cNvSpPr>
          <p:nvPr/>
        </p:nvSpPr>
        <p:spPr>
          <a:xfrm xmlns:a="http://schemas.openxmlformats.org/drawingml/2006/main">
            <a:off x="876300" y="11744325"/>
            <a:ext cx="1914525" cy="352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1425" b="1">
                <a:solidFill>
                  <a:srgbClr val="FFFFFF"/>
                </a:solidFill>
                <a:latin typeface="Aptos"/>
                <a:ea typeface="Aptos"/>
                <a:cs typeface="Aptos"/>
              </a:defRPr>
            </a:pPr>
            <a:r>
              <a:rPr sz="1425" b="1">
                <a:solidFill>
                  <a:srgbClr val="FFFFFF"/>
                </a:solidFill>
                <a:latin typeface="Aptos"/>
                <a:ea typeface="Aptos"/>
                <a:cs typeface="Aptos"/>
              </a:rPr>
              <a:t>IMAGE PLACEHOLDER</a:t>
            </a:r>
          </a:p>
        </p:txBody>
      </p:sp>
      <p:sp>
        <p:nvSpPr>
          <p:cNvPr id="60" name="">
            <a:extLst xmlns:a="http://schemas.openxmlformats.org/drawingml/2006/main">
              <a:ext uri="{FF2B5EF4-FFF2-40B4-BE49-F238E27FC236}">
                <a16:creationId xmlns:a16="http://schemas.microsoft.com/office/drawing/2014/main" id="{C4545BDA-F10F-4E13-A183-BE0BF696851D}"/>
              </a:ext>
            </a:extLst>
          </p:cNvPr>
          <p:cNvSpPr>
            <a:spLocks xmlns:a="http://schemas.openxmlformats.org/drawingml/2006/main" noGrp="1"/>
          </p:cNvSpPr>
          <p:nvPr/>
        </p:nvSpPr>
        <p:spPr>
          <a:xfrm xmlns:a="http://schemas.openxmlformats.org/drawingml/2006/main">
            <a:off x="933450" y="12220575"/>
            <a:ext cx="7848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400" b="1">
                <a:solidFill>
                  <a:srgbClr val="172033"/>
                </a:solidFill>
                <a:latin typeface="Aptos"/>
                <a:ea typeface="Aptos"/>
                <a:cs typeface="Aptos"/>
              </a:defRPr>
            </a:pPr>
            <a:r>
              <a:rPr sz="2400" b="1">
                <a:solidFill>
                  <a:srgbClr val="172033"/>
                </a:solidFill>
                <a:latin typeface="Aptos"/>
                <a:ea typeface="Aptos"/>
                <a:cs typeface="Aptos"/>
              </a:rPr>
              <a:t>Sweep reconstruction + fixed cameras</a:t>
            </a:r>
          </a:p>
        </p:txBody>
      </p:sp>
      <p:sp>
        <p:nvSpPr>
          <p:cNvPr id="61" name="">
            <a:extLst xmlns:a="http://schemas.openxmlformats.org/drawingml/2006/main">
              <a:ext uri="{FF2B5EF4-FFF2-40B4-BE49-F238E27FC236}">
                <a16:creationId xmlns:a16="http://schemas.microsoft.com/office/drawing/2014/main" id="{8C495694-995E-4442-92BC-BCD1DAA5BDD1}"/>
              </a:ext>
            </a:extLst>
          </p:cNvPr>
          <p:cNvSpPr>
            <a:spLocks xmlns:a="http://schemas.openxmlformats.org/drawingml/2006/main" noGrp="1"/>
          </p:cNvSpPr>
          <p:nvPr/>
        </p:nvSpPr>
        <p:spPr>
          <a:xfrm xmlns:a="http://schemas.openxmlformats.org/drawingml/2006/main">
            <a:off x="876300" y="15201900"/>
            <a:ext cx="7962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0">
                <a:solidFill>
                  <a:srgbClr val="526174"/>
                </a:solidFill>
                <a:latin typeface="Aptos Mono"/>
                <a:ea typeface="Aptos Mono"/>
                <a:cs typeface="Aptos Mono"/>
              </a:defRPr>
            </a:pPr>
            <a:r>
              <a:rPr sz="1500" b="0">
                <a:solidFill>
                  <a:srgbClr val="526174"/>
                </a:solidFill>
                <a:latin typeface="Aptos Mono"/>
                <a:ea typeface="Aptos Mono"/>
                <a:cs typeface="Aptos Mono"/>
              </a:rPr>
              <a:t>bush_capture_and_cameras.png</a:t>
            </a:r>
          </a:p>
        </p:txBody>
      </p:sp>
      <p:sp>
        <p:nvSpPr>
          <p:cNvPr id="62" name="">
            <a:extLst xmlns:a="http://schemas.openxmlformats.org/drawingml/2006/main">
              <a:ext uri="{FF2B5EF4-FFF2-40B4-BE49-F238E27FC236}">
                <a16:creationId xmlns:a16="http://schemas.microsoft.com/office/drawing/2014/main" id="{F5C1E4CA-C0D6-440E-9853-FC2D05CB9F56}"/>
              </a:ext>
            </a:extLst>
          </p:cNvPr>
          <p:cNvSpPr>
            <a:spLocks xmlns:a="http://schemas.openxmlformats.org/drawingml/2006/main" noGrp="1"/>
          </p:cNvSpPr>
          <p:nvPr/>
        </p:nvSpPr>
        <p:spPr>
          <a:xfrm xmlns:a="http://schemas.openxmlformats.org/drawingml/2006/main">
            <a:off x="1590675" y="13211175"/>
            <a:ext cx="1809750" cy="1123950"/>
          </a:xfrm>
          <a:prstGeom xmlns:a="http://schemas.openxmlformats.org/drawingml/2006/main" prst="roundRect">
            <a:avLst>
              <a:gd name="adj" fmla="val 11864"/>
            </a:avLst>
          </a:prstGeom>
          <a:solidFill xmlns:a="http://schemas.openxmlformats.org/drawingml/2006/main">
            <a:srgbClr val="FFFFFF"/>
          </a:solidFill>
          <a:ln xmlns:a="http://schemas.openxmlformats.org/drawingml/2006/main" w="47625">
            <a:solidFill>
              <a:srgbClr val="2563EB"/>
            </a:solidFill>
            <a:prstDash val="solid"/>
          </a:ln>
        </p:spPr>
      </p:sp>
      <p:sp>
        <p:nvSpPr>
          <p:cNvPr id="63" name="">
            <a:extLst xmlns:a="http://schemas.openxmlformats.org/drawingml/2006/main">
              <a:ext uri="{FF2B5EF4-FFF2-40B4-BE49-F238E27FC236}">
                <a16:creationId xmlns:a16="http://schemas.microsoft.com/office/drawing/2014/main" id="{A8301151-0D81-4291-94DF-491330F87B07}"/>
              </a:ext>
            </a:extLst>
          </p:cNvPr>
          <p:cNvSpPr>
            <a:spLocks xmlns:a="http://schemas.openxmlformats.org/drawingml/2006/main" noGrp="1"/>
          </p:cNvSpPr>
          <p:nvPr/>
        </p:nvSpPr>
        <p:spPr>
          <a:xfrm xmlns:a="http://schemas.openxmlformats.org/drawingml/2006/main">
            <a:off x="1905000" y="12973050"/>
            <a:ext cx="685800" cy="323850"/>
          </a:xfrm>
          <a:prstGeom xmlns:a="http://schemas.openxmlformats.org/drawingml/2006/main" prst="roundRect">
            <a:avLst>
              <a:gd name="adj" fmla="val 23529"/>
            </a:avLst>
          </a:prstGeom>
          <a:solidFill xmlns:a="http://schemas.openxmlformats.org/drawingml/2006/main">
            <a:srgbClr val="2563EB"/>
          </a:solidFill>
          <a:ln xmlns:a="http://schemas.openxmlformats.org/drawingml/2006/main" w="0">
            <a:solidFill>
              <a:srgbClr val="2563EB"/>
            </a:solidFill>
            <a:prstDash val="solid"/>
          </a:ln>
        </p:spPr>
      </p:sp>
      <p:sp>
        <p:nvSpPr>
          <p:cNvPr id="64" name="">
            <a:extLst xmlns:a="http://schemas.openxmlformats.org/drawingml/2006/main">
              <a:ext uri="{FF2B5EF4-FFF2-40B4-BE49-F238E27FC236}">
                <a16:creationId xmlns:a16="http://schemas.microsoft.com/office/drawing/2014/main" id="{6B4A90AB-429D-40B3-8FC4-03AF73D8A88D}"/>
              </a:ext>
            </a:extLst>
          </p:cNvPr>
          <p:cNvSpPr>
            <a:spLocks xmlns:a="http://schemas.openxmlformats.org/drawingml/2006/main" noGrp="1"/>
          </p:cNvSpPr>
          <p:nvPr/>
        </p:nvSpPr>
        <p:spPr>
          <a:xfrm xmlns:a="http://schemas.openxmlformats.org/drawingml/2006/main">
            <a:off x="2114550" y="13373100"/>
            <a:ext cx="781050" cy="781050"/>
          </a:xfrm>
          <a:prstGeom xmlns:a="http://schemas.openxmlformats.org/drawingml/2006/main" prst="ellipse">
            <a:avLst/>
          </a:prstGeom>
          <a:solidFill xmlns:a="http://schemas.openxmlformats.org/drawingml/2006/main">
            <a:srgbClr val="EAF1FF"/>
          </a:solidFill>
          <a:ln xmlns:a="http://schemas.openxmlformats.org/drawingml/2006/main" w="57150">
            <a:solidFill>
              <a:srgbClr val="2563EB"/>
            </a:solidFill>
            <a:prstDash val="solid"/>
          </a:ln>
        </p:spPr>
      </p:sp>
      <p:sp>
        <p:nvSpPr>
          <p:cNvPr id="65" name="">
            <a:extLst xmlns:a="http://schemas.openxmlformats.org/drawingml/2006/main">
              <a:ext uri="{FF2B5EF4-FFF2-40B4-BE49-F238E27FC236}">
                <a16:creationId xmlns:a16="http://schemas.microsoft.com/office/drawing/2014/main" id="{DAC98B2A-EC13-41DD-B55D-073B45E53421}"/>
              </a:ext>
            </a:extLst>
          </p:cNvPr>
          <p:cNvSpPr>
            <a:spLocks xmlns:a="http://schemas.openxmlformats.org/drawingml/2006/main" noGrp="1"/>
          </p:cNvSpPr>
          <p:nvPr/>
        </p:nvSpPr>
        <p:spPr>
          <a:xfrm xmlns:a="http://schemas.openxmlformats.org/drawingml/2006/main" flipH="0" flipV="0">
            <a:off x="3638550" y="13763625"/>
            <a:ext cx="180975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2563EB"/>
            </a:solidFill>
            <a:prstDash val="solid"/>
          </a:ln>
        </p:spPr>
      </p:sp>
      <p:sp>
        <p:nvSpPr>
          <p:cNvPr id="66" name="">
            <a:extLst xmlns:a="http://schemas.openxmlformats.org/drawingml/2006/main">
              <a:ext uri="{FF2B5EF4-FFF2-40B4-BE49-F238E27FC236}">
                <a16:creationId xmlns:a16="http://schemas.microsoft.com/office/drawing/2014/main" id="{0C415B5E-8C7D-4572-A8F3-22A1E08441D6}"/>
              </a:ext>
            </a:extLst>
          </p:cNvPr>
          <p:cNvSpPr>
            <a:spLocks xmlns:a="http://schemas.openxmlformats.org/drawingml/2006/main" noGrp="1"/>
          </p:cNvSpPr>
          <p:nvPr/>
        </p:nvSpPr>
        <p:spPr>
          <a:xfrm xmlns:a="http://schemas.openxmlformats.org/drawingml/2006/main">
            <a:off x="5162550" y="13458825"/>
            <a:ext cx="571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450" b="1">
                <a:solidFill>
                  <a:srgbClr val="2563EB"/>
                </a:solidFill>
                <a:latin typeface="Aptos"/>
                <a:ea typeface="Aptos"/>
                <a:cs typeface="Aptos"/>
              </a:defRPr>
            </a:pPr>
            <a:r>
              <a:rPr sz="3450" b="1">
                <a:solidFill>
                  <a:srgbClr val="2563EB"/>
                </a:solidFill>
                <a:latin typeface="Aptos"/>
                <a:ea typeface="Aptos"/>
                <a:cs typeface="Aptos"/>
              </a:rPr>
              <a:t>→</a:t>
            </a:r>
          </a:p>
        </p:txBody>
      </p:sp>
      <p:sp>
        <p:nvSpPr>
          <p:cNvPr id="67" name="">
            <a:extLst xmlns:a="http://schemas.openxmlformats.org/drawingml/2006/main">
              <a:ext uri="{FF2B5EF4-FFF2-40B4-BE49-F238E27FC236}">
                <a16:creationId xmlns:a16="http://schemas.microsoft.com/office/drawing/2014/main" id="{621684C2-015C-4C7F-8BF0-164AC173B4DE}"/>
              </a:ext>
            </a:extLst>
          </p:cNvPr>
          <p:cNvSpPr>
            <a:spLocks xmlns:a="http://schemas.openxmlformats.org/drawingml/2006/main" noGrp="1"/>
          </p:cNvSpPr>
          <p:nvPr/>
        </p:nvSpPr>
        <p:spPr>
          <a:xfrm xmlns:a="http://schemas.openxmlformats.org/drawingml/2006/main">
            <a:off x="5876925" y="13068300"/>
            <a:ext cx="1476375"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38100">
            <a:solidFill>
              <a:srgbClr val="2563EB"/>
            </a:solidFill>
            <a:prstDash val="solid"/>
          </a:ln>
        </p:spPr>
      </p:sp>
      <p:sp>
        <p:nvSpPr>
          <p:cNvPr id="68" name="">
            <a:extLst xmlns:a="http://schemas.openxmlformats.org/drawingml/2006/main">
              <a:ext uri="{FF2B5EF4-FFF2-40B4-BE49-F238E27FC236}">
                <a16:creationId xmlns:a16="http://schemas.microsoft.com/office/drawing/2014/main" id="{F8C14417-7735-4E03-94B3-2E28F7DC2E8B}"/>
              </a:ext>
            </a:extLst>
          </p:cNvPr>
          <p:cNvSpPr>
            <a:spLocks xmlns:a="http://schemas.openxmlformats.org/drawingml/2006/main" noGrp="1"/>
          </p:cNvSpPr>
          <p:nvPr/>
        </p:nvSpPr>
        <p:spPr>
          <a:xfrm xmlns:a="http://schemas.openxmlformats.org/drawingml/2006/main">
            <a:off x="6124575" y="13477875"/>
            <a:ext cx="400050" cy="400050"/>
          </a:xfrm>
          <a:prstGeom xmlns:a="http://schemas.openxmlformats.org/drawingml/2006/main" prst="ellipse">
            <a:avLst/>
          </a:prstGeom>
          <a:solidFill xmlns:a="http://schemas.openxmlformats.org/drawingml/2006/main">
            <a:srgbClr val="2563EB"/>
          </a:solidFill>
          <a:ln xmlns:a="http://schemas.openxmlformats.org/drawingml/2006/main" w="19050">
            <a:solidFill>
              <a:srgbClr val="FFFFFF"/>
            </a:solidFill>
            <a:prstDash val="solid"/>
          </a:ln>
        </p:spPr>
      </p:sp>
      <p:sp>
        <p:nvSpPr>
          <p:cNvPr id="69" name="">
            <a:extLst xmlns:a="http://schemas.openxmlformats.org/drawingml/2006/main">
              <a:ext uri="{FF2B5EF4-FFF2-40B4-BE49-F238E27FC236}">
                <a16:creationId xmlns:a16="http://schemas.microsoft.com/office/drawing/2014/main" id="{88CB348F-1975-42A8-95C1-A567B0E1CD9A}"/>
              </a:ext>
            </a:extLst>
          </p:cNvPr>
          <p:cNvSpPr>
            <a:spLocks xmlns:a="http://schemas.openxmlformats.org/drawingml/2006/main" noGrp="1"/>
          </p:cNvSpPr>
          <p:nvPr/>
        </p:nvSpPr>
        <p:spPr>
          <a:xfrm xmlns:a="http://schemas.openxmlformats.org/drawingml/2006/main">
            <a:off x="6477000" y="13725525"/>
            <a:ext cx="400050" cy="400050"/>
          </a:xfrm>
          <a:prstGeom xmlns:a="http://schemas.openxmlformats.org/drawingml/2006/main" prst="ellipse">
            <a:avLst/>
          </a:prstGeom>
          <a:solidFill xmlns:a="http://schemas.openxmlformats.org/drawingml/2006/main">
            <a:srgbClr val="0F9D8A"/>
          </a:solidFill>
          <a:ln xmlns:a="http://schemas.openxmlformats.org/drawingml/2006/main" w="19050">
            <a:solidFill>
              <a:srgbClr val="FFFFFF"/>
            </a:solidFill>
            <a:prstDash val="solid"/>
          </a:ln>
        </p:spPr>
      </p:sp>
      <p:sp>
        <p:nvSpPr>
          <p:cNvPr id="70" name="">
            <a:extLst xmlns:a="http://schemas.openxmlformats.org/drawingml/2006/main">
              <a:ext uri="{FF2B5EF4-FFF2-40B4-BE49-F238E27FC236}">
                <a16:creationId xmlns:a16="http://schemas.microsoft.com/office/drawing/2014/main" id="{CA44BE38-0220-40A2-BE69-9463497A4276}"/>
              </a:ext>
            </a:extLst>
          </p:cNvPr>
          <p:cNvSpPr>
            <a:spLocks xmlns:a="http://schemas.openxmlformats.org/drawingml/2006/main" noGrp="1"/>
          </p:cNvSpPr>
          <p:nvPr/>
        </p:nvSpPr>
        <p:spPr>
          <a:xfrm xmlns:a="http://schemas.openxmlformats.org/drawingml/2006/main">
            <a:off x="6829425" y="13477875"/>
            <a:ext cx="400050" cy="400050"/>
          </a:xfrm>
          <a:prstGeom xmlns:a="http://schemas.openxmlformats.org/drawingml/2006/main" prst="ellipse">
            <a:avLst/>
          </a:prstGeom>
          <a:solidFill xmlns:a="http://schemas.openxmlformats.org/drawingml/2006/main">
            <a:srgbClr val="F59E0B"/>
          </a:solidFill>
          <a:ln xmlns:a="http://schemas.openxmlformats.org/drawingml/2006/main" w="19050">
            <a:solidFill>
              <a:srgbClr val="FFFFFF"/>
            </a:solidFill>
            <a:prstDash val="solid"/>
          </a:ln>
        </p:spPr>
      </p:sp>
      <p:sp>
        <p:nvSpPr>
          <p:cNvPr id="71" name="">
            <a:extLst xmlns:a="http://schemas.openxmlformats.org/drawingml/2006/main">
              <a:ext uri="{FF2B5EF4-FFF2-40B4-BE49-F238E27FC236}">
                <a16:creationId xmlns:a16="http://schemas.microsoft.com/office/drawing/2014/main" id="{34872410-A788-48C8-9B6C-5B3862902234}"/>
              </a:ext>
            </a:extLst>
          </p:cNvPr>
          <p:cNvSpPr>
            <a:spLocks xmlns:a="http://schemas.openxmlformats.org/drawingml/2006/main" noGrp="1"/>
          </p:cNvSpPr>
          <p:nvPr/>
        </p:nvSpPr>
        <p:spPr>
          <a:xfrm xmlns:a="http://schemas.openxmlformats.org/drawingml/2006/main">
            <a:off x="685800" y="16040100"/>
            <a:ext cx="514350" cy="514350"/>
          </a:xfrm>
          <a:prstGeom xmlns:a="http://schemas.openxmlformats.org/drawingml/2006/main" prst="roundRect">
            <a:avLst>
              <a:gd name="adj" fmla="val 50000"/>
            </a:avLst>
          </a:prstGeom>
          <a:solidFill xmlns:a="http://schemas.openxmlformats.org/drawingml/2006/main">
            <a:srgbClr val="0F9D8A"/>
          </a:solidFill>
          <a:ln xmlns:a="http://schemas.openxmlformats.org/drawingml/2006/main" w="0">
            <a:solidFill>
              <a:srgbClr val="0F9D8A"/>
            </a:solidFill>
            <a:prstDash val="solid"/>
          </a:ln>
        </p:spPr>
      </p:sp>
      <p:sp>
        <p:nvSpPr>
          <p:cNvPr id="72" name="">
            <a:extLst xmlns:a="http://schemas.openxmlformats.org/drawingml/2006/main">
              <a:ext uri="{FF2B5EF4-FFF2-40B4-BE49-F238E27FC236}">
                <a16:creationId xmlns:a16="http://schemas.microsoft.com/office/drawing/2014/main" id="{5A2C061B-CDA7-4CD3-9049-230B4326CC12}"/>
              </a:ext>
            </a:extLst>
          </p:cNvPr>
          <p:cNvSpPr>
            <a:spLocks xmlns:a="http://schemas.openxmlformats.org/drawingml/2006/main" noGrp="1"/>
          </p:cNvSpPr>
          <p:nvPr/>
        </p:nvSpPr>
        <p:spPr>
          <a:xfrm xmlns:a="http://schemas.openxmlformats.org/drawingml/2006/main">
            <a:off x="685800" y="16030575"/>
            <a:ext cx="5143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FFFFFF"/>
                </a:solidFill>
                <a:latin typeface="Aptos"/>
                <a:ea typeface="Aptos"/>
                <a:cs typeface="Aptos"/>
              </a:defRPr>
            </a:pPr>
            <a:r>
              <a:rPr sz="2250" b="1">
                <a:solidFill>
                  <a:srgbClr val="FFFFFF"/>
                </a:solidFill>
                <a:latin typeface="Aptos"/>
                <a:ea typeface="Aptos"/>
                <a:cs typeface="Aptos"/>
              </a:rPr>
              <a:t>2</a:t>
            </a:r>
          </a:p>
        </p:txBody>
      </p:sp>
      <p:sp>
        <p:nvSpPr>
          <p:cNvPr id="73" name="">
            <a:extLst xmlns:a="http://schemas.openxmlformats.org/drawingml/2006/main">
              <a:ext uri="{FF2B5EF4-FFF2-40B4-BE49-F238E27FC236}">
                <a16:creationId xmlns:a16="http://schemas.microsoft.com/office/drawing/2014/main" id="{260453B0-837E-48BD-8A45-07E6762FD67C}"/>
              </a:ext>
            </a:extLst>
          </p:cNvPr>
          <p:cNvSpPr>
            <a:spLocks xmlns:a="http://schemas.openxmlformats.org/drawingml/2006/main" noGrp="1"/>
          </p:cNvSpPr>
          <p:nvPr/>
        </p:nvSpPr>
        <p:spPr>
          <a:xfrm xmlns:a="http://schemas.openxmlformats.org/drawingml/2006/main">
            <a:off x="1371600" y="16002000"/>
            <a:ext cx="76581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975" b="1">
                <a:solidFill>
                  <a:srgbClr val="172033"/>
                </a:solidFill>
                <a:latin typeface="Aptos Display"/>
                <a:ea typeface="Aptos Display"/>
                <a:cs typeface="Aptos Display"/>
              </a:defRPr>
            </a:pPr>
            <a:r>
              <a:rPr sz="3975" b="1">
                <a:solidFill>
                  <a:srgbClr val="172033"/>
                </a:solidFill>
                <a:latin typeface="Aptos Display"/>
                <a:ea typeface="Aptos Display"/>
                <a:cs typeface="Aptos Display"/>
              </a:rPr>
              <a:t>A shared static scene</a:t>
            </a:r>
          </a:p>
        </p:txBody>
      </p:sp>
      <p:sp>
        <p:nvSpPr>
          <p:cNvPr id="74" name="">
            <a:extLst xmlns:a="http://schemas.openxmlformats.org/drawingml/2006/main">
              <a:ext uri="{FF2B5EF4-FFF2-40B4-BE49-F238E27FC236}">
                <a16:creationId xmlns:a16="http://schemas.microsoft.com/office/drawing/2014/main" id="{EFA30829-547B-4BB5-A384-FB8CB9032278}"/>
              </a:ext>
            </a:extLst>
          </p:cNvPr>
          <p:cNvSpPr>
            <a:spLocks xmlns:a="http://schemas.openxmlformats.org/drawingml/2006/main" noGrp="1"/>
          </p:cNvSpPr>
          <p:nvPr/>
        </p:nvSpPr>
        <p:spPr>
          <a:xfrm xmlns:a="http://schemas.openxmlformats.org/drawingml/2006/main" flipH="0" flipV="0">
            <a:off x="685800" y="16649700"/>
            <a:ext cx="83439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0F9D8A"/>
            </a:solidFill>
            <a:prstDash val="solid"/>
          </a:ln>
        </p:spPr>
      </p:sp>
      <p:sp>
        <p:nvSpPr>
          <p:cNvPr id="75" name="">
            <a:extLst xmlns:a="http://schemas.openxmlformats.org/drawingml/2006/main">
              <a:ext uri="{FF2B5EF4-FFF2-40B4-BE49-F238E27FC236}">
                <a16:creationId xmlns:a16="http://schemas.microsoft.com/office/drawing/2014/main" id="{A6650B1D-C634-4C56-9878-497966407EBB}"/>
              </a:ext>
            </a:extLst>
          </p:cNvPr>
          <p:cNvSpPr>
            <a:spLocks xmlns:a="http://schemas.openxmlformats.org/drawingml/2006/main" noGrp="1"/>
          </p:cNvSpPr>
          <p:nvPr/>
        </p:nvSpPr>
        <p:spPr>
          <a:xfrm xmlns:a="http://schemas.openxmlformats.org/drawingml/2006/main">
            <a:off x="685800" y="16764000"/>
            <a:ext cx="8343900" cy="1714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75" b="0">
                <a:solidFill>
                  <a:srgbClr val="172033"/>
                </a:solidFill>
                <a:latin typeface="Aptos"/>
                <a:ea typeface="Aptos"/>
                <a:cs typeface="Aptos"/>
              </a:defRPr>
            </a:pPr>
            <a:r>
              <a:rPr sz="2475" b="0">
                <a:solidFill>
                  <a:srgbClr val="172033"/>
                </a:solidFill>
                <a:latin typeface="Aptos"/>
                <a:ea typeface="Aptos"/>
                <a:cs typeface="Aptos"/>
              </a:rPr>
              <a:t>We jointly run COLMAP on sweep frames and one reference image from each fixed camera. The registered sweep reconstructs the static scene; the reference images place all observation cameras in that same world frame.</a:t>
            </a:r>
          </a:p>
        </p:txBody>
      </p:sp>
      <p:sp>
        <p:nvSpPr>
          <p:cNvPr id="76" name="">
            <a:extLst xmlns:a="http://schemas.openxmlformats.org/drawingml/2006/main">
              <a:ext uri="{FF2B5EF4-FFF2-40B4-BE49-F238E27FC236}">
                <a16:creationId xmlns:a16="http://schemas.microsoft.com/office/drawing/2014/main" id="{FC7520A9-033D-4AA1-AC5E-28A503282A80}"/>
              </a:ext>
            </a:extLst>
          </p:cNvPr>
          <p:cNvSpPr>
            <a:spLocks xmlns:a="http://schemas.openxmlformats.org/drawingml/2006/main" noGrp="1"/>
          </p:cNvSpPr>
          <p:nvPr/>
        </p:nvSpPr>
        <p:spPr>
          <a:xfrm xmlns:a="http://schemas.openxmlformats.org/drawingml/2006/main">
            <a:off x="685800" y="18669000"/>
            <a:ext cx="8343900" cy="4333875"/>
          </a:xfrm>
          <a:prstGeom xmlns:a="http://schemas.openxmlformats.org/drawingml/2006/main" prst="roundRect">
            <a:avLst>
              <a:gd name="adj" fmla="val 3956"/>
            </a:avLst>
          </a:prstGeom>
          <a:solidFill xmlns:a="http://schemas.openxmlformats.org/drawingml/2006/main">
            <a:srgbClr val="F7F9FC"/>
          </a:solidFill>
          <a:ln xmlns:a="http://schemas.openxmlformats.org/drawingml/2006/main" w="28575">
            <a:solidFill>
              <a:srgbClr val="0F9D8A"/>
            </a:solidFill>
            <a:prstDash val="dash"/>
          </a:ln>
        </p:spPr>
      </p:sp>
      <p:sp>
        <p:nvSpPr>
          <p:cNvPr id="77" name="">
            <a:extLst xmlns:a="http://schemas.openxmlformats.org/drawingml/2006/main">
              <a:ext uri="{FF2B5EF4-FFF2-40B4-BE49-F238E27FC236}">
                <a16:creationId xmlns:a16="http://schemas.microsoft.com/office/drawing/2014/main" id="{3548A527-9C88-44E5-BBDB-0398A41D0485}"/>
              </a:ext>
            </a:extLst>
          </p:cNvPr>
          <p:cNvSpPr>
            <a:spLocks xmlns:a="http://schemas.openxmlformats.org/drawingml/2006/main" noGrp="1"/>
          </p:cNvSpPr>
          <p:nvPr/>
        </p:nvSpPr>
        <p:spPr>
          <a:xfrm xmlns:a="http://schemas.openxmlformats.org/drawingml/2006/main">
            <a:off x="857250" y="18830925"/>
            <a:ext cx="1952625" cy="381000"/>
          </a:xfrm>
          <a:prstGeom xmlns:a="http://schemas.openxmlformats.org/drawingml/2006/main" prst="roundRect">
            <a:avLst>
              <a:gd name="adj" fmla="val 50000"/>
            </a:avLst>
          </a:prstGeom>
          <a:solidFill xmlns:a="http://schemas.openxmlformats.org/drawingml/2006/main">
            <a:srgbClr val="0F9D8A"/>
          </a:solidFill>
          <a:ln xmlns:a="http://schemas.openxmlformats.org/drawingml/2006/main" w="0">
            <a:solidFill>
              <a:srgbClr val="0F9D8A"/>
            </a:solidFill>
            <a:prstDash val="solid"/>
          </a:ln>
        </p:spPr>
      </p:sp>
      <p:sp>
        <p:nvSpPr>
          <p:cNvPr id="78" name="">
            <a:extLst xmlns:a="http://schemas.openxmlformats.org/drawingml/2006/main">
              <a:ext uri="{FF2B5EF4-FFF2-40B4-BE49-F238E27FC236}">
                <a16:creationId xmlns:a16="http://schemas.microsoft.com/office/drawing/2014/main" id="{454233D9-68EA-431B-A179-AF7C8171088C}"/>
              </a:ext>
            </a:extLst>
          </p:cNvPr>
          <p:cNvSpPr>
            <a:spLocks xmlns:a="http://schemas.openxmlformats.org/drawingml/2006/main" noGrp="1"/>
          </p:cNvSpPr>
          <p:nvPr/>
        </p:nvSpPr>
        <p:spPr>
          <a:xfrm xmlns:a="http://schemas.openxmlformats.org/drawingml/2006/main">
            <a:off x="876300" y="18840450"/>
            <a:ext cx="1914525" cy="352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1425" b="1">
                <a:solidFill>
                  <a:srgbClr val="FFFFFF"/>
                </a:solidFill>
                <a:latin typeface="Aptos"/>
                <a:ea typeface="Aptos"/>
                <a:cs typeface="Aptos"/>
              </a:defRPr>
            </a:pPr>
            <a:r>
              <a:rPr sz="1425" b="1">
                <a:solidFill>
                  <a:srgbClr val="FFFFFF"/>
                </a:solidFill>
                <a:latin typeface="Aptos"/>
                <a:ea typeface="Aptos"/>
                <a:cs typeface="Aptos"/>
              </a:rPr>
              <a:t>IMAGE PLACEHOLDER</a:t>
            </a:r>
          </a:p>
        </p:txBody>
      </p:sp>
      <p:sp>
        <p:nvSpPr>
          <p:cNvPr id="79" name="">
            <a:extLst xmlns:a="http://schemas.openxmlformats.org/drawingml/2006/main">
              <a:ext uri="{FF2B5EF4-FFF2-40B4-BE49-F238E27FC236}">
                <a16:creationId xmlns:a16="http://schemas.microsoft.com/office/drawing/2014/main" id="{B217BF67-0678-43FE-8746-D82A75530456}"/>
              </a:ext>
            </a:extLst>
          </p:cNvPr>
          <p:cNvSpPr>
            <a:spLocks xmlns:a="http://schemas.openxmlformats.org/drawingml/2006/main" noGrp="1"/>
          </p:cNvSpPr>
          <p:nvPr/>
        </p:nvSpPr>
        <p:spPr>
          <a:xfrm xmlns:a="http://schemas.openxmlformats.org/drawingml/2006/main">
            <a:off x="933450" y="19316700"/>
            <a:ext cx="7848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400" b="1">
                <a:solidFill>
                  <a:srgbClr val="172033"/>
                </a:solidFill>
                <a:latin typeface="Aptos"/>
                <a:ea typeface="Aptos"/>
                <a:cs typeface="Aptos"/>
              </a:defRPr>
            </a:pPr>
            <a:r>
              <a:rPr sz="2400" b="1">
                <a:solidFill>
                  <a:srgbClr val="172033"/>
                </a:solidFill>
                <a:latin typeface="Aptos"/>
                <a:ea typeface="Aptos"/>
                <a:cs typeface="Aptos"/>
              </a:rPr>
              <a:t>Static Bush 3D Gaussian model</a:t>
            </a:r>
          </a:p>
        </p:txBody>
      </p:sp>
      <p:sp>
        <p:nvSpPr>
          <p:cNvPr id="80" name="">
            <a:extLst xmlns:a="http://schemas.openxmlformats.org/drawingml/2006/main">
              <a:ext uri="{FF2B5EF4-FFF2-40B4-BE49-F238E27FC236}">
                <a16:creationId xmlns:a16="http://schemas.microsoft.com/office/drawing/2014/main" id="{FE681CBA-56C3-4C2E-A9AC-9048B401E0A1}"/>
              </a:ext>
            </a:extLst>
          </p:cNvPr>
          <p:cNvSpPr>
            <a:spLocks xmlns:a="http://schemas.openxmlformats.org/drawingml/2006/main" noGrp="1"/>
          </p:cNvSpPr>
          <p:nvPr/>
        </p:nvSpPr>
        <p:spPr>
          <a:xfrm xmlns:a="http://schemas.openxmlformats.org/drawingml/2006/main">
            <a:off x="876300" y="22536150"/>
            <a:ext cx="7962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0">
                <a:solidFill>
                  <a:srgbClr val="526174"/>
                </a:solidFill>
                <a:latin typeface="Aptos Mono"/>
                <a:ea typeface="Aptos Mono"/>
                <a:cs typeface="Aptos Mono"/>
              </a:defRPr>
            </a:pPr>
            <a:r>
              <a:rPr sz="1500" b="0">
                <a:solidFill>
                  <a:srgbClr val="526174"/>
                </a:solidFill>
                <a:latin typeface="Aptos Mono"/>
                <a:ea typeface="Aptos Mono"/>
                <a:cs typeface="Aptos Mono"/>
              </a:rPr>
              <a:t>bush_static_3dgs.png</a:t>
            </a:r>
          </a:p>
        </p:txBody>
      </p:sp>
      <p:sp>
        <p:nvSpPr>
          <p:cNvPr id="81" name="">
            <a:extLst xmlns:a="http://schemas.openxmlformats.org/drawingml/2006/main">
              <a:ext uri="{FF2B5EF4-FFF2-40B4-BE49-F238E27FC236}">
                <a16:creationId xmlns:a16="http://schemas.microsoft.com/office/drawing/2014/main" id="{610DD42E-A4ED-48A3-B2A5-839E6D942964}"/>
              </a:ext>
            </a:extLst>
          </p:cNvPr>
          <p:cNvSpPr>
            <a:spLocks xmlns:a="http://schemas.openxmlformats.org/drawingml/2006/main" noGrp="1"/>
          </p:cNvSpPr>
          <p:nvPr/>
        </p:nvSpPr>
        <p:spPr>
          <a:xfrm xmlns:a="http://schemas.openxmlformats.org/drawingml/2006/main" rot="-1080000">
            <a:off x="3143250" y="20454938"/>
            <a:ext cx="1666875" cy="666750"/>
          </a:xfrm>
          <a:prstGeom xmlns:a="http://schemas.openxmlformats.org/drawingml/2006/main" prst="ellipse">
            <a:avLst/>
          </a:prstGeom>
          <a:solidFill xmlns:a="http://schemas.openxmlformats.org/drawingml/2006/main">
            <a:srgbClr val="2563EB">
              <a:alpha val="66667"/>
            </a:srgbClr>
          </a:solidFill>
          <a:ln xmlns:a="http://schemas.openxmlformats.org/drawingml/2006/main" w="28575">
            <a:solidFill>
              <a:srgbClr val="2563EB"/>
            </a:solidFill>
            <a:prstDash val="solid"/>
          </a:ln>
        </p:spPr>
      </p:sp>
      <p:sp>
        <p:nvSpPr>
          <p:cNvPr id="82" name="">
            <a:extLst xmlns:a="http://schemas.openxmlformats.org/drawingml/2006/main">
              <a:ext uri="{FF2B5EF4-FFF2-40B4-BE49-F238E27FC236}">
                <a16:creationId xmlns:a16="http://schemas.microsoft.com/office/drawing/2014/main" id="{3659F097-8DC1-43F7-A70A-1D40C1825D57}"/>
              </a:ext>
            </a:extLst>
          </p:cNvPr>
          <p:cNvSpPr>
            <a:spLocks xmlns:a="http://schemas.openxmlformats.org/drawingml/2006/main" noGrp="1"/>
          </p:cNvSpPr>
          <p:nvPr/>
        </p:nvSpPr>
        <p:spPr>
          <a:xfrm xmlns:a="http://schemas.openxmlformats.org/drawingml/2006/main" rot="960000">
            <a:off x="4191000" y="20073938"/>
            <a:ext cx="2000250" cy="762000"/>
          </a:xfrm>
          <a:prstGeom xmlns:a="http://schemas.openxmlformats.org/drawingml/2006/main" prst="ellipse">
            <a:avLst/>
          </a:prstGeom>
          <a:solidFill xmlns:a="http://schemas.openxmlformats.org/drawingml/2006/main">
            <a:srgbClr val="0F9D8A">
              <a:alpha val="66667"/>
            </a:srgbClr>
          </a:solidFill>
          <a:ln xmlns:a="http://schemas.openxmlformats.org/drawingml/2006/main" w="28575">
            <a:solidFill>
              <a:srgbClr val="0F9D8A"/>
            </a:solidFill>
            <a:prstDash val="solid"/>
          </a:ln>
        </p:spPr>
      </p:sp>
      <p:sp>
        <p:nvSpPr>
          <p:cNvPr id="83" name="">
            <a:extLst xmlns:a="http://schemas.openxmlformats.org/drawingml/2006/main">
              <a:ext uri="{FF2B5EF4-FFF2-40B4-BE49-F238E27FC236}">
                <a16:creationId xmlns:a16="http://schemas.microsoft.com/office/drawing/2014/main" id="{74F076FF-FF32-413A-ABF6-B25B73943372}"/>
              </a:ext>
            </a:extLst>
          </p:cNvPr>
          <p:cNvSpPr>
            <a:spLocks xmlns:a="http://schemas.openxmlformats.org/drawingml/2006/main" noGrp="1"/>
          </p:cNvSpPr>
          <p:nvPr/>
        </p:nvSpPr>
        <p:spPr>
          <a:xfrm xmlns:a="http://schemas.openxmlformats.org/drawingml/2006/main" rot="-480000">
            <a:off x="5381625" y="20597813"/>
            <a:ext cx="1619250" cy="638175"/>
          </a:xfrm>
          <a:prstGeom xmlns:a="http://schemas.openxmlformats.org/drawingml/2006/main" prst="ellipse">
            <a:avLst/>
          </a:prstGeom>
          <a:solidFill xmlns:a="http://schemas.openxmlformats.org/drawingml/2006/main">
            <a:srgbClr val="F59E0B">
              <a:alpha val="66667"/>
            </a:srgbClr>
          </a:solidFill>
          <a:ln xmlns:a="http://schemas.openxmlformats.org/drawingml/2006/main" w="28575">
            <a:solidFill>
              <a:srgbClr val="F59E0B"/>
            </a:solidFill>
            <a:prstDash val="solid"/>
          </a:ln>
        </p:spPr>
      </p:sp>
      <p:sp>
        <p:nvSpPr>
          <p:cNvPr id="84" name="">
            <a:extLst xmlns:a="http://schemas.openxmlformats.org/drawingml/2006/main">
              <a:ext uri="{FF2B5EF4-FFF2-40B4-BE49-F238E27FC236}">
                <a16:creationId xmlns:a16="http://schemas.microsoft.com/office/drawing/2014/main" id="{C6F47EDB-F33D-4076-9315-4B5403E85696}"/>
              </a:ext>
            </a:extLst>
          </p:cNvPr>
          <p:cNvSpPr>
            <a:spLocks xmlns:a="http://schemas.openxmlformats.org/drawingml/2006/main" noGrp="1"/>
          </p:cNvSpPr>
          <p:nvPr/>
        </p:nvSpPr>
        <p:spPr>
          <a:xfrm xmlns:a="http://schemas.openxmlformats.org/drawingml/2006/main" rot="1440000">
            <a:off x="3667125" y="21312188"/>
            <a:ext cx="1905000" cy="695325"/>
          </a:xfrm>
          <a:prstGeom xmlns:a="http://schemas.openxmlformats.org/drawingml/2006/main" prst="ellipse">
            <a:avLst/>
          </a:prstGeom>
          <a:solidFill xmlns:a="http://schemas.openxmlformats.org/drawingml/2006/main">
            <a:srgbClr val="7C3AED">
              <a:alpha val="66667"/>
            </a:srgbClr>
          </a:solidFill>
          <a:ln xmlns:a="http://schemas.openxmlformats.org/drawingml/2006/main" w="28575">
            <a:solidFill>
              <a:srgbClr val="7C3AED"/>
            </a:solidFill>
            <a:prstDash val="solid"/>
          </a:ln>
        </p:spPr>
      </p:sp>
      <p:sp>
        <p:nvSpPr>
          <p:cNvPr id="85" name="">
            <a:extLst xmlns:a="http://schemas.openxmlformats.org/drawingml/2006/main">
              <a:ext uri="{FF2B5EF4-FFF2-40B4-BE49-F238E27FC236}">
                <a16:creationId xmlns:a16="http://schemas.microsoft.com/office/drawing/2014/main" id="{ADB77E70-E8BC-4AD2-8875-E4CB56AA5855}"/>
              </a:ext>
            </a:extLst>
          </p:cNvPr>
          <p:cNvSpPr>
            <a:spLocks xmlns:a="http://schemas.openxmlformats.org/drawingml/2006/main" noGrp="1"/>
          </p:cNvSpPr>
          <p:nvPr/>
        </p:nvSpPr>
        <p:spPr>
          <a:xfrm xmlns:a="http://schemas.openxmlformats.org/drawingml/2006/main" rot="-1200000">
            <a:off x="5143500" y="21455063"/>
            <a:ext cx="1952625" cy="742950"/>
          </a:xfrm>
          <a:prstGeom xmlns:a="http://schemas.openxmlformats.org/drawingml/2006/main" prst="ellipse">
            <a:avLst/>
          </a:prstGeom>
          <a:solidFill xmlns:a="http://schemas.openxmlformats.org/drawingml/2006/main">
            <a:srgbClr val="DB2777">
              <a:alpha val="66667"/>
            </a:srgbClr>
          </a:solidFill>
          <a:ln xmlns:a="http://schemas.openxmlformats.org/drawingml/2006/main" w="28575">
            <a:solidFill>
              <a:srgbClr val="DB2777"/>
            </a:solidFill>
            <a:prstDash val="solid"/>
          </a:ln>
        </p:spPr>
      </p:sp>
      <p:sp>
        <p:nvSpPr>
          <p:cNvPr id="86" name="">
            <a:extLst xmlns:a="http://schemas.openxmlformats.org/drawingml/2006/main">
              <a:ext uri="{FF2B5EF4-FFF2-40B4-BE49-F238E27FC236}">
                <a16:creationId xmlns:a16="http://schemas.microsoft.com/office/drawing/2014/main" id="{6CA96FEB-70B7-46EB-B78F-3FD4CD17150B}"/>
              </a:ext>
            </a:extLst>
          </p:cNvPr>
          <p:cNvSpPr>
            <a:spLocks xmlns:a="http://schemas.openxmlformats.org/drawingml/2006/main" noGrp="1"/>
          </p:cNvSpPr>
          <p:nvPr/>
        </p:nvSpPr>
        <p:spPr>
          <a:xfrm xmlns:a="http://schemas.openxmlformats.org/drawingml/2006/main" rot="420000">
            <a:off x="4714875" y="20978813"/>
            <a:ext cx="1285875" cy="523875"/>
          </a:xfrm>
          <a:prstGeom xmlns:a="http://schemas.openxmlformats.org/drawingml/2006/main" prst="ellipse">
            <a:avLst/>
          </a:prstGeom>
          <a:solidFill xmlns:a="http://schemas.openxmlformats.org/drawingml/2006/main">
            <a:srgbClr val="22C55E">
              <a:alpha val="66667"/>
            </a:srgbClr>
          </a:solidFill>
          <a:ln xmlns:a="http://schemas.openxmlformats.org/drawingml/2006/main" w="28575">
            <a:solidFill>
              <a:srgbClr val="22C55E"/>
            </a:solidFill>
            <a:prstDash val="solid"/>
          </a:ln>
        </p:spPr>
      </p:sp>
      <p:sp>
        <p:nvSpPr>
          <p:cNvPr id="87" name="">
            <a:extLst xmlns:a="http://schemas.openxmlformats.org/drawingml/2006/main">
              <a:ext uri="{FF2B5EF4-FFF2-40B4-BE49-F238E27FC236}">
                <a16:creationId xmlns:a16="http://schemas.microsoft.com/office/drawing/2014/main" id="{D1AD2E09-B27A-4066-A577-68F8B7F461AA}"/>
              </a:ext>
            </a:extLst>
          </p:cNvPr>
          <p:cNvSpPr>
            <a:spLocks xmlns:a="http://schemas.openxmlformats.org/drawingml/2006/main" noGrp="1"/>
          </p:cNvSpPr>
          <p:nvPr/>
        </p:nvSpPr>
        <p:spPr>
          <a:xfrm xmlns:a="http://schemas.openxmlformats.org/drawingml/2006/main">
            <a:off x="1352550" y="22031325"/>
            <a:ext cx="7010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650" b="0">
                <a:solidFill>
                  <a:srgbClr val="526174"/>
                </a:solidFill>
                <a:latin typeface="Aptos"/>
                <a:ea typeface="Aptos"/>
                <a:cs typeface="Aptos"/>
              </a:defRPr>
            </a:pPr>
            <a:r>
              <a:rPr sz="1650" b="0">
                <a:solidFill>
                  <a:srgbClr val="526174"/>
                </a:solidFill>
                <a:latin typeface="Aptos"/>
                <a:ea typeface="Aptos"/>
                <a:cs typeface="Aptos"/>
              </a:rPr>
              <a:t>colored translucent 3D ellipsoids</a:t>
            </a:r>
          </a:p>
        </p:txBody>
      </p:sp>
      <p:sp>
        <p:nvSpPr>
          <p:cNvPr id="88" name="">
            <a:extLst xmlns:a="http://schemas.openxmlformats.org/drawingml/2006/main">
              <a:ext uri="{FF2B5EF4-FFF2-40B4-BE49-F238E27FC236}">
                <a16:creationId xmlns:a16="http://schemas.microsoft.com/office/drawing/2014/main" id="{CF18FA5C-E164-4CC4-A722-52FCC2C5D4E3}"/>
              </a:ext>
            </a:extLst>
          </p:cNvPr>
          <p:cNvSpPr>
            <a:spLocks xmlns:a="http://schemas.openxmlformats.org/drawingml/2006/main" noGrp="1"/>
          </p:cNvSpPr>
          <p:nvPr/>
        </p:nvSpPr>
        <p:spPr>
          <a:xfrm xmlns:a="http://schemas.openxmlformats.org/drawingml/2006/main">
            <a:off x="685800" y="23212425"/>
            <a:ext cx="8343900" cy="1581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75" b="0">
                <a:solidFill>
                  <a:srgbClr val="172033"/>
                </a:solidFill>
                <a:latin typeface="Aptos"/>
                <a:ea typeface="Aptos"/>
                <a:cs typeface="Aptos"/>
              </a:defRPr>
            </a:pPr>
            <a:r>
              <a:rPr sz="2475" b="0">
                <a:solidFill>
                  <a:srgbClr val="172033"/>
                </a:solidFill>
                <a:latin typeface="Aptos"/>
                <a:ea typeface="Aptos"/>
                <a:cs typeface="Aptos"/>
              </a:rPr>
              <a:t>3D Gaussian Splatting represents the scene with colored, translucent 3D ellipsoids. Their centers provide explicit locations where we can attach 3D displacement vectors.</a:t>
            </a:r>
          </a:p>
        </p:txBody>
      </p:sp>
      <p:sp>
        <p:nvSpPr>
          <p:cNvPr id="89" name="">
            <a:extLst xmlns:a="http://schemas.openxmlformats.org/drawingml/2006/main">
              <a:ext uri="{FF2B5EF4-FFF2-40B4-BE49-F238E27FC236}">
                <a16:creationId xmlns:a16="http://schemas.microsoft.com/office/drawing/2014/main" id="{93160C66-B93D-40C9-B17E-D6AECDBDA339}"/>
              </a:ext>
            </a:extLst>
          </p:cNvPr>
          <p:cNvSpPr>
            <a:spLocks xmlns:a="http://schemas.openxmlformats.org/drawingml/2006/main" noGrp="1"/>
          </p:cNvSpPr>
          <p:nvPr/>
        </p:nvSpPr>
        <p:spPr>
          <a:xfrm xmlns:a="http://schemas.openxmlformats.org/drawingml/2006/main">
            <a:off x="685800" y="24936450"/>
            <a:ext cx="8343900" cy="857250"/>
          </a:xfrm>
          <a:prstGeom xmlns:a="http://schemas.openxmlformats.org/drawingml/2006/main" prst="roundRect">
            <a:avLst>
              <a:gd name="adj" fmla="val 17778"/>
            </a:avLst>
          </a:prstGeom>
          <a:solidFill xmlns:a="http://schemas.openxmlformats.org/drawingml/2006/main">
            <a:srgbClr val="E5F7F3"/>
          </a:solidFill>
          <a:ln xmlns:a="http://schemas.openxmlformats.org/drawingml/2006/main" w="19050">
            <a:solidFill>
              <a:srgbClr val="0F9D8A"/>
            </a:solidFill>
            <a:prstDash val="solid"/>
          </a:ln>
        </p:spPr>
      </p:sp>
      <p:sp>
        <p:nvSpPr>
          <p:cNvPr id="90" name="">
            <a:extLst xmlns:a="http://schemas.openxmlformats.org/drawingml/2006/main">
              <a:ext uri="{FF2B5EF4-FFF2-40B4-BE49-F238E27FC236}">
                <a16:creationId xmlns:a16="http://schemas.microsoft.com/office/drawing/2014/main" id="{D9F62B8E-D7E0-47F7-A9B9-522D6B34F784}"/>
              </a:ext>
            </a:extLst>
          </p:cNvPr>
          <p:cNvSpPr>
            <a:spLocks xmlns:a="http://schemas.openxmlformats.org/drawingml/2006/main" noGrp="1"/>
          </p:cNvSpPr>
          <p:nvPr/>
        </p:nvSpPr>
        <p:spPr>
          <a:xfrm xmlns:a="http://schemas.openxmlformats.org/drawingml/2006/main">
            <a:off x="876300" y="25031700"/>
            <a:ext cx="79629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325" b="0">
                <a:solidFill>
                  <a:srgbClr val="172033"/>
                </a:solidFill>
                <a:latin typeface="Cambria Math"/>
                <a:ea typeface="Cambria Math"/>
                <a:cs typeface="Cambria Math"/>
              </a:defRPr>
            </a:pPr>
            <a:r>
              <a:rPr sz="2325" b="0">
                <a:solidFill>
                  <a:srgbClr val="172033"/>
                </a:solidFill>
                <a:latin typeface="Cambria Math"/>
                <a:ea typeface="Cambria Math"/>
                <a:cs typeface="Cambria Math"/>
              </a:rPr>
              <a:t>𝒢g = (μg, Σg, og, cg)</a:t>
            </a:r>
          </a:p>
        </p:txBody>
      </p:sp>
      <p:sp>
        <p:nvSpPr>
          <p:cNvPr id="91" name="">
            <a:extLst xmlns:a="http://schemas.openxmlformats.org/drawingml/2006/main">
              <a:ext uri="{FF2B5EF4-FFF2-40B4-BE49-F238E27FC236}">
                <a16:creationId xmlns:a16="http://schemas.microsoft.com/office/drawing/2014/main" id="{10F2A3F3-DF85-4626-B1B9-46EC388D6186}"/>
              </a:ext>
            </a:extLst>
          </p:cNvPr>
          <p:cNvSpPr>
            <a:spLocks xmlns:a="http://schemas.openxmlformats.org/drawingml/2006/main" noGrp="1"/>
          </p:cNvSpPr>
          <p:nvPr/>
        </p:nvSpPr>
        <p:spPr>
          <a:xfrm xmlns:a="http://schemas.openxmlformats.org/drawingml/2006/main">
            <a:off x="685800" y="25955625"/>
            <a:ext cx="8343900" cy="952500"/>
          </a:xfrm>
          <a:prstGeom xmlns:a="http://schemas.openxmlformats.org/drawingml/2006/main" prst="roundRect">
            <a:avLst>
              <a:gd name="adj" fmla="val 16000"/>
            </a:avLst>
          </a:prstGeom>
          <a:solidFill xmlns:a="http://schemas.openxmlformats.org/drawingml/2006/main">
            <a:srgbClr val="E5F7F3"/>
          </a:solidFill>
          <a:ln xmlns:a="http://schemas.openxmlformats.org/drawingml/2006/main" w="19050">
            <a:solidFill>
              <a:srgbClr val="0F9D8A"/>
            </a:solidFill>
            <a:prstDash val="solid"/>
          </a:ln>
        </p:spPr>
      </p:sp>
      <p:sp>
        <p:nvSpPr>
          <p:cNvPr id="92" name="">
            <a:extLst xmlns:a="http://schemas.openxmlformats.org/drawingml/2006/main">
              <a:ext uri="{FF2B5EF4-FFF2-40B4-BE49-F238E27FC236}">
                <a16:creationId xmlns:a16="http://schemas.microsoft.com/office/drawing/2014/main" id="{2DDA61F1-E06A-4DBD-9A99-1A77DFADF366}"/>
              </a:ext>
            </a:extLst>
          </p:cNvPr>
          <p:cNvSpPr>
            <a:spLocks xmlns:a="http://schemas.openxmlformats.org/drawingml/2006/main" noGrp="1"/>
          </p:cNvSpPr>
          <p:nvPr/>
        </p:nvSpPr>
        <p:spPr>
          <a:xfrm xmlns:a="http://schemas.openxmlformats.org/drawingml/2006/main">
            <a:off x="876300" y="26050875"/>
            <a:ext cx="79629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325" b="0">
                <a:solidFill>
                  <a:srgbClr val="172033"/>
                </a:solidFill>
                <a:latin typeface="Cambria Math"/>
                <a:ea typeface="Cambria Math"/>
                <a:cs typeface="Cambria Math"/>
              </a:defRPr>
            </a:pPr>
            <a:r>
              <a:rPr sz="2325" b="0">
                <a:solidFill>
                  <a:srgbClr val="172033"/>
                </a:solidFill>
                <a:latin typeface="Cambria Math"/>
                <a:ea typeface="Cambria Math"/>
                <a:cs typeface="Cambria Math"/>
              </a:rPr>
              <a:t>wp,i = Tp,i ap,i     ·     C(p) = Σi wp,i ci</a:t>
            </a:r>
          </a:p>
        </p:txBody>
      </p:sp>
      <p:sp>
        <p:nvSpPr>
          <p:cNvPr id="93" name="">
            <a:extLst xmlns:a="http://schemas.openxmlformats.org/drawingml/2006/main">
              <a:ext uri="{FF2B5EF4-FFF2-40B4-BE49-F238E27FC236}">
                <a16:creationId xmlns:a16="http://schemas.microsoft.com/office/drawing/2014/main" id="{81CE3548-B89A-4A1E-81F4-A228F09470C6}"/>
              </a:ext>
            </a:extLst>
          </p:cNvPr>
          <p:cNvSpPr>
            <a:spLocks xmlns:a="http://schemas.openxmlformats.org/drawingml/2006/main" noGrp="1"/>
          </p:cNvSpPr>
          <p:nvPr/>
        </p:nvSpPr>
        <p:spPr>
          <a:xfrm xmlns:a="http://schemas.openxmlformats.org/drawingml/2006/main">
            <a:off x="876300" y="27031950"/>
            <a:ext cx="796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0">
                <a:solidFill>
                  <a:srgbClr val="526174"/>
                </a:solidFill>
                <a:latin typeface="Aptos"/>
                <a:ea typeface="Aptos"/>
                <a:cs typeface="Aptos"/>
              </a:defRPr>
            </a:pPr>
            <a:r>
              <a:rPr sz="1875" b="0">
                <a:solidFill>
                  <a:srgbClr val="526174"/>
                </a:solidFill>
                <a:latin typeface="Aptos"/>
                <a:ea typeface="Aptos"/>
                <a:cs typeface="Aptos"/>
              </a:rPr>
              <a:t>Each pixel blends depth-ordered Gaussian contributions through opacity and transmittance.</a:t>
            </a:r>
          </a:p>
        </p:txBody>
      </p:sp>
      <p:sp>
        <p:nvSpPr>
          <p:cNvPr id="94" name="">
            <a:extLst xmlns:a="http://schemas.openxmlformats.org/drawingml/2006/main">
              <a:ext uri="{FF2B5EF4-FFF2-40B4-BE49-F238E27FC236}">
                <a16:creationId xmlns:a16="http://schemas.microsoft.com/office/drawing/2014/main" id="{D6055071-A517-4082-8E8A-C597397E4B65}"/>
              </a:ext>
            </a:extLst>
          </p:cNvPr>
          <p:cNvSpPr>
            <a:spLocks xmlns:a="http://schemas.openxmlformats.org/drawingml/2006/main" noGrp="1"/>
          </p:cNvSpPr>
          <p:nvPr/>
        </p:nvSpPr>
        <p:spPr>
          <a:xfrm xmlns:a="http://schemas.openxmlformats.org/drawingml/2006/main">
            <a:off x="685800" y="28003500"/>
            <a:ext cx="8343900" cy="3581400"/>
          </a:xfrm>
          <a:prstGeom xmlns:a="http://schemas.openxmlformats.org/drawingml/2006/main" prst="roundRect">
            <a:avLst>
              <a:gd name="adj" fmla="val 4787"/>
            </a:avLst>
          </a:prstGeom>
          <a:solidFill xmlns:a="http://schemas.openxmlformats.org/drawingml/2006/main">
            <a:srgbClr val="EAF1FF"/>
          </a:solidFill>
          <a:ln xmlns:a="http://schemas.openxmlformats.org/drawingml/2006/main" w="19050">
            <a:solidFill>
              <a:srgbClr val="2563EB"/>
            </a:solidFill>
            <a:prstDash val="solid"/>
          </a:ln>
        </p:spPr>
      </p:sp>
      <p:sp>
        <p:nvSpPr>
          <p:cNvPr id="95" name="">
            <a:extLst xmlns:a="http://schemas.openxmlformats.org/drawingml/2006/main">
              <a:ext uri="{FF2B5EF4-FFF2-40B4-BE49-F238E27FC236}">
                <a16:creationId xmlns:a16="http://schemas.microsoft.com/office/drawing/2014/main" id="{BC6B6C3B-D966-4B87-8DDE-FD5E88EE344B}"/>
              </a:ext>
            </a:extLst>
          </p:cNvPr>
          <p:cNvSpPr>
            <a:spLocks xmlns:a="http://schemas.openxmlformats.org/drawingml/2006/main" noGrp="1"/>
          </p:cNvSpPr>
          <p:nvPr/>
        </p:nvSpPr>
        <p:spPr>
          <a:xfrm xmlns:a="http://schemas.openxmlformats.org/drawingml/2006/main">
            <a:off x="952500" y="28251150"/>
            <a:ext cx="781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550" b="1">
                <a:solidFill>
                  <a:srgbClr val="2563EB"/>
                </a:solidFill>
                <a:latin typeface="Aptos"/>
                <a:ea typeface="Aptos"/>
                <a:cs typeface="Aptos"/>
              </a:defRPr>
            </a:pPr>
            <a:r>
              <a:rPr sz="2550" b="1">
                <a:solidFill>
                  <a:srgbClr val="2563EB"/>
                </a:solidFill>
                <a:latin typeface="Aptos"/>
                <a:ea typeface="Aptos"/>
                <a:cs typeface="Aptos"/>
              </a:rPr>
              <a:t>Key representation choice</a:t>
            </a:r>
          </a:p>
        </p:txBody>
      </p:sp>
      <p:sp>
        <p:nvSpPr>
          <p:cNvPr id="96" name="">
            <a:extLst xmlns:a="http://schemas.openxmlformats.org/drawingml/2006/main">
              <a:ext uri="{FF2B5EF4-FFF2-40B4-BE49-F238E27FC236}">
                <a16:creationId xmlns:a16="http://schemas.microsoft.com/office/drawing/2014/main" id="{F0891524-E2DC-436A-A55F-CA133D6D917F}"/>
              </a:ext>
            </a:extLst>
          </p:cNvPr>
          <p:cNvSpPr>
            <a:spLocks xmlns:a="http://schemas.openxmlformats.org/drawingml/2006/main" noGrp="1"/>
          </p:cNvSpPr>
          <p:nvPr/>
        </p:nvSpPr>
        <p:spPr>
          <a:xfrm xmlns:a="http://schemas.openxmlformats.org/drawingml/2006/main">
            <a:off x="952500" y="28841700"/>
            <a:ext cx="7810500" cy="2190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325" b="0">
                <a:solidFill>
                  <a:srgbClr val="172033"/>
                </a:solidFill>
                <a:latin typeface="Aptos"/>
                <a:ea typeface="Aptos"/>
                <a:cs typeface="Aptos"/>
              </a:defRPr>
            </a:pPr>
            <a:r>
              <a:rPr sz="2325" b="0">
                <a:solidFill>
                  <a:srgbClr val="172033"/>
                </a:solidFill>
                <a:latin typeface="Aptos"/>
                <a:ea typeface="Aptos"/>
                <a:cs typeface="Aptos"/>
              </a:rPr>
              <a:t>The geometry is neither a mesh nor a pixel grid. It is a set of explicit Gaussian centers μg with renderable appearance and learned shape. We solve motion directly at these centers and preserve the original static rendering model.</a:t>
            </a:r>
          </a:p>
        </p:txBody>
      </p:sp>
      <p:sp>
        <p:nvSpPr>
          <p:cNvPr id="97" name="">
            <a:extLst xmlns:a="http://schemas.openxmlformats.org/drawingml/2006/main">
              <a:ext uri="{FF2B5EF4-FFF2-40B4-BE49-F238E27FC236}">
                <a16:creationId xmlns:a16="http://schemas.microsoft.com/office/drawing/2014/main" id="{813E8B9B-5C90-4BD2-B6BB-65F66341B23F}"/>
              </a:ext>
            </a:extLst>
          </p:cNvPr>
          <p:cNvSpPr>
            <a:spLocks xmlns:a="http://schemas.openxmlformats.org/drawingml/2006/main" noGrp="1"/>
          </p:cNvSpPr>
          <p:nvPr/>
        </p:nvSpPr>
        <p:spPr>
          <a:xfrm xmlns:a="http://schemas.openxmlformats.org/drawingml/2006/main">
            <a:off x="9544050" y="8801100"/>
            <a:ext cx="514350" cy="5143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F59E0B"/>
            </a:solidFill>
            <a:prstDash val="solid"/>
          </a:ln>
        </p:spPr>
      </p:sp>
      <p:sp>
        <p:nvSpPr>
          <p:cNvPr id="98" name="">
            <a:extLst xmlns:a="http://schemas.openxmlformats.org/drawingml/2006/main">
              <a:ext uri="{FF2B5EF4-FFF2-40B4-BE49-F238E27FC236}">
                <a16:creationId xmlns:a16="http://schemas.microsoft.com/office/drawing/2014/main" id="{86E0183D-87FE-4130-BEDF-572C76B63C04}"/>
              </a:ext>
            </a:extLst>
          </p:cNvPr>
          <p:cNvSpPr>
            <a:spLocks xmlns:a="http://schemas.openxmlformats.org/drawingml/2006/main" noGrp="1"/>
          </p:cNvSpPr>
          <p:nvPr/>
        </p:nvSpPr>
        <p:spPr>
          <a:xfrm xmlns:a="http://schemas.openxmlformats.org/drawingml/2006/main">
            <a:off x="9544050" y="8791575"/>
            <a:ext cx="5143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FFFFFF"/>
                </a:solidFill>
                <a:latin typeface="Aptos"/>
                <a:ea typeface="Aptos"/>
                <a:cs typeface="Aptos"/>
              </a:defRPr>
            </a:pPr>
            <a:r>
              <a:rPr sz="2250" b="1">
                <a:solidFill>
                  <a:srgbClr val="FFFFFF"/>
                </a:solidFill>
                <a:latin typeface="Aptos"/>
                <a:ea typeface="Aptos"/>
                <a:cs typeface="Aptos"/>
              </a:rPr>
              <a:t>3</a:t>
            </a:r>
          </a:p>
        </p:txBody>
      </p:sp>
      <p:sp>
        <p:nvSpPr>
          <p:cNvPr id="99" name="">
            <a:extLst xmlns:a="http://schemas.openxmlformats.org/drawingml/2006/main">
              <a:ext uri="{FF2B5EF4-FFF2-40B4-BE49-F238E27FC236}">
                <a16:creationId xmlns:a16="http://schemas.microsoft.com/office/drawing/2014/main" id="{21AB2324-5F44-4460-85ED-432BF92C7D2B}"/>
              </a:ext>
            </a:extLst>
          </p:cNvPr>
          <p:cNvSpPr>
            <a:spLocks xmlns:a="http://schemas.openxmlformats.org/drawingml/2006/main" noGrp="1"/>
          </p:cNvSpPr>
          <p:nvPr/>
        </p:nvSpPr>
        <p:spPr>
          <a:xfrm xmlns:a="http://schemas.openxmlformats.org/drawingml/2006/main">
            <a:off x="10229850" y="8763000"/>
            <a:ext cx="76581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975" b="1">
                <a:solidFill>
                  <a:srgbClr val="172033"/>
                </a:solidFill>
                <a:latin typeface="Aptos Display"/>
                <a:ea typeface="Aptos Display"/>
                <a:cs typeface="Aptos Display"/>
              </a:defRPr>
            </a:pPr>
            <a:r>
              <a:rPr sz="3975" b="1">
                <a:solidFill>
                  <a:srgbClr val="172033"/>
                </a:solidFill>
                <a:latin typeface="Aptos Display"/>
                <a:ea typeface="Aptos Display"/>
                <a:cs typeface="Aptos Display"/>
              </a:rPr>
              <a:t>From video to frequency evidence</a:t>
            </a:r>
          </a:p>
        </p:txBody>
      </p:sp>
      <p:sp>
        <p:nvSpPr>
          <p:cNvPr id="100" name="">
            <a:extLst xmlns:a="http://schemas.openxmlformats.org/drawingml/2006/main">
              <a:ext uri="{FF2B5EF4-FFF2-40B4-BE49-F238E27FC236}">
                <a16:creationId xmlns:a16="http://schemas.microsoft.com/office/drawing/2014/main" id="{53E7BF10-F24C-466F-970F-0713BE58DC88}"/>
              </a:ext>
            </a:extLst>
          </p:cNvPr>
          <p:cNvSpPr>
            <a:spLocks xmlns:a="http://schemas.openxmlformats.org/drawingml/2006/main" noGrp="1"/>
          </p:cNvSpPr>
          <p:nvPr/>
        </p:nvSpPr>
        <p:spPr>
          <a:xfrm xmlns:a="http://schemas.openxmlformats.org/drawingml/2006/main" flipH="0" flipV="0">
            <a:off x="9544050" y="9410700"/>
            <a:ext cx="83439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F59E0B"/>
            </a:solidFill>
            <a:prstDash val="solid"/>
          </a:ln>
        </p:spPr>
      </p:sp>
      <p:sp>
        <p:nvSpPr>
          <p:cNvPr id="101" name="">
            <a:extLst xmlns:a="http://schemas.openxmlformats.org/drawingml/2006/main">
              <a:ext uri="{FF2B5EF4-FFF2-40B4-BE49-F238E27FC236}">
                <a16:creationId xmlns:a16="http://schemas.microsoft.com/office/drawing/2014/main" id="{C0BE26F6-9364-4716-AED9-3879E3F2F63D}"/>
              </a:ext>
            </a:extLst>
          </p:cNvPr>
          <p:cNvSpPr>
            <a:spLocks xmlns:a="http://schemas.openxmlformats.org/drawingml/2006/main" noGrp="1"/>
          </p:cNvSpPr>
          <p:nvPr/>
        </p:nvSpPr>
        <p:spPr>
          <a:xfrm xmlns:a="http://schemas.openxmlformats.org/drawingml/2006/main">
            <a:off x="9544050" y="9525000"/>
            <a:ext cx="8343900" cy="1885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75" b="0">
                <a:solidFill>
                  <a:srgbClr val="172033"/>
                </a:solidFill>
                <a:latin typeface="Aptos"/>
                <a:ea typeface="Aptos"/>
                <a:cs typeface="Aptos"/>
              </a:defRPr>
            </a:pPr>
            <a:r>
              <a:rPr sz="2475" b="0">
                <a:solidFill>
                  <a:srgbClr val="172033"/>
                </a:solidFill>
                <a:latin typeface="Aptos"/>
                <a:ea typeface="Aptos"/>
                <a:cs typeface="Aptos"/>
              </a:rPr>
              <a:t>For each fixed view, dense optical flow gives a displacement trace dp(t) at every foreground pixel. A temporal Fourier transform converts that trace into complex motion evidence at frequency f: magnitude captures strength and phase captures timing.</a:t>
            </a:r>
          </a:p>
        </p:txBody>
      </p:sp>
      <p:sp>
        <p:nvSpPr>
          <p:cNvPr id="102" name="">
            <a:extLst xmlns:a="http://schemas.openxmlformats.org/drawingml/2006/main">
              <a:ext uri="{FF2B5EF4-FFF2-40B4-BE49-F238E27FC236}">
                <a16:creationId xmlns:a16="http://schemas.microsoft.com/office/drawing/2014/main" id="{EB37266D-4717-4926-AF65-CFFC1A7E1E58}"/>
              </a:ext>
            </a:extLst>
          </p:cNvPr>
          <p:cNvSpPr>
            <a:spLocks xmlns:a="http://schemas.openxmlformats.org/drawingml/2006/main" noGrp="1"/>
          </p:cNvSpPr>
          <p:nvPr/>
        </p:nvSpPr>
        <p:spPr>
          <a:xfrm xmlns:a="http://schemas.openxmlformats.org/drawingml/2006/main">
            <a:off x="9544050" y="11506200"/>
            <a:ext cx="8343900" cy="914400"/>
          </a:xfrm>
          <a:prstGeom xmlns:a="http://schemas.openxmlformats.org/drawingml/2006/main" prst="roundRect">
            <a:avLst>
              <a:gd name="adj" fmla="val 16667"/>
            </a:avLst>
          </a:prstGeom>
          <a:solidFill xmlns:a="http://schemas.openxmlformats.org/drawingml/2006/main">
            <a:srgbClr val="FFF4D7"/>
          </a:solidFill>
          <a:ln xmlns:a="http://schemas.openxmlformats.org/drawingml/2006/main" w="19050">
            <a:solidFill>
              <a:srgbClr val="F59E0B"/>
            </a:solidFill>
            <a:prstDash val="solid"/>
          </a:ln>
        </p:spPr>
      </p:sp>
      <p:sp>
        <p:nvSpPr>
          <p:cNvPr id="103" name="">
            <a:extLst xmlns:a="http://schemas.openxmlformats.org/drawingml/2006/main">
              <a:ext uri="{FF2B5EF4-FFF2-40B4-BE49-F238E27FC236}">
                <a16:creationId xmlns:a16="http://schemas.microsoft.com/office/drawing/2014/main" id="{4EFB519B-CECE-44FA-97CB-FD07CCAA8D5F}"/>
              </a:ext>
            </a:extLst>
          </p:cNvPr>
          <p:cNvSpPr>
            <a:spLocks xmlns:a="http://schemas.openxmlformats.org/drawingml/2006/main" noGrp="1"/>
          </p:cNvSpPr>
          <p:nvPr/>
        </p:nvSpPr>
        <p:spPr>
          <a:xfrm xmlns:a="http://schemas.openxmlformats.org/drawingml/2006/main">
            <a:off x="9734550" y="11601450"/>
            <a:ext cx="79629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325" b="0">
                <a:solidFill>
                  <a:srgbClr val="172033"/>
                </a:solidFill>
                <a:latin typeface="Cambria Math"/>
                <a:ea typeface="Cambria Math"/>
                <a:cs typeface="Cambria Math"/>
              </a:defRPr>
            </a:pPr>
            <a:r>
              <a:rPr sz="2325" b="0">
                <a:solidFill>
                  <a:srgbClr val="172033"/>
                </a:solidFill>
                <a:latin typeface="Cambria Math"/>
                <a:ea typeface="Cambria Math"/>
                <a:cs typeface="Cambria Math"/>
              </a:rPr>
              <a:t>d̂p(f) = Σt dp(t) e−i2πft</a:t>
            </a:r>
          </a:p>
        </p:txBody>
      </p:sp>
      <p:sp>
        <p:nvSpPr>
          <p:cNvPr id="104" name="">
            <a:extLst xmlns:a="http://schemas.openxmlformats.org/drawingml/2006/main">
              <a:ext uri="{FF2B5EF4-FFF2-40B4-BE49-F238E27FC236}">
                <a16:creationId xmlns:a16="http://schemas.microsoft.com/office/drawing/2014/main" id="{D13E114A-686C-4312-A472-73F0F76DE1E1}"/>
              </a:ext>
            </a:extLst>
          </p:cNvPr>
          <p:cNvSpPr>
            <a:spLocks xmlns:a="http://schemas.openxmlformats.org/drawingml/2006/main" noGrp="1"/>
          </p:cNvSpPr>
          <p:nvPr/>
        </p:nvSpPr>
        <p:spPr>
          <a:xfrm xmlns:a="http://schemas.openxmlformats.org/drawingml/2006/main">
            <a:off x="9544050" y="12620625"/>
            <a:ext cx="8343900" cy="4238625"/>
          </a:xfrm>
          <a:prstGeom xmlns:a="http://schemas.openxmlformats.org/drawingml/2006/main" prst="roundRect">
            <a:avLst>
              <a:gd name="adj" fmla="val 4045"/>
            </a:avLst>
          </a:prstGeom>
          <a:solidFill xmlns:a="http://schemas.openxmlformats.org/drawingml/2006/main">
            <a:srgbClr val="F7F9FC"/>
          </a:solidFill>
          <a:ln xmlns:a="http://schemas.openxmlformats.org/drawingml/2006/main" w="28575">
            <a:solidFill>
              <a:srgbClr val="F59E0B"/>
            </a:solidFill>
            <a:prstDash val="dash"/>
          </a:ln>
        </p:spPr>
      </p:sp>
      <p:sp>
        <p:nvSpPr>
          <p:cNvPr id="105" name="">
            <a:extLst xmlns:a="http://schemas.openxmlformats.org/drawingml/2006/main">
              <a:ext uri="{FF2B5EF4-FFF2-40B4-BE49-F238E27FC236}">
                <a16:creationId xmlns:a16="http://schemas.microsoft.com/office/drawing/2014/main" id="{822BBD5B-CE49-4D85-BE52-39EB9043386C}"/>
              </a:ext>
            </a:extLst>
          </p:cNvPr>
          <p:cNvSpPr>
            <a:spLocks xmlns:a="http://schemas.openxmlformats.org/drawingml/2006/main" noGrp="1"/>
          </p:cNvSpPr>
          <p:nvPr/>
        </p:nvSpPr>
        <p:spPr>
          <a:xfrm xmlns:a="http://schemas.openxmlformats.org/drawingml/2006/main">
            <a:off x="9715500" y="12782550"/>
            <a:ext cx="1952625" cy="3810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F59E0B"/>
            </a:solidFill>
            <a:prstDash val="solid"/>
          </a:ln>
        </p:spPr>
      </p:sp>
      <p:sp>
        <p:nvSpPr>
          <p:cNvPr id="106" name="">
            <a:extLst xmlns:a="http://schemas.openxmlformats.org/drawingml/2006/main">
              <a:ext uri="{FF2B5EF4-FFF2-40B4-BE49-F238E27FC236}">
                <a16:creationId xmlns:a16="http://schemas.microsoft.com/office/drawing/2014/main" id="{EA95A95C-3EE0-40E2-9350-A7CF30C7F066}"/>
              </a:ext>
            </a:extLst>
          </p:cNvPr>
          <p:cNvSpPr>
            <a:spLocks xmlns:a="http://schemas.openxmlformats.org/drawingml/2006/main" noGrp="1"/>
          </p:cNvSpPr>
          <p:nvPr/>
        </p:nvSpPr>
        <p:spPr>
          <a:xfrm xmlns:a="http://schemas.openxmlformats.org/drawingml/2006/main">
            <a:off x="9734550" y="12792075"/>
            <a:ext cx="1914525" cy="352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1425" b="1">
                <a:solidFill>
                  <a:srgbClr val="FFFFFF"/>
                </a:solidFill>
                <a:latin typeface="Aptos"/>
                <a:ea typeface="Aptos"/>
                <a:cs typeface="Aptos"/>
              </a:defRPr>
            </a:pPr>
            <a:r>
              <a:rPr sz="1425" b="1">
                <a:solidFill>
                  <a:srgbClr val="FFFFFF"/>
                </a:solidFill>
                <a:latin typeface="Aptos"/>
                <a:ea typeface="Aptos"/>
                <a:cs typeface="Aptos"/>
              </a:rPr>
              <a:t>IMAGE PLACEHOLDER</a:t>
            </a:r>
          </a:p>
        </p:txBody>
      </p:sp>
      <p:sp>
        <p:nvSpPr>
          <p:cNvPr id="107" name="">
            <a:extLst xmlns:a="http://schemas.openxmlformats.org/drawingml/2006/main">
              <a:ext uri="{FF2B5EF4-FFF2-40B4-BE49-F238E27FC236}">
                <a16:creationId xmlns:a16="http://schemas.microsoft.com/office/drawing/2014/main" id="{F37E01C3-6DAA-4D5F-BA29-2F64B69CA3B4}"/>
              </a:ext>
            </a:extLst>
          </p:cNvPr>
          <p:cNvSpPr>
            <a:spLocks xmlns:a="http://schemas.openxmlformats.org/drawingml/2006/main" noGrp="1"/>
          </p:cNvSpPr>
          <p:nvPr/>
        </p:nvSpPr>
        <p:spPr>
          <a:xfrm xmlns:a="http://schemas.openxmlformats.org/drawingml/2006/main">
            <a:off x="9791700" y="13268325"/>
            <a:ext cx="7848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400" b="1">
                <a:solidFill>
                  <a:srgbClr val="172033"/>
                </a:solidFill>
                <a:latin typeface="Aptos"/>
                <a:ea typeface="Aptos"/>
                <a:cs typeface="Aptos"/>
              </a:defRPr>
            </a:pPr>
            <a:r>
              <a:rPr sz="2400" b="1">
                <a:solidFill>
                  <a:srgbClr val="172033"/>
                </a:solidFill>
                <a:latin typeface="Aptos"/>
                <a:ea typeface="Aptos"/>
                <a:cs typeface="Aptos"/>
              </a:rPr>
              <a:t>Optical-flow spectrum and selected peaks</a:t>
            </a:r>
          </a:p>
        </p:txBody>
      </p:sp>
      <p:sp>
        <p:nvSpPr>
          <p:cNvPr id="108" name="">
            <a:extLst xmlns:a="http://schemas.openxmlformats.org/drawingml/2006/main">
              <a:ext uri="{FF2B5EF4-FFF2-40B4-BE49-F238E27FC236}">
                <a16:creationId xmlns:a16="http://schemas.microsoft.com/office/drawing/2014/main" id="{234F6B35-ACE0-4600-BEA8-2FDDDD59CD5D}"/>
              </a:ext>
            </a:extLst>
          </p:cNvPr>
          <p:cNvSpPr>
            <a:spLocks xmlns:a="http://schemas.openxmlformats.org/drawingml/2006/main" noGrp="1"/>
          </p:cNvSpPr>
          <p:nvPr/>
        </p:nvSpPr>
        <p:spPr>
          <a:xfrm xmlns:a="http://schemas.openxmlformats.org/drawingml/2006/main">
            <a:off x="9734550" y="16392525"/>
            <a:ext cx="7962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0">
                <a:solidFill>
                  <a:srgbClr val="526174"/>
                </a:solidFill>
                <a:latin typeface="Aptos Mono"/>
                <a:ea typeface="Aptos Mono"/>
                <a:cs typeface="Aptos Mono"/>
              </a:defRPr>
            </a:pPr>
            <a:r>
              <a:rPr sz="1500" b="0">
                <a:solidFill>
                  <a:srgbClr val="526174"/>
                </a:solidFill>
                <a:latin typeface="Aptos Mono"/>
                <a:ea typeface="Aptos Mono"/>
                <a:cs typeface="Aptos Mono"/>
              </a:rPr>
              <a:t>bush_flow_and_frequency.png</a:t>
            </a:r>
          </a:p>
        </p:txBody>
      </p:sp>
      <p:sp>
        <p:nvSpPr>
          <p:cNvPr id="109" name="">
            <a:extLst xmlns:a="http://schemas.openxmlformats.org/drawingml/2006/main">
              <a:ext uri="{FF2B5EF4-FFF2-40B4-BE49-F238E27FC236}">
                <a16:creationId xmlns:a16="http://schemas.microsoft.com/office/drawing/2014/main" id="{9F4194BF-8BDB-4FFF-B8E2-983A8AD5A5D8}"/>
              </a:ext>
            </a:extLst>
          </p:cNvPr>
          <p:cNvSpPr>
            <a:spLocks xmlns:a="http://schemas.openxmlformats.org/drawingml/2006/main" noGrp="1"/>
          </p:cNvSpPr>
          <p:nvPr/>
        </p:nvSpPr>
        <p:spPr>
          <a:xfrm xmlns:a="http://schemas.openxmlformats.org/drawingml/2006/main" flipH="0" flipV="0">
            <a:off x="10258425" y="13887450"/>
            <a:ext cx="0" cy="200025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526174"/>
            </a:solidFill>
            <a:prstDash val="solid"/>
          </a:ln>
        </p:spPr>
      </p:sp>
      <p:sp>
        <p:nvSpPr>
          <p:cNvPr id="110" name="">
            <a:extLst xmlns:a="http://schemas.openxmlformats.org/drawingml/2006/main">
              <a:ext uri="{FF2B5EF4-FFF2-40B4-BE49-F238E27FC236}">
                <a16:creationId xmlns:a16="http://schemas.microsoft.com/office/drawing/2014/main" id="{38AEAF04-C09F-4644-835F-0C5F155A1140}"/>
              </a:ext>
            </a:extLst>
          </p:cNvPr>
          <p:cNvSpPr>
            <a:spLocks xmlns:a="http://schemas.openxmlformats.org/drawingml/2006/main" noGrp="1"/>
          </p:cNvSpPr>
          <p:nvPr/>
        </p:nvSpPr>
        <p:spPr>
          <a:xfrm xmlns:a="http://schemas.openxmlformats.org/drawingml/2006/main" flipH="0" flipV="0">
            <a:off x="10258425" y="15887700"/>
            <a:ext cx="6962775"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526174"/>
            </a:solidFill>
            <a:prstDash val="solid"/>
          </a:ln>
        </p:spPr>
      </p:sp>
      <p:sp>
        <p:nvSpPr>
          <p:cNvPr id="111" name="">
            <a:extLst xmlns:a="http://schemas.openxmlformats.org/drawingml/2006/main">
              <a:ext uri="{FF2B5EF4-FFF2-40B4-BE49-F238E27FC236}">
                <a16:creationId xmlns:a16="http://schemas.microsoft.com/office/drawing/2014/main" id="{7F25C586-6E16-469D-BEA4-BB9C4F000ABA}"/>
              </a:ext>
            </a:extLst>
          </p:cNvPr>
          <p:cNvSpPr>
            <a:spLocks xmlns:a="http://schemas.openxmlformats.org/drawingml/2006/main" noGrp="1"/>
          </p:cNvSpPr>
          <p:nvPr/>
        </p:nvSpPr>
        <p:spPr>
          <a:xfrm xmlns:a="http://schemas.openxmlformats.org/drawingml/2006/main" flipH="0" flipV="0">
            <a:off x="10258425" y="14211300"/>
            <a:ext cx="619125" cy="200025"/>
          </a:xfrm>
          <a:prstGeom xmlns:a="http://schemas.openxmlformats.org/drawingml/2006/main" prst="line">
            <a:avLst/>
          </a:prstGeom>
          <a:solidFill xmlns:a="http://schemas.openxmlformats.org/drawingml/2006/main">
            <a:srgbClr val="000000">
              <a:alpha val="0"/>
            </a:srgbClr>
          </a:solidFill>
          <a:ln xmlns:a="http://schemas.openxmlformats.org/drawingml/2006/main" w="57150">
            <a:solidFill>
              <a:srgbClr val="F59E0B"/>
            </a:solidFill>
            <a:prstDash val="solid"/>
          </a:ln>
        </p:spPr>
      </p:sp>
      <p:sp>
        <p:nvSpPr>
          <p:cNvPr id="112" name="">
            <a:extLst xmlns:a="http://schemas.openxmlformats.org/drawingml/2006/main">
              <a:ext uri="{FF2B5EF4-FFF2-40B4-BE49-F238E27FC236}">
                <a16:creationId xmlns:a16="http://schemas.microsoft.com/office/drawing/2014/main" id="{B7993FF6-E276-41F9-8ED0-11F487C7375E}"/>
              </a:ext>
            </a:extLst>
          </p:cNvPr>
          <p:cNvSpPr>
            <a:spLocks xmlns:a="http://schemas.openxmlformats.org/drawingml/2006/main" noGrp="1"/>
          </p:cNvSpPr>
          <p:nvPr/>
        </p:nvSpPr>
        <p:spPr>
          <a:xfrm xmlns:a="http://schemas.openxmlformats.org/drawingml/2006/main" flipH="0" flipV="0">
            <a:off x="10877550" y="14411325"/>
            <a:ext cx="619125" cy="371475"/>
          </a:xfrm>
          <a:prstGeom xmlns:a="http://schemas.openxmlformats.org/drawingml/2006/main" prst="line">
            <a:avLst/>
          </a:prstGeom>
          <a:solidFill xmlns:a="http://schemas.openxmlformats.org/drawingml/2006/main">
            <a:srgbClr val="000000">
              <a:alpha val="0"/>
            </a:srgbClr>
          </a:solidFill>
          <a:ln xmlns:a="http://schemas.openxmlformats.org/drawingml/2006/main" w="57150">
            <a:solidFill>
              <a:srgbClr val="F59E0B"/>
            </a:solidFill>
            <a:prstDash val="solid"/>
          </a:ln>
        </p:spPr>
      </p:sp>
      <p:sp>
        <p:nvSpPr>
          <p:cNvPr id="113" name="">
            <a:extLst xmlns:a="http://schemas.openxmlformats.org/drawingml/2006/main">
              <a:ext uri="{FF2B5EF4-FFF2-40B4-BE49-F238E27FC236}">
                <a16:creationId xmlns:a16="http://schemas.microsoft.com/office/drawing/2014/main" id="{156137F9-6A15-4E94-92EB-86A0FB294EBC}"/>
              </a:ext>
            </a:extLst>
          </p:cNvPr>
          <p:cNvSpPr>
            <a:spLocks xmlns:a="http://schemas.openxmlformats.org/drawingml/2006/main" noGrp="1"/>
          </p:cNvSpPr>
          <p:nvPr/>
        </p:nvSpPr>
        <p:spPr>
          <a:xfrm xmlns:a="http://schemas.openxmlformats.org/drawingml/2006/main" flipH="0" flipV="1">
            <a:off x="11496675" y="14363700"/>
            <a:ext cx="619125" cy="419100"/>
          </a:xfrm>
          <a:prstGeom xmlns:a="http://schemas.openxmlformats.org/drawingml/2006/main" prst="line">
            <a:avLst/>
          </a:prstGeom>
          <a:solidFill xmlns:a="http://schemas.openxmlformats.org/drawingml/2006/main">
            <a:srgbClr val="000000">
              <a:alpha val="0"/>
            </a:srgbClr>
          </a:solidFill>
          <a:ln xmlns:a="http://schemas.openxmlformats.org/drawingml/2006/main" w="57150">
            <a:solidFill>
              <a:srgbClr val="F59E0B"/>
            </a:solidFill>
            <a:prstDash val="solid"/>
          </a:ln>
        </p:spPr>
      </p:sp>
      <p:sp>
        <p:nvSpPr>
          <p:cNvPr id="114" name="">
            <a:extLst xmlns:a="http://schemas.openxmlformats.org/drawingml/2006/main">
              <a:ext uri="{FF2B5EF4-FFF2-40B4-BE49-F238E27FC236}">
                <a16:creationId xmlns:a16="http://schemas.microsoft.com/office/drawing/2014/main" id="{9072BFEB-8378-41E5-AF26-1C7719BDEC4B}"/>
              </a:ext>
            </a:extLst>
          </p:cNvPr>
          <p:cNvSpPr>
            <a:spLocks xmlns:a="http://schemas.openxmlformats.org/drawingml/2006/main" noGrp="1"/>
          </p:cNvSpPr>
          <p:nvPr/>
        </p:nvSpPr>
        <p:spPr>
          <a:xfrm xmlns:a="http://schemas.openxmlformats.org/drawingml/2006/main" flipH="0" flipV="0">
            <a:off x="12115800" y="14363700"/>
            <a:ext cx="619125" cy="971550"/>
          </a:xfrm>
          <a:prstGeom xmlns:a="http://schemas.openxmlformats.org/drawingml/2006/main" prst="line">
            <a:avLst/>
          </a:prstGeom>
          <a:solidFill xmlns:a="http://schemas.openxmlformats.org/drawingml/2006/main">
            <a:srgbClr val="000000">
              <a:alpha val="0"/>
            </a:srgbClr>
          </a:solidFill>
          <a:ln xmlns:a="http://schemas.openxmlformats.org/drawingml/2006/main" w="57150">
            <a:solidFill>
              <a:srgbClr val="F59E0B"/>
            </a:solidFill>
            <a:prstDash val="solid"/>
          </a:ln>
        </p:spPr>
      </p:sp>
      <p:sp>
        <p:nvSpPr>
          <p:cNvPr id="115" name="">
            <a:extLst xmlns:a="http://schemas.openxmlformats.org/drawingml/2006/main">
              <a:ext uri="{FF2B5EF4-FFF2-40B4-BE49-F238E27FC236}">
                <a16:creationId xmlns:a16="http://schemas.microsoft.com/office/drawing/2014/main" id="{204F5C0B-0749-41A4-90A6-762995A221CF}"/>
              </a:ext>
            </a:extLst>
          </p:cNvPr>
          <p:cNvSpPr>
            <a:spLocks xmlns:a="http://schemas.openxmlformats.org/drawingml/2006/main" noGrp="1"/>
          </p:cNvSpPr>
          <p:nvPr/>
        </p:nvSpPr>
        <p:spPr>
          <a:xfrm xmlns:a="http://schemas.openxmlformats.org/drawingml/2006/main" flipH="0" flipV="1">
            <a:off x="12734925" y="14525625"/>
            <a:ext cx="619125" cy="809625"/>
          </a:xfrm>
          <a:prstGeom xmlns:a="http://schemas.openxmlformats.org/drawingml/2006/main" prst="line">
            <a:avLst/>
          </a:prstGeom>
          <a:solidFill xmlns:a="http://schemas.openxmlformats.org/drawingml/2006/main">
            <a:srgbClr val="000000">
              <a:alpha val="0"/>
            </a:srgbClr>
          </a:solidFill>
          <a:ln xmlns:a="http://schemas.openxmlformats.org/drawingml/2006/main" w="57150">
            <a:solidFill>
              <a:srgbClr val="F59E0B"/>
            </a:solidFill>
            <a:prstDash val="solid"/>
          </a:ln>
        </p:spPr>
      </p:sp>
      <p:sp>
        <p:nvSpPr>
          <p:cNvPr id="116" name="">
            <a:extLst xmlns:a="http://schemas.openxmlformats.org/drawingml/2006/main">
              <a:ext uri="{FF2B5EF4-FFF2-40B4-BE49-F238E27FC236}">
                <a16:creationId xmlns:a16="http://schemas.microsoft.com/office/drawing/2014/main" id="{FD7F0D87-8567-418E-BC9D-9E5AAF07CCD2}"/>
              </a:ext>
            </a:extLst>
          </p:cNvPr>
          <p:cNvSpPr>
            <a:spLocks xmlns:a="http://schemas.openxmlformats.org/drawingml/2006/main" noGrp="1"/>
          </p:cNvSpPr>
          <p:nvPr/>
        </p:nvSpPr>
        <p:spPr>
          <a:xfrm xmlns:a="http://schemas.openxmlformats.org/drawingml/2006/main" flipH="0" flipV="0">
            <a:off x="13354050" y="14525625"/>
            <a:ext cx="619125" cy="533400"/>
          </a:xfrm>
          <a:prstGeom xmlns:a="http://schemas.openxmlformats.org/drawingml/2006/main" prst="line">
            <a:avLst/>
          </a:prstGeom>
          <a:solidFill xmlns:a="http://schemas.openxmlformats.org/drawingml/2006/main">
            <a:srgbClr val="000000">
              <a:alpha val="0"/>
            </a:srgbClr>
          </a:solidFill>
          <a:ln xmlns:a="http://schemas.openxmlformats.org/drawingml/2006/main" w="57150">
            <a:solidFill>
              <a:srgbClr val="F59E0B"/>
            </a:solidFill>
            <a:prstDash val="solid"/>
          </a:ln>
        </p:spPr>
      </p:sp>
      <p:sp>
        <p:nvSpPr>
          <p:cNvPr id="117" name="">
            <a:extLst xmlns:a="http://schemas.openxmlformats.org/drawingml/2006/main">
              <a:ext uri="{FF2B5EF4-FFF2-40B4-BE49-F238E27FC236}">
                <a16:creationId xmlns:a16="http://schemas.microsoft.com/office/drawing/2014/main" id="{60B78342-1812-4497-9EDD-7235661D0399}"/>
              </a:ext>
            </a:extLst>
          </p:cNvPr>
          <p:cNvSpPr>
            <a:spLocks xmlns:a="http://schemas.openxmlformats.org/drawingml/2006/main" noGrp="1"/>
          </p:cNvSpPr>
          <p:nvPr/>
        </p:nvSpPr>
        <p:spPr>
          <a:xfrm xmlns:a="http://schemas.openxmlformats.org/drawingml/2006/main" flipH="0" flipV="1">
            <a:off x="13973175" y="14325600"/>
            <a:ext cx="619125" cy="733425"/>
          </a:xfrm>
          <a:prstGeom xmlns:a="http://schemas.openxmlformats.org/drawingml/2006/main" prst="line">
            <a:avLst/>
          </a:prstGeom>
          <a:solidFill xmlns:a="http://schemas.openxmlformats.org/drawingml/2006/main">
            <a:srgbClr val="000000">
              <a:alpha val="0"/>
            </a:srgbClr>
          </a:solidFill>
          <a:ln xmlns:a="http://schemas.openxmlformats.org/drawingml/2006/main" w="57150">
            <a:solidFill>
              <a:srgbClr val="F59E0B"/>
            </a:solidFill>
            <a:prstDash val="solid"/>
          </a:ln>
        </p:spPr>
      </p:sp>
      <p:sp>
        <p:nvSpPr>
          <p:cNvPr id="118" name="">
            <a:extLst xmlns:a="http://schemas.openxmlformats.org/drawingml/2006/main">
              <a:ext uri="{FF2B5EF4-FFF2-40B4-BE49-F238E27FC236}">
                <a16:creationId xmlns:a16="http://schemas.microsoft.com/office/drawing/2014/main" id="{FF9BFF1B-25D6-4C9A-8829-6687C16388BD}"/>
              </a:ext>
            </a:extLst>
          </p:cNvPr>
          <p:cNvSpPr>
            <a:spLocks xmlns:a="http://schemas.openxmlformats.org/drawingml/2006/main" noGrp="1"/>
          </p:cNvSpPr>
          <p:nvPr/>
        </p:nvSpPr>
        <p:spPr>
          <a:xfrm xmlns:a="http://schemas.openxmlformats.org/drawingml/2006/main" flipH="0" flipV="0">
            <a:off x="14592300" y="14325600"/>
            <a:ext cx="619125" cy="333375"/>
          </a:xfrm>
          <a:prstGeom xmlns:a="http://schemas.openxmlformats.org/drawingml/2006/main" prst="line">
            <a:avLst/>
          </a:prstGeom>
          <a:solidFill xmlns:a="http://schemas.openxmlformats.org/drawingml/2006/main">
            <a:srgbClr val="000000">
              <a:alpha val="0"/>
            </a:srgbClr>
          </a:solidFill>
          <a:ln xmlns:a="http://schemas.openxmlformats.org/drawingml/2006/main" w="57150">
            <a:solidFill>
              <a:srgbClr val="F59E0B"/>
            </a:solidFill>
            <a:prstDash val="solid"/>
          </a:ln>
        </p:spPr>
      </p:sp>
      <p:sp>
        <p:nvSpPr>
          <p:cNvPr id="119" name="">
            <a:extLst xmlns:a="http://schemas.openxmlformats.org/drawingml/2006/main">
              <a:ext uri="{FF2B5EF4-FFF2-40B4-BE49-F238E27FC236}">
                <a16:creationId xmlns:a16="http://schemas.microsoft.com/office/drawing/2014/main" id="{75ECF98A-437B-4142-8353-3D85EA69605F}"/>
              </a:ext>
            </a:extLst>
          </p:cNvPr>
          <p:cNvSpPr>
            <a:spLocks xmlns:a="http://schemas.openxmlformats.org/drawingml/2006/main" noGrp="1"/>
          </p:cNvSpPr>
          <p:nvPr/>
        </p:nvSpPr>
        <p:spPr>
          <a:xfrm xmlns:a="http://schemas.openxmlformats.org/drawingml/2006/main" flipH="0" flipV="1">
            <a:off x="15211425" y="14230350"/>
            <a:ext cx="619125" cy="428625"/>
          </a:xfrm>
          <a:prstGeom xmlns:a="http://schemas.openxmlformats.org/drawingml/2006/main" prst="line">
            <a:avLst/>
          </a:prstGeom>
          <a:solidFill xmlns:a="http://schemas.openxmlformats.org/drawingml/2006/main">
            <a:srgbClr val="000000">
              <a:alpha val="0"/>
            </a:srgbClr>
          </a:solidFill>
          <a:ln xmlns:a="http://schemas.openxmlformats.org/drawingml/2006/main" w="57150">
            <a:solidFill>
              <a:srgbClr val="F59E0B"/>
            </a:solidFill>
            <a:prstDash val="solid"/>
          </a:ln>
        </p:spPr>
      </p:sp>
      <p:sp>
        <p:nvSpPr>
          <p:cNvPr id="120" name="">
            <a:extLst xmlns:a="http://schemas.openxmlformats.org/drawingml/2006/main">
              <a:ext uri="{FF2B5EF4-FFF2-40B4-BE49-F238E27FC236}">
                <a16:creationId xmlns:a16="http://schemas.microsoft.com/office/drawing/2014/main" id="{073E468D-3E25-4A50-A98B-D713226A90BD}"/>
              </a:ext>
            </a:extLst>
          </p:cNvPr>
          <p:cNvSpPr>
            <a:spLocks xmlns:a="http://schemas.openxmlformats.org/drawingml/2006/main" noGrp="1"/>
          </p:cNvSpPr>
          <p:nvPr/>
        </p:nvSpPr>
        <p:spPr>
          <a:xfrm xmlns:a="http://schemas.openxmlformats.org/drawingml/2006/main" flipH="0" flipV="0">
            <a:off x="12734925" y="14001750"/>
            <a:ext cx="0" cy="1885950"/>
          </a:xfrm>
          <a:prstGeom xmlns:a="http://schemas.openxmlformats.org/drawingml/2006/main" prst="line">
            <a:avLst/>
          </a:prstGeom>
          <a:solidFill xmlns:a="http://schemas.openxmlformats.org/drawingml/2006/main">
            <a:srgbClr val="000000">
              <a:alpha val="0"/>
            </a:srgbClr>
          </a:solidFill>
          <a:ln xmlns:a="http://schemas.openxmlformats.org/drawingml/2006/main" w="38100">
            <a:solidFill>
              <a:srgbClr val="7C3AED"/>
            </a:solidFill>
            <a:prstDash val="dash"/>
          </a:ln>
        </p:spPr>
      </p:sp>
      <p:sp>
        <p:nvSpPr>
          <p:cNvPr id="121" name="">
            <a:extLst xmlns:a="http://schemas.openxmlformats.org/drawingml/2006/main">
              <a:ext uri="{FF2B5EF4-FFF2-40B4-BE49-F238E27FC236}">
                <a16:creationId xmlns:a16="http://schemas.microsoft.com/office/drawing/2014/main" id="{4F8A241F-35F1-452A-8DCF-817E189B6AE8}"/>
              </a:ext>
            </a:extLst>
          </p:cNvPr>
          <p:cNvSpPr>
            <a:spLocks xmlns:a="http://schemas.openxmlformats.org/drawingml/2006/main" noGrp="1"/>
          </p:cNvSpPr>
          <p:nvPr/>
        </p:nvSpPr>
        <p:spPr>
          <a:xfrm xmlns:a="http://schemas.openxmlformats.org/drawingml/2006/main">
            <a:off x="12334875" y="13563600"/>
            <a:ext cx="1333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a:solidFill>
                  <a:srgbClr val="7C3AED"/>
                </a:solidFill>
                <a:latin typeface="Aptos"/>
                <a:ea typeface="Aptos"/>
                <a:cs typeface="Aptos"/>
              </a:defRPr>
            </a:pPr>
            <a:r>
              <a:rPr sz="1725" b="1">
                <a:solidFill>
                  <a:srgbClr val="7C3AED"/>
                </a:solidFill>
                <a:latin typeface="Aptos"/>
                <a:ea typeface="Aptos"/>
                <a:cs typeface="Aptos"/>
              </a:rPr>
              <a:t>selected fₖ</a:t>
            </a:r>
          </a:p>
        </p:txBody>
      </p:sp>
      <p:sp>
        <p:nvSpPr>
          <p:cNvPr id="122" name="">
            <a:extLst xmlns:a="http://schemas.openxmlformats.org/drawingml/2006/main">
              <a:ext uri="{FF2B5EF4-FFF2-40B4-BE49-F238E27FC236}">
                <a16:creationId xmlns:a16="http://schemas.microsoft.com/office/drawing/2014/main" id="{C81B5133-D8EE-4E61-B6E1-A7E7BC0EBB5A}"/>
              </a:ext>
            </a:extLst>
          </p:cNvPr>
          <p:cNvSpPr>
            <a:spLocks xmlns:a="http://schemas.openxmlformats.org/drawingml/2006/main" noGrp="1"/>
          </p:cNvSpPr>
          <p:nvPr/>
        </p:nvSpPr>
        <p:spPr>
          <a:xfrm xmlns:a="http://schemas.openxmlformats.org/drawingml/2006/main">
            <a:off x="9544050" y="17049750"/>
            <a:ext cx="8343900" cy="1743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00" b="0">
                <a:solidFill>
                  <a:srgbClr val="172033"/>
                </a:solidFill>
                <a:latin typeface="Aptos"/>
                <a:ea typeface="Aptos"/>
                <a:cs typeface="Aptos"/>
              </a:defRPr>
            </a:pPr>
            <a:r>
              <a:rPr sz="2400" b="0">
                <a:solidFill>
                  <a:srgbClr val="172033"/>
                </a:solidFill>
                <a:latin typeface="Aptos"/>
                <a:ea typeface="Aptos"/>
                <a:cs typeface="Aptos"/>
              </a:rPr>
              <a:t>Frequency selection is shared across views: we greedily choose a compact set whose reconstructed spectra explain the observed flow energy, then export the complex 2D mode at each selected frequency.</a:t>
            </a:r>
          </a:p>
        </p:txBody>
      </p:sp>
      <p:sp>
        <p:nvSpPr>
          <p:cNvPr id="123" name="">
            <a:extLst xmlns:a="http://schemas.openxmlformats.org/drawingml/2006/main">
              <a:ext uri="{FF2B5EF4-FFF2-40B4-BE49-F238E27FC236}">
                <a16:creationId xmlns:a16="http://schemas.microsoft.com/office/drawing/2014/main" id="{8153E02F-C9B1-463A-BB45-1A42AC4DA821}"/>
              </a:ext>
            </a:extLst>
          </p:cNvPr>
          <p:cNvSpPr>
            <a:spLocks xmlns:a="http://schemas.openxmlformats.org/drawingml/2006/main" noGrp="1"/>
          </p:cNvSpPr>
          <p:nvPr/>
        </p:nvSpPr>
        <p:spPr>
          <a:xfrm xmlns:a="http://schemas.openxmlformats.org/drawingml/2006/main">
            <a:off x="9544050" y="19183350"/>
            <a:ext cx="514350" cy="514350"/>
          </a:xfrm>
          <a:prstGeom xmlns:a="http://schemas.openxmlformats.org/drawingml/2006/main" prst="roundRect">
            <a:avLst>
              <a:gd name="adj" fmla="val 50000"/>
            </a:avLst>
          </a:prstGeom>
          <a:solidFill xmlns:a="http://schemas.openxmlformats.org/drawingml/2006/main">
            <a:srgbClr val="0F9D8A"/>
          </a:solidFill>
          <a:ln xmlns:a="http://schemas.openxmlformats.org/drawingml/2006/main" w="0">
            <a:solidFill>
              <a:srgbClr val="0F9D8A"/>
            </a:solidFill>
            <a:prstDash val="solid"/>
          </a:ln>
        </p:spPr>
      </p:sp>
      <p:sp>
        <p:nvSpPr>
          <p:cNvPr id="124" name="">
            <a:extLst xmlns:a="http://schemas.openxmlformats.org/drawingml/2006/main">
              <a:ext uri="{FF2B5EF4-FFF2-40B4-BE49-F238E27FC236}">
                <a16:creationId xmlns:a16="http://schemas.microsoft.com/office/drawing/2014/main" id="{DD35F8FB-CF3D-4409-8136-ABE0A9EC5274}"/>
              </a:ext>
            </a:extLst>
          </p:cNvPr>
          <p:cNvSpPr>
            <a:spLocks xmlns:a="http://schemas.openxmlformats.org/drawingml/2006/main" noGrp="1"/>
          </p:cNvSpPr>
          <p:nvPr/>
        </p:nvSpPr>
        <p:spPr>
          <a:xfrm xmlns:a="http://schemas.openxmlformats.org/drawingml/2006/main">
            <a:off x="9544050" y="19173825"/>
            <a:ext cx="5143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FFFFFF"/>
                </a:solidFill>
                <a:latin typeface="Aptos"/>
                <a:ea typeface="Aptos"/>
                <a:cs typeface="Aptos"/>
              </a:defRPr>
            </a:pPr>
            <a:r>
              <a:rPr sz="2250" b="1">
                <a:solidFill>
                  <a:srgbClr val="FFFFFF"/>
                </a:solidFill>
                <a:latin typeface="Aptos"/>
                <a:ea typeface="Aptos"/>
                <a:cs typeface="Aptos"/>
              </a:rPr>
              <a:t>4</a:t>
            </a:r>
          </a:p>
        </p:txBody>
      </p:sp>
      <p:sp>
        <p:nvSpPr>
          <p:cNvPr id="125" name="">
            <a:extLst xmlns:a="http://schemas.openxmlformats.org/drawingml/2006/main">
              <a:ext uri="{FF2B5EF4-FFF2-40B4-BE49-F238E27FC236}">
                <a16:creationId xmlns:a16="http://schemas.microsoft.com/office/drawing/2014/main" id="{C76E3D43-3F0F-4D7B-A0AD-5DC912280606}"/>
              </a:ext>
            </a:extLst>
          </p:cNvPr>
          <p:cNvSpPr>
            <a:spLocks xmlns:a="http://schemas.openxmlformats.org/drawingml/2006/main" noGrp="1"/>
          </p:cNvSpPr>
          <p:nvPr/>
        </p:nvSpPr>
        <p:spPr>
          <a:xfrm xmlns:a="http://schemas.openxmlformats.org/drawingml/2006/main">
            <a:off x="10229850" y="19145250"/>
            <a:ext cx="76581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975" b="1">
                <a:solidFill>
                  <a:srgbClr val="172033"/>
                </a:solidFill>
                <a:latin typeface="Aptos Display"/>
                <a:ea typeface="Aptos Display"/>
                <a:cs typeface="Aptos Display"/>
              </a:defRPr>
            </a:pPr>
            <a:r>
              <a:rPr sz="3975" b="1">
                <a:solidFill>
                  <a:srgbClr val="172033"/>
                </a:solidFill>
                <a:latin typeface="Aptos Display"/>
                <a:ea typeface="Aptos Display"/>
                <a:cs typeface="Aptos Display"/>
              </a:rPr>
              <a:t>Pixel ↔ Gaussian topology</a:t>
            </a:r>
          </a:p>
        </p:txBody>
      </p:sp>
      <p:sp>
        <p:nvSpPr>
          <p:cNvPr id="126" name="">
            <a:extLst xmlns:a="http://schemas.openxmlformats.org/drawingml/2006/main">
              <a:ext uri="{FF2B5EF4-FFF2-40B4-BE49-F238E27FC236}">
                <a16:creationId xmlns:a16="http://schemas.microsoft.com/office/drawing/2014/main" id="{05939376-7177-4623-AB37-155AB9E26223}"/>
              </a:ext>
            </a:extLst>
          </p:cNvPr>
          <p:cNvSpPr>
            <a:spLocks xmlns:a="http://schemas.openxmlformats.org/drawingml/2006/main" noGrp="1"/>
          </p:cNvSpPr>
          <p:nvPr/>
        </p:nvSpPr>
        <p:spPr>
          <a:xfrm xmlns:a="http://schemas.openxmlformats.org/drawingml/2006/main" flipH="0" flipV="0">
            <a:off x="9544050" y="19792950"/>
            <a:ext cx="83439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0F9D8A"/>
            </a:solidFill>
            <a:prstDash val="solid"/>
          </a:ln>
        </p:spPr>
      </p:sp>
      <p:sp>
        <p:nvSpPr>
          <p:cNvPr id="127" name="">
            <a:extLst xmlns:a="http://schemas.openxmlformats.org/drawingml/2006/main">
              <a:ext uri="{FF2B5EF4-FFF2-40B4-BE49-F238E27FC236}">
                <a16:creationId xmlns:a16="http://schemas.microsoft.com/office/drawing/2014/main" id="{4562552B-F206-4457-9BC7-B12E0543D1D3}"/>
              </a:ext>
            </a:extLst>
          </p:cNvPr>
          <p:cNvSpPr>
            <a:spLocks xmlns:a="http://schemas.openxmlformats.org/drawingml/2006/main" noGrp="1"/>
          </p:cNvSpPr>
          <p:nvPr/>
        </p:nvSpPr>
        <p:spPr>
          <a:xfrm xmlns:a="http://schemas.openxmlformats.org/drawingml/2006/main">
            <a:off x="9544050" y="19907250"/>
            <a:ext cx="83439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00" b="0">
                <a:solidFill>
                  <a:srgbClr val="172033"/>
                </a:solidFill>
                <a:latin typeface="Aptos"/>
                <a:ea typeface="Aptos"/>
                <a:cs typeface="Aptos"/>
              </a:defRPr>
            </a:pPr>
            <a:r>
              <a:rPr sz="2400" b="0">
                <a:solidFill>
                  <a:srgbClr val="172033"/>
                </a:solidFill>
                <a:latin typeface="Aptos"/>
                <a:ea typeface="Aptos"/>
                <a:cs typeface="Aptos"/>
              </a:rPr>
              <a:t>Following motion-aware Gaussian topology construction, each masked pixel is unprojected with the static depth map. Nearby Gaussian candidates are found in 3D, then ranked by an anisotropic Gaussian score rather than Euclidean distance alone:</a:t>
            </a:r>
          </a:p>
        </p:txBody>
      </p:sp>
      <p:sp>
        <p:nvSpPr>
          <p:cNvPr id="128" name="">
            <a:extLst xmlns:a="http://schemas.openxmlformats.org/drawingml/2006/main">
              <a:ext uri="{FF2B5EF4-FFF2-40B4-BE49-F238E27FC236}">
                <a16:creationId xmlns:a16="http://schemas.microsoft.com/office/drawing/2014/main" id="{862F8475-0CAB-4FEC-BD8E-48DAD4B8A7C5}"/>
              </a:ext>
            </a:extLst>
          </p:cNvPr>
          <p:cNvSpPr>
            <a:spLocks xmlns:a="http://schemas.openxmlformats.org/drawingml/2006/main" noGrp="1"/>
          </p:cNvSpPr>
          <p:nvPr/>
        </p:nvSpPr>
        <p:spPr>
          <a:xfrm xmlns:a="http://schemas.openxmlformats.org/drawingml/2006/main">
            <a:off x="9544050" y="22002750"/>
            <a:ext cx="8343900" cy="1028700"/>
          </a:xfrm>
          <a:prstGeom xmlns:a="http://schemas.openxmlformats.org/drawingml/2006/main" prst="roundRect">
            <a:avLst>
              <a:gd name="adj" fmla="val 14815"/>
            </a:avLst>
          </a:prstGeom>
          <a:solidFill xmlns:a="http://schemas.openxmlformats.org/drawingml/2006/main">
            <a:srgbClr val="E5F7F3"/>
          </a:solidFill>
          <a:ln xmlns:a="http://schemas.openxmlformats.org/drawingml/2006/main" w="19050">
            <a:solidFill>
              <a:srgbClr val="0F9D8A"/>
            </a:solidFill>
            <a:prstDash val="solid"/>
          </a:ln>
        </p:spPr>
      </p:sp>
      <p:sp>
        <p:nvSpPr>
          <p:cNvPr id="129" name="">
            <a:extLst xmlns:a="http://schemas.openxmlformats.org/drawingml/2006/main">
              <a:ext uri="{FF2B5EF4-FFF2-40B4-BE49-F238E27FC236}">
                <a16:creationId xmlns:a16="http://schemas.microsoft.com/office/drawing/2014/main" id="{8510D01E-661F-4A4D-9EB4-EF09E105E3E6}"/>
              </a:ext>
            </a:extLst>
          </p:cNvPr>
          <p:cNvSpPr>
            <a:spLocks xmlns:a="http://schemas.openxmlformats.org/drawingml/2006/main" noGrp="1"/>
          </p:cNvSpPr>
          <p:nvPr/>
        </p:nvSpPr>
        <p:spPr>
          <a:xfrm xmlns:a="http://schemas.openxmlformats.org/drawingml/2006/main">
            <a:off x="9734550" y="22098000"/>
            <a:ext cx="79629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325" b="0">
                <a:solidFill>
                  <a:srgbClr val="172033"/>
                </a:solidFill>
                <a:latin typeface="Cambria Math"/>
                <a:ea typeface="Cambria Math"/>
                <a:cs typeface="Cambria Math"/>
              </a:defRPr>
            </a:pPr>
            <a:r>
              <a:rPr sz="2325" b="0">
                <a:solidFill>
                  <a:srgbClr val="172033"/>
                </a:solidFill>
                <a:latin typeface="Cambria Math"/>
                <a:ea typeface="Cambria Math"/>
                <a:cs typeface="Cambria Math"/>
              </a:rPr>
              <a:t>sp,g = og exp[−½(Xp−μg)ᵀ Σg⁻¹ (Xp−μg)]</a:t>
            </a:r>
          </a:p>
        </p:txBody>
      </p:sp>
      <p:sp>
        <p:nvSpPr>
          <p:cNvPr id="130" name="">
            <a:extLst xmlns:a="http://schemas.openxmlformats.org/drawingml/2006/main">
              <a:ext uri="{FF2B5EF4-FFF2-40B4-BE49-F238E27FC236}">
                <a16:creationId xmlns:a16="http://schemas.microsoft.com/office/drawing/2014/main" id="{C50470C7-01AC-4B25-AC96-D48CFEDFB196}"/>
              </a:ext>
            </a:extLst>
          </p:cNvPr>
          <p:cNvSpPr>
            <a:spLocks xmlns:a="http://schemas.openxmlformats.org/drawingml/2006/main" noGrp="1"/>
          </p:cNvSpPr>
          <p:nvPr/>
        </p:nvSpPr>
        <p:spPr>
          <a:xfrm xmlns:a="http://schemas.openxmlformats.org/drawingml/2006/main">
            <a:off x="9544050" y="23241000"/>
            <a:ext cx="8343900" cy="3810000"/>
          </a:xfrm>
          <a:prstGeom xmlns:a="http://schemas.openxmlformats.org/drawingml/2006/main" prst="roundRect">
            <a:avLst>
              <a:gd name="adj" fmla="val 4500"/>
            </a:avLst>
          </a:prstGeom>
          <a:solidFill xmlns:a="http://schemas.openxmlformats.org/drawingml/2006/main">
            <a:srgbClr val="F7F9FC"/>
          </a:solidFill>
          <a:ln xmlns:a="http://schemas.openxmlformats.org/drawingml/2006/main" w="19050">
            <a:solidFill>
              <a:srgbClr val="E6EBF1"/>
            </a:solidFill>
            <a:prstDash val="solid"/>
          </a:ln>
        </p:spPr>
      </p:sp>
      <p:sp>
        <p:nvSpPr>
          <p:cNvPr id="131" name="">
            <a:extLst xmlns:a="http://schemas.openxmlformats.org/drawingml/2006/main">
              <a:ext uri="{FF2B5EF4-FFF2-40B4-BE49-F238E27FC236}">
                <a16:creationId xmlns:a16="http://schemas.microsoft.com/office/drawing/2014/main" id="{44582B2B-39A3-4CFF-A587-D51178E928C1}"/>
              </a:ext>
            </a:extLst>
          </p:cNvPr>
          <p:cNvSpPr>
            <a:spLocks xmlns:a="http://schemas.openxmlformats.org/drawingml/2006/main" noGrp="1"/>
          </p:cNvSpPr>
          <p:nvPr/>
        </p:nvSpPr>
        <p:spPr>
          <a:xfrm xmlns:a="http://schemas.openxmlformats.org/drawingml/2006/main">
            <a:off x="9829800" y="23469600"/>
            <a:ext cx="7772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100" b="1">
                <a:solidFill>
                  <a:srgbClr val="172033"/>
                </a:solidFill>
                <a:latin typeface="Aptos"/>
                <a:ea typeface="Aptos"/>
                <a:cs typeface="Aptos"/>
              </a:defRPr>
            </a:pPr>
            <a:r>
              <a:rPr sz="2100" b="1">
                <a:solidFill>
                  <a:srgbClr val="172033"/>
                </a:solidFill>
                <a:latin typeface="Aptos"/>
                <a:ea typeface="Aptos"/>
                <a:cs typeface="Aptos"/>
              </a:rPr>
              <a:t>One pixel selects a small set of plausible 3D contributors</a:t>
            </a:r>
          </a:p>
        </p:txBody>
      </p:sp>
      <p:sp>
        <p:nvSpPr>
          <p:cNvPr id="132" name="">
            <a:extLst xmlns:a="http://schemas.openxmlformats.org/drawingml/2006/main">
              <a:ext uri="{FF2B5EF4-FFF2-40B4-BE49-F238E27FC236}">
                <a16:creationId xmlns:a16="http://schemas.microsoft.com/office/drawing/2014/main" id="{BCD76AFB-DA9A-4276-B4F2-413F0E9BD79C}"/>
              </a:ext>
            </a:extLst>
          </p:cNvPr>
          <p:cNvSpPr>
            <a:spLocks xmlns:a="http://schemas.openxmlformats.org/drawingml/2006/main" noGrp="1"/>
          </p:cNvSpPr>
          <p:nvPr/>
        </p:nvSpPr>
        <p:spPr>
          <a:xfrm xmlns:a="http://schemas.openxmlformats.org/drawingml/2006/main">
            <a:off x="10591800" y="24622125"/>
            <a:ext cx="1095375" cy="1095375"/>
          </a:xfrm>
          <a:prstGeom xmlns:a="http://schemas.openxmlformats.org/drawingml/2006/main" prst="roundRect">
            <a:avLst>
              <a:gd name="adj" fmla="val 6957"/>
            </a:avLst>
          </a:prstGeom>
          <a:solidFill xmlns:a="http://schemas.openxmlformats.org/drawingml/2006/main">
            <a:srgbClr val="FFF4D7"/>
          </a:solidFill>
          <a:ln xmlns:a="http://schemas.openxmlformats.org/drawingml/2006/main" w="38100">
            <a:solidFill>
              <a:srgbClr val="F59E0B"/>
            </a:solidFill>
            <a:prstDash val="solid"/>
          </a:ln>
        </p:spPr>
      </p:sp>
      <p:sp>
        <p:nvSpPr>
          <p:cNvPr id="133" name="">
            <a:extLst xmlns:a="http://schemas.openxmlformats.org/drawingml/2006/main">
              <a:ext uri="{FF2B5EF4-FFF2-40B4-BE49-F238E27FC236}">
                <a16:creationId xmlns:a16="http://schemas.microsoft.com/office/drawing/2014/main" id="{8E1E2168-9EAC-46E8-B699-531194ED439B}"/>
              </a:ext>
            </a:extLst>
          </p:cNvPr>
          <p:cNvSpPr>
            <a:spLocks xmlns:a="http://schemas.openxmlformats.org/drawingml/2006/main" noGrp="1"/>
          </p:cNvSpPr>
          <p:nvPr/>
        </p:nvSpPr>
        <p:spPr>
          <a:xfrm xmlns:a="http://schemas.openxmlformats.org/drawingml/2006/main">
            <a:off x="10591800" y="24622125"/>
            <a:ext cx="1095375" cy="1095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3300" b="1">
                <a:solidFill>
                  <a:srgbClr val="F59E0B"/>
                </a:solidFill>
                <a:latin typeface="Cambria Math"/>
                <a:ea typeface="Cambria Math"/>
                <a:cs typeface="Cambria Math"/>
              </a:defRPr>
            </a:pPr>
            <a:r>
              <a:rPr sz="3300" b="1">
                <a:solidFill>
                  <a:srgbClr val="F59E0B"/>
                </a:solidFill>
                <a:latin typeface="Cambria Math"/>
                <a:ea typeface="Cambria Math"/>
                <a:cs typeface="Cambria Math"/>
              </a:rPr>
              <a:t>p</a:t>
            </a:r>
          </a:p>
        </p:txBody>
      </p:sp>
      <p:sp>
        <p:nvSpPr>
          <p:cNvPr id="134" name="">
            <a:extLst xmlns:a="http://schemas.openxmlformats.org/drawingml/2006/main">
              <a:ext uri="{FF2B5EF4-FFF2-40B4-BE49-F238E27FC236}">
                <a16:creationId xmlns:a16="http://schemas.microsoft.com/office/drawing/2014/main" id="{BF55C8AC-89B7-409D-9DF1-E6D963264B69}"/>
              </a:ext>
            </a:extLst>
          </p:cNvPr>
          <p:cNvSpPr>
            <a:spLocks xmlns:a="http://schemas.openxmlformats.org/drawingml/2006/main" noGrp="1"/>
          </p:cNvSpPr>
          <p:nvPr/>
        </p:nvSpPr>
        <p:spPr>
          <a:xfrm xmlns:a="http://schemas.openxmlformats.org/drawingml/2006/main" flipH="0" flipV="1">
            <a:off x="11687175" y="24422100"/>
            <a:ext cx="1952625" cy="752475"/>
          </a:xfrm>
          <a:prstGeom xmlns:a="http://schemas.openxmlformats.org/drawingml/2006/main" prst="line">
            <a:avLst/>
          </a:prstGeom>
          <a:solidFill xmlns:a="http://schemas.openxmlformats.org/drawingml/2006/main">
            <a:srgbClr val="000000">
              <a:alpha val="0"/>
            </a:srgbClr>
          </a:solidFill>
          <a:ln xmlns:a="http://schemas.openxmlformats.org/drawingml/2006/main" w="66675">
            <a:solidFill>
              <a:srgbClr val="0F9D8A">
                <a:alpha val="60000"/>
              </a:srgbClr>
            </a:solidFill>
            <a:prstDash val="solid"/>
          </a:ln>
        </p:spPr>
      </p:sp>
      <p:sp>
        <p:nvSpPr>
          <p:cNvPr id="135" name="">
            <a:extLst xmlns:a="http://schemas.openxmlformats.org/drawingml/2006/main">
              <a:ext uri="{FF2B5EF4-FFF2-40B4-BE49-F238E27FC236}">
                <a16:creationId xmlns:a16="http://schemas.microsoft.com/office/drawing/2014/main" id="{4E93E72B-6B99-4698-A728-B6212DEDF823}"/>
              </a:ext>
            </a:extLst>
          </p:cNvPr>
          <p:cNvSpPr>
            <a:spLocks xmlns:a="http://schemas.openxmlformats.org/drawingml/2006/main" noGrp="1"/>
          </p:cNvSpPr>
          <p:nvPr/>
        </p:nvSpPr>
        <p:spPr>
          <a:xfrm xmlns:a="http://schemas.openxmlformats.org/drawingml/2006/main" rot="-960000">
            <a:off x="13639800" y="24098250"/>
            <a:ext cx="1190625" cy="647700"/>
          </a:xfrm>
          <a:prstGeom xmlns:a="http://schemas.openxmlformats.org/drawingml/2006/main" prst="ellipse">
            <a:avLst/>
          </a:prstGeom>
          <a:solidFill xmlns:a="http://schemas.openxmlformats.org/drawingml/2006/main">
            <a:srgbClr val="0F9D8A">
              <a:alpha val="53333"/>
            </a:srgbClr>
          </a:solidFill>
          <a:ln xmlns:a="http://schemas.openxmlformats.org/drawingml/2006/main" w="38100">
            <a:solidFill>
              <a:srgbClr val="0F9D8A"/>
            </a:solidFill>
            <a:prstDash val="solid"/>
          </a:ln>
        </p:spPr>
      </p:sp>
      <p:sp>
        <p:nvSpPr>
          <p:cNvPr id="136" name="">
            <a:extLst xmlns:a="http://schemas.openxmlformats.org/drawingml/2006/main">
              <a:ext uri="{FF2B5EF4-FFF2-40B4-BE49-F238E27FC236}">
                <a16:creationId xmlns:a16="http://schemas.microsoft.com/office/drawing/2014/main" id="{BBE3FA74-BB6D-4725-ABB2-8BDBA6DE23D2}"/>
              </a:ext>
            </a:extLst>
          </p:cNvPr>
          <p:cNvSpPr>
            <a:spLocks xmlns:a="http://schemas.openxmlformats.org/drawingml/2006/main" noGrp="1"/>
          </p:cNvSpPr>
          <p:nvPr/>
        </p:nvSpPr>
        <p:spPr>
          <a:xfrm xmlns:a="http://schemas.openxmlformats.org/drawingml/2006/main">
            <a:off x="13868400" y="24260175"/>
            <a:ext cx="7143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a:solidFill>
                  <a:srgbClr val="FFFFFF"/>
                </a:solidFill>
                <a:latin typeface="Aptos"/>
                <a:ea typeface="Aptos"/>
                <a:cs typeface="Aptos"/>
              </a:defRPr>
            </a:pPr>
            <a:r>
              <a:rPr sz="1725" b="1">
                <a:solidFill>
                  <a:srgbClr val="FFFFFF"/>
                </a:solidFill>
                <a:latin typeface="Aptos"/>
                <a:ea typeface="Aptos"/>
                <a:cs typeface="Aptos"/>
              </a:rPr>
              <a:t>g1</a:t>
            </a:r>
          </a:p>
        </p:txBody>
      </p:sp>
      <p:sp>
        <p:nvSpPr>
          <p:cNvPr id="137" name="">
            <a:extLst xmlns:a="http://schemas.openxmlformats.org/drawingml/2006/main">
              <a:ext uri="{FF2B5EF4-FFF2-40B4-BE49-F238E27FC236}">
                <a16:creationId xmlns:a16="http://schemas.microsoft.com/office/drawing/2014/main" id="{9CA63E1E-096F-4D5E-981E-97BB74952B13}"/>
              </a:ext>
            </a:extLst>
          </p:cNvPr>
          <p:cNvSpPr>
            <a:spLocks xmlns:a="http://schemas.openxmlformats.org/drawingml/2006/main" noGrp="1"/>
          </p:cNvSpPr>
          <p:nvPr/>
        </p:nvSpPr>
        <p:spPr>
          <a:xfrm xmlns:a="http://schemas.openxmlformats.org/drawingml/2006/main" flipH="0" flipV="1">
            <a:off x="11687175" y="25136475"/>
            <a:ext cx="3619500" cy="3810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2563EB">
                <a:alpha val="60000"/>
              </a:srgbClr>
            </a:solidFill>
            <a:prstDash val="solid"/>
          </a:ln>
        </p:spPr>
      </p:sp>
      <p:sp>
        <p:nvSpPr>
          <p:cNvPr id="138" name="">
            <a:extLst xmlns:a="http://schemas.openxmlformats.org/drawingml/2006/main">
              <a:ext uri="{FF2B5EF4-FFF2-40B4-BE49-F238E27FC236}">
                <a16:creationId xmlns:a16="http://schemas.microsoft.com/office/drawing/2014/main" id="{65E64809-A381-40B0-9817-0AFBCAD15759}"/>
              </a:ext>
            </a:extLst>
          </p:cNvPr>
          <p:cNvSpPr>
            <a:spLocks xmlns:a="http://schemas.openxmlformats.org/drawingml/2006/main" noGrp="1"/>
          </p:cNvSpPr>
          <p:nvPr/>
        </p:nvSpPr>
        <p:spPr>
          <a:xfrm xmlns:a="http://schemas.openxmlformats.org/drawingml/2006/main" rot="180000">
            <a:off x="15306675" y="24812625"/>
            <a:ext cx="1190625" cy="647700"/>
          </a:xfrm>
          <a:prstGeom xmlns:a="http://schemas.openxmlformats.org/drawingml/2006/main" prst="ellipse">
            <a:avLst/>
          </a:prstGeom>
          <a:solidFill xmlns:a="http://schemas.openxmlformats.org/drawingml/2006/main">
            <a:srgbClr val="2563EB">
              <a:alpha val="53333"/>
            </a:srgbClr>
          </a:solidFill>
          <a:ln xmlns:a="http://schemas.openxmlformats.org/drawingml/2006/main" w="38100">
            <a:solidFill>
              <a:srgbClr val="2563EB"/>
            </a:solidFill>
            <a:prstDash val="solid"/>
          </a:ln>
        </p:spPr>
      </p:sp>
      <p:sp>
        <p:nvSpPr>
          <p:cNvPr id="139" name="">
            <a:extLst xmlns:a="http://schemas.openxmlformats.org/drawingml/2006/main">
              <a:ext uri="{FF2B5EF4-FFF2-40B4-BE49-F238E27FC236}">
                <a16:creationId xmlns:a16="http://schemas.microsoft.com/office/drawing/2014/main" id="{2E24B5BD-396E-492A-A680-82720336FEED}"/>
              </a:ext>
            </a:extLst>
          </p:cNvPr>
          <p:cNvSpPr>
            <a:spLocks xmlns:a="http://schemas.openxmlformats.org/drawingml/2006/main" noGrp="1"/>
          </p:cNvSpPr>
          <p:nvPr/>
        </p:nvSpPr>
        <p:spPr>
          <a:xfrm xmlns:a="http://schemas.openxmlformats.org/drawingml/2006/main">
            <a:off x="15535275" y="24974550"/>
            <a:ext cx="7143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a:solidFill>
                  <a:srgbClr val="FFFFFF"/>
                </a:solidFill>
                <a:latin typeface="Aptos"/>
                <a:ea typeface="Aptos"/>
                <a:cs typeface="Aptos"/>
              </a:defRPr>
            </a:pPr>
            <a:r>
              <a:rPr sz="1725" b="1">
                <a:solidFill>
                  <a:srgbClr val="FFFFFF"/>
                </a:solidFill>
                <a:latin typeface="Aptos"/>
                <a:ea typeface="Aptos"/>
                <a:cs typeface="Aptos"/>
              </a:rPr>
              <a:t>g2</a:t>
            </a:r>
          </a:p>
        </p:txBody>
      </p:sp>
      <p:sp>
        <p:nvSpPr>
          <p:cNvPr id="140" name="">
            <a:extLst xmlns:a="http://schemas.openxmlformats.org/drawingml/2006/main">
              <a:ext uri="{FF2B5EF4-FFF2-40B4-BE49-F238E27FC236}">
                <a16:creationId xmlns:a16="http://schemas.microsoft.com/office/drawing/2014/main" id="{AD9F2F53-2603-4F9A-B2D8-5C825D5DF74C}"/>
              </a:ext>
            </a:extLst>
          </p:cNvPr>
          <p:cNvSpPr>
            <a:spLocks xmlns:a="http://schemas.openxmlformats.org/drawingml/2006/main" noGrp="1"/>
          </p:cNvSpPr>
          <p:nvPr/>
        </p:nvSpPr>
        <p:spPr>
          <a:xfrm xmlns:a="http://schemas.openxmlformats.org/drawingml/2006/main" flipH="0" flipV="0">
            <a:off x="11687175" y="25174575"/>
            <a:ext cx="2143125" cy="1152525"/>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7C3AED">
                <a:alpha val="60000"/>
              </a:srgbClr>
            </a:solidFill>
            <a:prstDash val="solid"/>
          </a:ln>
        </p:spPr>
      </p:sp>
      <p:sp>
        <p:nvSpPr>
          <p:cNvPr id="141" name="">
            <a:extLst xmlns:a="http://schemas.openxmlformats.org/drawingml/2006/main">
              <a:ext uri="{FF2B5EF4-FFF2-40B4-BE49-F238E27FC236}">
                <a16:creationId xmlns:a16="http://schemas.microsoft.com/office/drawing/2014/main" id="{F69A90C2-D601-40A4-AACA-B692BF2814FC}"/>
              </a:ext>
            </a:extLst>
          </p:cNvPr>
          <p:cNvSpPr>
            <a:spLocks xmlns:a="http://schemas.openxmlformats.org/drawingml/2006/main" noGrp="1"/>
          </p:cNvSpPr>
          <p:nvPr/>
        </p:nvSpPr>
        <p:spPr>
          <a:xfrm xmlns:a="http://schemas.openxmlformats.org/drawingml/2006/main" rot="1320000">
            <a:off x="13830300" y="26003250"/>
            <a:ext cx="1190625" cy="647700"/>
          </a:xfrm>
          <a:prstGeom xmlns:a="http://schemas.openxmlformats.org/drawingml/2006/main" prst="ellipse">
            <a:avLst/>
          </a:prstGeom>
          <a:solidFill xmlns:a="http://schemas.openxmlformats.org/drawingml/2006/main">
            <a:srgbClr val="7C3AED">
              <a:alpha val="53333"/>
            </a:srgbClr>
          </a:solidFill>
          <a:ln xmlns:a="http://schemas.openxmlformats.org/drawingml/2006/main" w="38100">
            <a:solidFill>
              <a:srgbClr val="7C3AED"/>
            </a:solidFill>
            <a:prstDash val="solid"/>
          </a:ln>
        </p:spPr>
      </p:sp>
      <p:sp>
        <p:nvSpPr>
          <p:cNvPr id="142" name="">
            <a:extLst xmlns:a="http://schemas.openxmlformats.org/drawingml/2006/main">
              <a:ext uri="{FF2B5EF4-FFF2-40B4-BE49-F238E27FC236}">
                <a16:creationId xmlns:a16="http://schemas.microsoft.com/office/drawing/2014/main" id="{BF3B1DC0-DB84-4D45-A38C-4FB6B1A14E35}"/>
              </a:ext>
            </a:extLst>
          </p:cNvPr>
          <p:cNvSpPr>
            <a:spLocks xmlns:a="http://schemas.openxmlformats.org/drawingml/2006/main" noGrp="1"/>
          </p:cNvSpPr>
          <p:nvPr/>
        </p:nvSpPr>
        <p:spPr>
          <a:xfrm xmlns:a="http://schemas.openxmlformats.org/drawingml/2006/main">
            <a:off x="14058900" y="26165175"/>
            <a:ext cx="7143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a:solidFill>
                  <a:srgbClr val="FFFFFF"/>
                </a:solidFill>
                <a:latin typeface="Aptos"/>
                <a:ea typeface="Aptos"/>
                <a:cs typeface="Aptos"/>
              </a:defRPr>
            </a:pPr>
            <a:r>
              <a:rPr sz="1725" b="1">
                <a:solidFill>
                  <a:srgbClr val="FFFFFF"/>
                </a:solidFill>
                <a:latin typeface="Aptos"/>
                <a:ea typeface="Aptos"/>
                <a:cs typeface="Aptos"/>
              </a:rPr>
              <a:t>g3</a:t>
            </a:r>
          </a:p>
        </p:txBody>
      </p:sp>
      <p:sp>
        <p:nvSpPr>
          <p:cNvPr id="143" name="">
            <a:extLst xmlns:a="http://schemas.openxmlformats.org/drawingml/2006/main">
              <a:ext uri="{FF2B5EF4-FFF2-40B4-BE49-F238E27FC236}">
                <a16:creationId xmlns:a16="http://schemas.microsoft.com/office/drawing/2014/main" id="{B707AFA1-736F-4B60-B9D1-B537B85B3CB9}"/>
              </a:ext>
            </a:extLst>
          </p:cNvPr>
          <p:cNvSpPr>
            <a:spLocks xmlns:a="http://schemas.openxmlformats.org/drawingml/2006/main" noGrp="1"/>
          </p:cNvSpPr>
          <p:nvPr/>
        </p:nvSpPr>
        <p:spPr>
          <a:xfrm xmlns:a="http://schemas.openxmlformats.org/drawingml/2006/main">
            <a:off x="12954000" y="26527125"/>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1">
                <a:solidFill>
                  <a:srgbClr val="0F9D8A"/>
                </a:solidFill>
                <a:latin typeface="Aptos"/>
                <a:ea typeface="Aptos"/>
                <a:cs typeface="Aptos"/>
              </a:defRPr>
            </a:pPr>
            <a:r>
              <a:rPr sz="1500" b="1">
                <a:solidFill>
                  <a:srgbClr val="0F9D8A"/>
                </a:solidFill>
                <a:latin typeface="Aptos"/>
                <a:ea typeface="Aptos"/>
                <a:cs typeface="Aptos"/>
              </a:rPr>
              <a:t>high score</a:t>
            </a:r>
          </a:p>
        </p:txBody>
      </p:sp>
      <p:sp>
        <p:nvSpPr>
          <p:cNvPr id="144" name="">
            <a:extLst xmlns:a="http://schemas.openxmlformats.org/drawingml/2006/main">
              <a:ext uri="{FF2B5EF4-FFF2-40B4-BE49-F238E27FC236}">
                <a16:creationId xmlns:a16="http://schemas.microsoft.com/office/drawing/2014/main" id="{993831BB-9354-4176-8B23-A08CDECF4126}"/>
              </a:ext>
            </a:extLst>
          </p:cNvPr>
          <p:cNvSpPr>
            <a:spLocks xmlns:a="http://schemas.openxmlformats.org/drawingml/2006/main" noGrp="1"/>
          </p:cNvSpPr>
          <p:nvPr/>
        </p:nvSpPr>
        <p:spPr>
          <a:xfrm xmlns:a="http://schemas.openxmlformats.org/drawingml/2006/main">
            <a:off x="14925675" y="26527125"/>
            <a:ext cx="1809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0">
                <a:solidFill>
                  <a:srgbClr val="526174"/>
                </a:solidFill>
                <a:latin typeface="Aptos"/>
                <a:ea typeface="Aptos"/>
                <a:cs typeface="Aptos"/>
              </a:defRPr>
            </a:pPr>
            <a:r>
              <a:rPr sz="1500" b="0">
                <a:solidFill>
                  <a:srgbClr val="526174"/>
                </a:solidFill>
                <a:latin typeface="Aptos"/>
                <a:ea typeface="Aptos"/>
                <a:cs typeface="Aptos"/>
              </a:rPr>
              <a:t>lower score</a:t>
            </a:r>
          </a:p>
        </p:txBody>
      </p:sp>
      <p:sp>
        <p:nvSpPr>
          <p:cNvPr id="145" name="">
            <a:extLst xmlns:a="http://schemas.openxmlformats.org/drawingml/2006/main">
              <a:ext uri="{FF2B5EF4-FFF2-40B4-BE49-F238E27FC236}">
                <a16:creationId xmlns:a16="http://schemas.microsoft.com/office/drawing/2014/main" id="{44A171BF-F3FF-4763-B6B3-65AB49067F69}"/>
              </a:ext>
            </a:extLst>
          </p:cNvPr>
          <p:cNvSpPr>
            <a:spLocks xmlns:a="http://schemas.openxmlformats.org/drawingml/2006/main" noGrp="1"/>
          </p:cNvSpPr>
          <p:nvPr/>
        </p:nvSpPr>
        <p:spPr>
          <a:xfrm xmlns:a="http://schemas.openxmlformats.org/drawingml/2006/main">
            <a:off x="9544050" y="27298650"/>
            <a:ext cx="8343900" cy="160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00" b="0">
                <a:solidFill>
                  <a:srgbClr val="172033"/>
                </a:solidFill>
                <a:latin typeface="Aptos"/>
                <a:ea typeface="Aptos"/>
                <a:cs typeface="Aptos"/>
              </a:defRPr>
            </a:pPr>
            <a:r>
              <a:rPr sz="2400" b="0">
                <a:solidFill>
                  <a:srgbClr val="172033"/>
                </a:solidFill>
                <a:latin typeface="Aptos"/>
                <a:ea typeface="Aptos"/>
                <a:cs typeface="Aptos"/>
              </a:rPr>
              <a:t>Across views, these correspondences form an observation topology 𝒪. It tells the solver which Gaussian centers are supported by which image-space mode samples; it is not yet a motion model.</a:t>
            </a:r>
          </a:p>
        </p:txBody>
      </p:sp>
      <p:sp>
        <p:nvSpPr>
          <p:cNvPr id="146" name="">
            <a:extLst xmlns:a="http://schemas.openxmlformats.org/drawingml/2006/main">
              <a:ext uri="{FF2B5EF4-FFF2-40B4-BE49-F238E27FC236}">
                <a16:creationId xmlns:a16="http://schemas.microsoft.com/office/drawing/2014/main" id="{C1DE9B2D-B3AF-413A-AE02-8F0952C33ADF}"/>
              </a:ext>
            </a:extLst>
          </p:cNvPr>
          <p:cNvSpPr>
            <a:spLocks xmlns:a="http://schemas.openxmlformats.org/drawingml/2006/main" noGrp="1"/>
          </p:cNvSpPr>
          <p:nvPr/>
        </p:nvSpPr>
        <p:spPr>
          <a:xfrm xmlns:a="http://schemas.openxmlformats.org/drawingml/2006/main">
            <a:off x="9544050" y="29070300"/>
            <a:ext cx="8343900" cy="2514600"/>
          </a:xfrm>
          <a:prstGeom xmlns:a="http://schemas.openxmlformats.org/drawingml/2006/main" prst="roundRect">
            <a:avLst>
              <a:gd name="adj" fmla="val 6818"/>
            </a:avLst>
          </a:prstGeom>
          <a:solidFill xmlns:a="http://schemas.openxmlformats.org/drawingml/2006/main">
            <a:srgbClr val="FFF4D7"/>
          </a:solidFill>
          <a:ln xmlns:a="http://schemas.openxmlformats.org/drawingml/2006/main" w="19050">
            <a:solidFill>
              <a:srgbClr val="F59E0B"/>
            </a:solidFill>
            <a:prstDash val="solid"/>
          </a:ln>
        </p:spPr>
      </p:sp>
      <p:sp>
        <p:nvSpPr>
          <p:cNvPr id="147" name="">
            <a:extLst xmlns:a="http://schemas.openxmlformats.org/drawingml/2006/main">
              <a:ext uri="{FF2B5EF4-FFF2-40B4-BE49-F238E27FC236}">
                <a16:creationId xmlns:a16="http://schemas.microsoft.com/office/drawing/2014/main" id="{4AEF863F-9258-43C5-8FDC-75047AFF3367}"/>
              </a:ext>
            </a:extLst>
          </p:cNvPr>
          <p:cNvSpPr>
            <a:spLocks xmlns:a="http://schemas.openxmlformats.org/drawingml/2006/main" noGrp="1"/>
          </p:cNvSpPr>
          <p:nvPr/>
        </p:nvSpPr>
        <p:spPr>
          <a:xfrm xmlns:a="http://schemas.openxmlformats.org/drawingml/2006/main">
            <a:off x="9810750" y="29317950"/>
            <a:ext cx="7810500"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475" b="1">
                <a:solidFill>
                  <a:srgbClr val="F59E0B"/>
                </a:solidFill>
                <a:latin typeface="Aptos"/>
                <a:ea typeface="Aptos"/>
                <a:cs typeface="Aptos"/>
              </a:defRPr>
            </a:pPr>
            <a:r>
              <a:rPr sz="2475" b="1">
                <a:solidFill>
                  <a:srgbClr val="F59E0B"/>
                </a:solidFill>
                <a:latin typeface="Aptos"/>
                <a:ea typeface="Aptos"/>
                <a:cs typeface="Aptos"/>
              </a:rPr>
              <a:t>Complex evidence matters</a:t>
            </a:r>
          </a:p>
        </p:txBody>
      </p:sp>
      <p:sp>
        <p:nvSpPr>
          <p:cNvPr id="148" name="">
            <a:extLst xmlns:a="http://schemas.openxmlformats.org/drawingml/2006/main">
              <a:ext uri="{FF2B5EF4-FFF2-40B4-BE49-F238E27FC236}">
                <a16:creationId xmlns:a16="http://schemas.microsoft.com/office/drawing/2014/main" id="{DA3FC489-FECD-4060-83C1-27F96D8DB8F4}"/>
              </a:ext>
            </a:extLst>
          </p:cNvPr>
          <p:cNvSpPr>
            <a:spLocks xmlns:a="http://schemas.openxmlformats.org/drawingml/2006/main" noGrp="1"/>
          </p:cNvSpPr>
          <p:nvPr/>
        </p:nvSpPr>
        <p:spPr>
          <a:xfrm xmlns:a="http://schemas.openxmlformats.org/drawingml/2006/main">
            <a:off x="9810750" y="29832300"/>
            <a:ext cx="7810500" cy="1390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8008"/>
          </a:bodyPr>
          <a:lstStyle xmlns:a="http://schemas.openxmlformats.org/drawingml/2006/main"/>
          <a:p xmlns:a="http://schemas.openxmlformats.org/drawingml/2006/main">
            <a:pPr algn="l">
              <a:lnSpc>
                <a:spcPct val="108000"/>
              </a:lnSpc>
              <a:buNone/>
              <a:defRPr sz="2250" b="0">
                <a:solidFill>
                  <a:srgbClr val="172033"/>
                </a:solidFill>
                <a:latin typeface="Aptos"/>
                <a:ea typeface="Aptos"/>
                <a:cs typeface="Aptos"/>
              </a:defRPr>
            </a:pPr>
            <a:r>
              <a:rPr sz="2250" b="0">
                <a:solidFill>
                  <a:srgbClr val="172033"/>
                </a:solidFill>
                <a:latin typeface="Aptos"/>
                <a:ea typeface="Aptos"/>
                <a:cs typeface="Aptos"/>
              </a:rPr>
              <a:t>The real and imaginary parts are solved together. This retains relative phase between locations and cameras, which is essential for distinguishing spatial vibration patterns that share similar amplitude.</a:t>
            </a:r>
          </a:p>
        </p:txBody>
      </p:sp>
      <p:sp>
        <p:nvSpPr>
          <p:cNvPr id="149" name="">
            <a:extLst xmlns:a="http://schemas.openxmlformats.org/drawingml/2006/main">
              <a:ext uri="{FF2B5EF4-FFF2-40B4-BE49-F238E27FC236}">
                <a16:creationId xmlns:a16="http://schemas.microsoft.com/office/drawing/2014/main" id="{80D24310-D686-4E39-ABBA-263534D8BB2A}"/>
              </a:ext>
            </a:extLst>
          </p:cNvPr>
          <p:cNvSpPr>
            <a:spLocks xmlns:a="http://schemas.openxmlformats.org/drawingml/2006/main" noGrp="1"/>
          </p:cNvSpPr>
          <p:nvPr/>
        </p:nvSpPr>
        <p:spPr>
          <a:xfrm xmlns:a="http://schemas.openxmlformats.org/drawingml/2006/main">
            <a:off x="18402300" y="8801100"/>
            <a:ext cx="514350" cy="514350"/>
          </a:xfrm>
          <a:prstGeom xmlns:a="http://schemas.openxmlformats.org/drawingml/2006/main" prst="roundRect">
            <a:avLst>
              <a:gd name="adj" fmla="val 50000"/>
            </a:avLst>
          </a:prstGeom>
          <a:solidFill xmlns:a="http://schemas.openxmlformats.org/drawingml/2006/main">
            <a:srgbClr val="7C3AED"/>
          </a:solidFill>
          <a:ln xmlns:a="http://schemas.openxmlformats.org/drawingml/2006/main" w="0">
            <a:solidFill>
              <a:srgbClr val="7C3AED"/>
            </a:solidFill>
            <a:prstDash val="solid"/>
          </a:ln>
        </p:spPr>
      </p:sp>
      <p:sp>
        <p:nvSpPr>
          <p:cNvPr id="150" name="">
            <a:extLst xmlns:a="http://schemas.openxmlformats.org/drawingml/2006/main">
              <a:ext uri="{FF2B5EF4-FFF2-40B4-BE49-F238E27FC236}">
                <a16:creationId xmlns:a16="http://schemas.microsoft.com/office/drawing/2014/main" id="{C1CB36D3-0E37-40E5-A0D8-F679087EC229}"/>
              </a:ext>
            </a:extLst>
          </p:cNvPr>
          <p:cNvSpPr>
            <a:spLocks xmlns:a="http://schemas.openxmlformats.org/drawingml/2006/main" noGrp="1"/>
          </p:cNvSpPr>
          <p:nvPr/>
        </p:nvSpPr>
        <p:spPr>
          <a:xfrm xmlns:a="http://schemas.openxmlformats.org/drawingml/2006/main">
            <a:off x="18402300" y="8791575"/>
            <a:ext cx="5143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FFFFFF"/>
                </a:solidFill>
                <a:latin typeface="Aptos"/>
                <a:ea typeface="Aptos"/>
                <a:cs typeface="Aptos"/>
              </a:defRPr>
            </a:pPr>
            <a:r>
              <a:rPr sz="2250" b="1">
                <a:solidFill>
                  <a:srgbClr val="FFFFFF"/>
                </a:solidFill>
                <a:latin typeface="Aptos"/>
                <a:ea typeface="Aptos"/>
                <a:cs typeface="Aptos"/>
              </a:rPr>
              <a:t>5</a:t>
            </a:r>
          </a:p>
        </p:txBody>
      </p:sp>
      <p:sp>
        <p:nvSpPr>
          <p:cNvPr id="151" name="">
            <a:extLst xmlns:a="http://schemas.openxmlformats.org/drawingml/2006/main">
              <a:ext uri="{FF2B5EF4-FFF2-40B4-BE49-F238E27FC236}">
                <a16:creationId xmlns:a16="http://schemas.microsoft.com/office/drawing/2014/main" id="{36ECEC50-9D20-47D9-85B8-6387C5371954}"/>
              </a:ext>
            </a:extLst>
          </p:cNvPr>
          <p:cNvSpPr>
            <a:spLocks xmlns:a="http://schemas.openxmlformats.org/drawingml/2006/main" noGrp="1"/>
          </p:cNvSpPr>
          <p:nvPr/>
        </p:nvSpPr>
        <p:spPr>
          <a:xfrm xmlns:a="http://schemas.openxmlformats.org/drawingml/2006/main">
            <a:off x="19088100" y="8763000"/>
            <a:ext cx="76581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975" b="1">
                <a:solidFill>
                  <a:srgbClr val="172033"/>
                </a:solidFill>
                <a:latin typeface="Aptos Display"/>
                <a:ea typeface="Aptos Display"/>
                <a:cs typeface="Aptos Display"/>
              </a:defRPr>
            </a:pPr>
            <a:r>
              <a:rPr sz="3975" b="1">
                <a:solidFill>
                  <a:srgbClr val="172033"/>
                </a:solidFill>
                <a:latin typeface="Aptos Display"/>
                <a:ea typeface="Aptos Display"/>
                <a:cs typeface="Aptos Display"/>
              </a:rPr>
              <a:t>Local 3D motion solve</a:t>
            </a:r>
          </a:p>
        </p:txBody>
      </p:sp>
      <p:sp>
        <p:nvSpPr>
          <p:cNvPr id="152" name="">
            <a:extLst xmlns:a="http://schemas.openxmlformats.org/drawingml/2006/main">
              <a:ext uri="{FF2B5EF4-FFF2-40B4-BE49-F238E27FC236}">
                <a16:creationId xmlns:a16="http://schemas.microsoft.com/office/drawing/2014/main" id="{1C492469-B59C-43DF-BD88-48D474DA2961}"/>
              </a:ext>
            </a:extLst>
          </p:cNvPr>
          <p:cNvSpPr>
            <a:spLocks xmlns:a="http://schemas.openxmlformats.org/drawingml/2006/main" noGrp="1"/>
          </p:cNvSpPr>
          <p:nvPr/>
        </p:nvSpPr>
        <p:spPr>
          <a:xfrm xmlns:a="http://schemas.openxmlformats.org/drawingml/2006/main" flipH="0" flipV="0">
            <a:off x="18402300" y="9410700"/>
            <a:ext cx="83439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7C3AED"/>
            </a:solidFill>
            <a:prstDash val="solid"/>
          </a:ln>
        </p:spPr>
      </p:sp>
      <p:sp>
        <p:nvSpPr>
          <p:cNvPr id="153" name="">
            <a:extLst xmlns:a="http://schemas.openxmlformats.org/drawingml/2006/main">
              <a:ext uri="{FF2B5EF4-FFF2-40B4-BE49-F238E27FC236}">
                <a16:creationId xmlns:a16="http://schemas.microsoft.com/office/drawing/2014/main" id="{DBCF91D8-A9BB-488F-A379-509D05812783}"/>
              </a:ext>
            </a:extLst>
          </p:cNvPr>
          <p:cNvSpPr>
            <a:spLocks xmlns:a="http://schemas.openxmlformats.org/drawingml/2006/main" noGrp="1"/>
          </p:cNvSpPr>
          <p:nvPr/>
        </p:nvSpPr>
        <p:spPr>
          <a:xfrm xmlns:a="http://schemas.openxmlformats.org/drawingml/2006/main">
            <a:off x="18402300" y="9525000"/>
            <a:ext cx="83439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00" b="0">
                <a:solidFill>
                  <a:srgbClr val="172033"/>
                </a:solidFill>
                <a:latin typeface="Aptos"/>
                <a:ea typeface="Aptos"/>
                <a:cs typeface="Aptos"/>
              </a:defRPr>
            </a:pPr>
            <a:r>
              <a:rPr sz="2400" b="0">
                <a:solidFill>
                  <a:srgbClr val="172033"/>
                </a:solidFill>
                <a:latin typeface="Aptos"/>
                <a:ea typeface="Aptos"/>
                <a:cs typeface="Aptos"/>
              </a:rPr>
              <a:t>KNN edges are pruned across strong Gaussian-color and depth discontinuities. Remaining connected neighborhoods act as local components. For each frequency k, one complex SE(3) twist ξk,c produces a locally coherent displacement field:</a:t>
            </a:r>
          </a:p>
        </p:txBody>
      </p:sp>
      <p:sp>
        <p:nvSpPr>
          <p:cNvPr id="154" name="">
            <a:extLst xmlns:a="http://schemas.openxmlformats.org/drawingml/2006/main">
              <a:ext uri="{FF2B5EF4-FFF2-40B4-BE49-F238E27FC236}">
                <a16:creationId xmlns:a16="http://schemas.microsoft.com/office/drawing/2014/main" id="{D3C675AF-F977-4085-8E5F-F112D61DFF63}"/>
              </a:ext>
            </a:extLst>
          </p:cNvPr>
          <p:cNvSpPr>
            <a:spLocks xmlns:a="http://schemas.openxmlformats.org/drawingml/2006/main" noGrp="1"/>
          </p:cNvSpPr>
          <p:nvPr/>
        </p:nvSpPr>
        <p:spPr>
          <a:xfrm xmlns:a="http://schemas.openxmlformats.org/drawingml/2006/main">
            <a:off x="18402300" y="11601450"/>
            <a:ext cx="8343900" cy="838200"/>
          </a:xfrm>
          <a:prstGeom xmlns:a="http://schemas.openxmlformats.org/drawingml/2006/main" prst="roundRect">
            <a:avLst>
              <a:gd name="adj" fmla="val 18182"/>
            </a:avLst>
          </a:prstGeom>
          <a:solidFill xmlns:a="http://schemas.openxmlformats.org/drawingml/2006/main">
            <a:srgbClr val="F1EAFE"/>
          </a:solidFill>
          <a:ln xmlns:a="http://schemas.openxmlformats.org/drawingml/2006/main" w="19050">
            <a:solidFill>
              <a:srgbClr val="7C3AED"/>
            </a:solidFill>
            <a:prstDash val="solid"/>
          </a:ln>
        </p:spPr>
      </p:sp>
      <p:sp>
        <p:nvSpPr>
          <p:cNvPr id="155" name="">
            <a:extLst xmlns:a="http://schemas.openxmlformats.org/drawingml/2006/main">
              <a:ext uri="{FF2B5EF4-FFF2-40B4-BE49-F238E27FC236}">
                <a16:creationId xmlns:a16="http://schemas.microsoft.com/office/drawing/2014/main" id="{E865DCE2-E8F6-40AC-AD0D-E6890CE184BB}"/>
              </a:ext>
            </a:extLst>
          </p:cNvPr>
          <p:cNvSpPr>
            <a:spLocks xmlns:a="http://schemas.openxmlformats.org/drawingml/2006/main" noGrp="1"/>
          </p:cNvSpPr>
          <p:nvPr/>
        </p:nvSpPr>
        <p:spPr>
          <a:xfrm xmlns:a="http://schemas.openxmlformats.org/drawingml/2006/main">
            <a:off x="18592800" y="11696700"/>
            <a:ext cx="79629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325" b="0">
                <a:solidFill>
                  <a:srgbClr val="172033"/>
                </a:solidFill>
                <a:latin typeface="Cambria Math"/>
                <a:ea typeface="Cambria Math"/>
                <a:cs typeface="Cambria Math"/>
              </a:defRPr>
            </a:pPr>
            <a:r>
              <a:rPr sz="2325" b="0">
                <a:solidFill>
                  <a:srgbClr val="172033"/>
                </a:solidFill>
                <a:latin typeface="Cambria Math"/>
                <a:ea typeface="Cambria Math"/>
                <a:cs typeface="Cambria Math"/>
              </a:rPr>
              <a:t>φk,g = Bc,g ξk,c</a:t>
            </a:r>
          </a:p>
        </p:txBody>
      </p:sp>
      <p:sp>
        <p:nvSpPr>
          <p:cNvPr id="156" name="">
            <a:extLst xmlns:a="http://schemas.openxmlformats.org/drawingml/2006/main">
              <a:ext uri="{FF2B5EF4-FFF2-40B4-BE49-F238E27FC236}">
                <a16:creationId xmlns:a16="http://schemas.microsoft.com/office/drawing/2014/main" id="{F88CB870-136C-4335-B97F-243F92A5687E}"/>
              </a:ext>
            </a:extLst>
          </p:cNvPr>
          <p:cNvSpPr>
            <a:spLocks xmlns:a="http://schemas.openxmlformats.org/drawingml/2006/main" noGrp="1"/>
          </p:cNvSpPr>
          <p:nvPr/>
        </p:nvSpPr>
        <p:spPr>
          <a:xfrm xmlns:a="http://schemas.openxmlformats.org/drawingml/2006/main">
            <a:off x="18402300" y="12620625"/>
            <a:ext cx="8343900" cy="4048125"/>
          </a:xfrm>
          <a:prstGeom xmlns:a="http://schemas.openxmlformats.org/drawingml/2006/main" prst="roundRect">
            <a:avLst>
              <a:gd name="adj" fmla="val 4235"/>
            </a:avLst>
          </a:prstGeom>
          <a:solidFill xmlns:a="http://schemas.openxmlformats.org/drawingml/2006/main">
            <a:srgbClr val="F7F9FC"/>
          </a:solidFill>
          <a:ln xmlns:a="http://schemas.openxmlformats.org/drawingml/2006/main" w="28575">
            <a:solidFill>
              <a:srgbClr val="7C3AED"/>
            </a:solidFill>
            <a:prstDash val="dash"/>
          </a:ln>
        </p:spPr>
      </p:sp>
      <p:sp>
        <p:nvSpPr>
          <p:cNvPr id="157" name="">
            <a:extLst xmlns:a="http://schemas.openxmlformats.org/drawingml/2006/main">
              <a:ext uri="{FF2B5EF4-FFF2-40B4-BE49-F238E27FC236}">
                <a16:creationId xmlns:a16="http://schemas.microsoft.com/office/drawing/2014/main" id="{E851044A-1505-4D73-BA48-9B60CF166EFB}"/>
              </a:ext>
            </a:extLst>
          </p:cNvPr>
          <p:cNvSpPr>
            <a:spLocks xmlns:a="http://schemas.openxmlformats.org/drawingml/2006/main" noGrp="1"/>
          </p:cNvSpPr>
          <p:nvPr/>
        </p:nvSpPr>
        <p:spPr>
          <a:xfrm xmlns:a="http://schemas.openxmlformats.org/drawingml/2006/main">
            <a:off x="18573750" y="12782550"/>
            <a:ext cx="1952625" cy="381000"/>
          </a:xfrm>
          <a:prstGeom xmlns:a="http://schemas.openxmlformats.org/drawingml/2006/main" prst="roundRect">
            <a:avLst>
              <a:gd name="adj" fmla="val 50000"/>
            </a:avLst>
          </a:prstGeom>
          <a:solidFill xmlns:a="http://schemas.openxmlformats.org/drawingml/2006/main">
            <a:srgbClr val="7C3AED"/>
          </a:solidFill>
          <a:ln xmlns:a="http://schemas.openxmlformats.org/drawingml/2006/main" w="0">
            <a:solidFill>
              <a:srgbClr val="7C3AED"/>
            </a:solidFill>
            <a:prstDash val="solid"/>
          </a:ln>
        </p:spPr>
      </p:sp>
      <p:sp>
        <p:nvSpPr>
          <p:cNvPr id="158" name="">
            <a:extLst xmlns:a="http://schemas.openxmlformats.org/drawingml/2006/main">
              <a:ext uri="{FF2B5EF4-FFF2-40B4-BE49-F238E27FC236}">
                <a16:creationId xmlns:a16="http://schemas.microsoft.com/office/drawing/2014/main" id="{F91D0D1F-902C-44B8-843E-F452F55E6684}"/>
              </a:ext>
            </a:extLst>
          </p:cNvPr>
          <p:cNvSpPr>
            <a:spLocks xmlns:a="http://schemas.openxmlformats.org/drawingml/2006/main" noGrp="1"/>
          </p:cNvSpPr>
          <p:nvPr/>
        </p:nvSpPr>
        <p:spPr>
          <a:xfrm xmlns:a="http://schemas.openxmlformats.org/drawingml/2006/main">
            <a:off x="18592800" y="12792075"/>
            <a:ext cx="1914525" cy="352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1425" b="1">
                <a:solidFill>
                  <a:srgbClr val="FFFFFF"/>
                </a:solidFill>
                <a:latin typeface="Aptos"/>
                <a:ea typeface="Aptos"/>
                <a:cs typeface="Aptos"/>
              </a:defRPr>
            </a:pPr>
            <a:r>
              <a:rPr sz="1425" b="1">
                <a:solidFill>
                  <a:srgbClr val="FFFFFF"/>
                </a:solidFill>
                <a:latin typeface="Aptos"/>
                <a:ea typeface="Aptos"/>
                <a:cs typeface="Aptos"/>
              </a:rPr>
              <a:t>IMAGE PLACEHOLDER</a:t>
            </a:r>
          </a:p>
        </p:txBody>
      </p:sp>
      <p:sp>
        <p:nvSpPr>
          <p:cNvPr id="159" name="">
            <a:extLst xmlns:a="http://schemas.openxmlformats.org/drawingml/2006/main">
              <a:ext uri="{FF2B5EF4-FFF2-40B4-BE49-F238E27FC236}">
                <a16:creationId xmlns:a16="http://schemas.microsoft.com/office/drawing/2014/main" id="{4C4675D7-6403-4046-9F16-BD77292C8149}"/>
              </a:ext>
            </a:extLst>
          </p:cNvPr>
          <p:cNvSpPr>
            <a:spLocks xmlns:a="http://schemas.openxmlformats.org/drawingml/2006/main" noGrp="1"/>
          </p:cNvSpPr>
          <p:nvPr/>
        </p:nvSpPr>
        <p:spPr>
          <a:xfrm xmlns:a="http://schemas.openxmlformats.org/drawingml/2006/main">
            <a:off x="18649950" y="13268325"/>
            <a:ext cx="7848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400" b="1">
                <a:solidFill>
                  <a:srgbClr val="172033"/>
                </a:solidFill>
                <a:latin typeface="Aptos"/>
                <a:ea typeface="Aptos"/>
                <a:cs typeface="Aptos"/>
              </a:defRPr>
            </a:pPr>
            <a:r>
              <a:rPr sz="2400" b="1">
                <a:solidFill>
                  <a:srgbClr val="172033"/>
                </a:solidFill>
                <a:latin typeface="Aptos"/>
                <a:ea typeface="Aptos"/>
                <a:cs typeface="Aptos"/>
              </a:rPr>
              <a:t>Color/depth-filtered local components</a:t>
            </a:r>
          </a:p>
        </p:txBody>
      </p:sp>
      <p:sp>
        <p:nvSpPr>
          <p:cNvPr id="160" name="">
            <a:extLst xmlns:a="http://schemas.openxmlformats.org/drawingml/2006/main">
              <a:ext uri="{FF2B5EF4-FFF2-40B4-BE49-F238E27FC236}">
                <a16:creationId xmlns:a16="http://schemas.microsoft.com/office/drawing/2014/main" id="{1DD6E2C1-2998-4F54-B804-57FE7431DA53}"/>
              </a:ext>
            </a:extLst>
          </p:cNvPr>
          <p:cNvSpPr>
            <a:spLocks xmlns:a="http://schemas.openxmlformats.org/drawingml/2006/main" noGrp="1"/>
          </p:cNvSpPr>
          <p:nvPr/>
        </p:nvSpPr>
        <p:spPr>
          <a:xfrm xmlns:a="http://schemas.openxmlformats.org/drawingml/2006/main">
            <a:off x="18592800" y="16202025"/>
            <a:ext cx="7962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0">
                <a:solidFill>
                  <a:srgbClr val="526174"/>
                </a:solidFill>
                <a:latin typeface="Aptos Mono"/>
                <a:ea typeface="Aptos Mono"/>
                <a:cs typeface="Aptos Mono"/>
              </a:defRPr>
            </a:pPr>
            <a:r>
              <a:rPr sz="1500" b="0">
                <a:solidFill>
                  <a:srgbClr val="526174"/>
                </a:solidFill>
                <a:latin typeface="Aptos Mono"/>
                <a:ea typeface="Aptos Mono"/>
                <a:cs typeface="Aptos Mono"/>
              </a:rPr>
              <a:t>bush_rigid_components.png</a:t>
            </a:r>
          </a:p>
        </p:txBody>
      </p:sp>
      <p:sp>
        <p:nvSpPr>
          <p:cNvPr id="161" name="">
            <a:extLst xmlns:a="http://schemas.openxmlformats.org/drawingml/2006/main">
              <a:ext uri="{FF2B5EF4-FFF2-40B4-BE49-F238E27FC236}">
                <a16:creationId xmlns:a16="http://schemas.microsoft.com/office/drawing/2014/main" id="{172CAA12-66EB-429A-BD51-2A3AB0063D0F}"/>
              </a:ext>
            </a:extLst>
          </p:cNvPr>
          <p:cNvSpPr>
            <a:spLocks xmlns:a="http://schemas.openxmlformats.org/drawingml/2006/main" noGrp="1"/>
          </p:cNvSpPr>
          <p:nvPr/>
        </p:nvSpPr>
        <p:spPr>
          <a:xfrm xmlns:a="http://schemas.openxmlformats.org/drawingml/2006/main">
            <a:off x="20316825" y="14287500"/>
            <a:ext cx="190500" cy="19050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162" name="">
            <a:extLst xmlns:a="http://schemas.openxmlformats.org/drawingml/2006/main">
              <a:ext uri="{FF2B5EF4-FFF2-40B4-BE49-F238E27FC236}">
                <a16:creationId xmlns:a16="http://schemas.microsoft.com/office/drawing/2014/main" id="{18DA1635-B2C1-456F-8816-EF57AD8000BB}"/>
              </a:ext>
            </a:extLst>
          </p:cNvPr>
          <p:cNvSpPr>
            <a:spLocks xmlns:a="http://schemas.openxmlformats.org/drawingml/2006/main" noGrp="1"/>
          </p:cNvSpPr>
          <p:nvPr/>
        </p:nvSpPr>
        <p:spPr>
          <a:xfrm xmlns:a="http://schemas.openxmlformats.org/drawingml/2006/main" flipH="0" flipV="0">
            <a:off x="19878675" y="14382750"/>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2563EB">
                <a:alpha val="60000"/>
              </a:srgbClr>
            </a:solidFill>
            <a:prstDash val="solid"/>
          </a:ln>
        </p:spPr>
      </p:sp>
      <p:sp>
        <p:nvSpPr>
          <p:cNvPr id="163" name="">
            <a:extLst xmlns:a="http://schemas.openxmlformats.org/drawingml/2006/main">
              <a:ext uri="{FF2B5EF4-FFF2-40B4-BE49-F238E27FC236}">
                <a16:creationId xmlns:a16="http://schemas.microsoft.com/office/drawing/2014/main" id="{85ED1428-C48A-454C-BA83-C3B368180C15}"/>
              </a:ext>
            </a:extLst>
          </p:cNvPr>
          <p:cNvSpPr>
            <a:spLocks xmlns:a="http://schemas.openxmlformats.org/drawingml/2006/main" noGrp="1"/>
          </p:cNvSpPr>
          <p:nvPr/>
        </p:nvSpPr>
        <p:spPr>
          <a:xfrm xmlns:a="http://schemas.openxmlformats.org/drawingml/2006/main">
            <a:off x="20050125" y="14633953"/>
            <a:ext cx="190500" cy="19050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164" name="">
            <a:extLst xmlns:a="http://schemas.openxmlformats.org/drawingml/2006/main">
              <a:ext uri="{FF2B5EF4-FFF2-40B4-BE49-F238E27FC236}">
                <a16:creationId xmlns:a16="http://schemas.microsoft.com/office/drawing/2014/main" id="{9565E20F-363C-4FF1-8C4D-678C615A785F}"/>
              </a:ext>
            </a:extLst>
          </p:cNvPr>
          <p:cNvSpPr>
            <a:spLocks xmlns:a="http://schemas.openxmlformats.org/drawingml/2006/main" noGrp="1"/>
          </p:cNvSpPr>
          <p:nvPr/>
        </p:nvSpPr>
        <p:spPr>
          <a:xfrm xmlns:a="http://schemas.openxmlformats.org/drawingml/2006/main" flipH="1" flipV="0">
            <a:off x="19611975" y="14382750"/>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2563EB">
                <a:alpha val="60000"/>
              </a:srgbClr>
            </a:solidFill>
            <a:prstDash val="solid"/>
          </a:ln>
        </p:spPr>
      </p:sp>
      <p:sp>
        <p:nvSpPr>
          <p:cNvPr id="165" name="">
            <a:extLst xmlns:a="http://schemas.openxmlformats.org/drawingml/2006/main">
              <a:ext uri="{FF2B5EF4-FFF2-40B4-BE49-F238E27FC236}">
                <a16:creationId xmlns:a16="http://schemas.microsoft.com/office/drawing/2014/main" id="{F04743FE-5A1A-4489-B5AF-3E73B9768801}"/>
              </a:ext>
            </a:extLst>
          </p:cNvPr>
          <p:cNvSpPr>
            <a:spLocks xmlns:a="http://schemas.openxmlformats.org/drawingml/2006/main" noGrp="1"/>
          </p:cNvSpPr>
          <p:nvPr/>
        </p:nvSpPr>
        <p:spPr>
          <a:xfrm xmlns:a="http://schemas.openxmlformats.org/drawingml/2006/main">
            <a:off x="19516725" y="14633953"/>
            <a:ext cx="190500" cy="19050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166" name="">
            <a:extLst xmlns:a="http://schemas.openxmlformats.org/drawingml/2006/main">
              <a:ext uri="{FF2B5EF4-FFF2-40B4-BE49-F238E27FC236}">
                <a16:creationId xmlns:a16="http://schemas.microsoft.com/office/drawing/2014/main" id="{5981E644-7602-48BE-A4D1-3F8BD28DA859}"/>
              </a:ext>
            </a:extLst>
          </p:cNvPr>
          <p:cNvSpPr>
            <a:spLocks xmlns:a="http://schemas.openxmlformats.org/drawingml/2006/main" noGrp="1"/>
          </p:cNvSpPr>
          <p:nvPr/>
        </p:nvSpPr>
        <p:spPr>
          <a:xfrm xmlns:a="http://schemas.openxmlformats.org/drawingml/2006/main" flipH="1" flipV="0">
            <a:off x="19345275" y="14382750"/>
            <a:ext cx="53340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2563EB">
                <a:alpha val="60000"/>
              </a:srgbClr>
            </a:solidFill>
            <a:prstDash val="solid"/>
          </a:ln>
        </p:spPr>
      </p:sp>
      <p:sp>
        <p:nvSpPr>
          <p:cNvPr id="167" name="">
            <a:extLst xmlns:a="http://schemas.openxmlformats.org/drawingml/2006/main">
              <a:ext uri="{FF2B5EF4-FFF2-40B4-BE49-F238E27FC236}">
                <a16:creationId xmlns:a16="http://schemas.microsoft.com/office/drawing/2014/main" id="{B56BE1E2-FA6E-4C14-BA6E-41B6CE33CBA6}"/>
              </a:ext>
            </a:extLst>
          </p:cNvPr>
          <p:cNvSpPr>
            <a:spLocks xmlns:a="http://schemas.openxmlformats.org/drawingml/2006/main" noGrp="1"/>
          </p:cNvSpPr>
          <p:nvPr/>
        </p:nvSpPr>
        <p:spPr>
          <a:xfrm xmlns:a="http://schemas.openxmlformats.org/drawingml/2006/main">
            <a:off x="19250025" y="14287500"/>
            <a:ext cx="190500" cy="19050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168" name="">
            <a:extLst xmlns:a="http://schemas.openxmlformats.org/drawingml/2006/main">
              <a:ext uri="{FF2B5EF4-FFF2-40B4-BE49-F238E27FC236}">
                <a16:creationId xmlns:a16="http://schemas.microsoft.com/office/drawing/2014/main" id="{52ADF15E-B0D3-4F11-81B6-AD90DD3FC617}"/>
              </a:ext>
            </a:extLst>
          </p:cNvPr>
          <p:cNvSpPr>
            <a:spLocks xmlns:a="http://schemas.openxmlformats.org/drawingml/2006/main" noGrp="1"/>
          </p:cNvSpPr>
          <p:nvPr/>
        </p:nvSpPr>
        <p:spPr>
          <a:xfrm xmlns:a="http://schemas.openxmlformats.org/drawingml/2006/main" flipH="1" flipV="1">
            <a:off x="19611975" y="14036297"/>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2563EB">
                <a:alpha val="60000"/>
              </a:srgbClr>
            </a:solidFill>
            <a:prstDash val="solid"/>
          </a:ln>
        </p:spPr>
      </p:sp>
      <p:sp>
        <p:nvSpPr>
          <p:cNvPr id="169" name="">
            <a:extLst xmlns:a="http://schemas.openxmlformats.org/drawingml/2006/main">
              <a:ext uri="{FF2B5EF4-FFF2-40B4-BE49-F238E27FC236}">
                <a16:creationId xmlns:a16="http://schemas.microsoft.com/office/drawing/2014/main" id="{A5E8C7C5-5B0A-44D0-908A-F3E523424270}"/>
              </a:ext>
            </a:extLst>
          </p:cNvPr>
          <p:cNvSpPr>
            <a:spLocks xmlns:a="http://schemas.openxmlformats.org/drawingml/2006/main" noGrp="1"/>
          </p:cNvSpPr>
          <p:nvPr/>
        </p:nvSpPr>
        <p:spPr>
          <a:xfrm xmlns:a="http://schemas.openxmlformats.org/drawingml/2006/main">
            <a:off x="19516725" y="13941047"/>
            <a:ext cx="190500" cy="19050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170" name="">
            <a:extLst xmlns:a="http://schemas.openxmlformats.org/drawingml/2006/main">
              <a:ext uri="{FF2B5EF4-FFF2-40B4-BE49-F238E27FC236}">
                <a16:creationId xmlns:a16="http://schemas.microsoft.com/office/drawing/2014/main" id="{603C6193-F60A-4225-955E-AF398CFD40D8}"/>
              </a:ext>
            </a:extLst>
          </p:cNvPr>
          <p:cNvSpPr>
            <a:spLocks xmlns:a="http://schemas.openxmlformats.org/drawingml/2006/main" noGrp="1"/>
          </p:cNvSpPr>
          <p:nvPr/>
        </p:nvSpPr>
        <p:spPr>
          <a:xfrm xmlns:a="http://schemas.openxmlformats.org/drawingml/2006/main" flipH="0" flipV="1">
            <a:off x="19878675" y="14036297"/>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2563EB">
                <a:alpha val="60000"/>
              </a:srgbClr>
            </a:solidFill>
            <a:prstDash val="solid"/>
          </a:ln>
        </p:spPr>
      </p:sp>
      <p:sp>
        <p:nvSpPr>
          <p:cNvPr id="171" name="">
            <a:extLst xmlns:a="http://schemas.openxmlformats.org/drawingml/2006/main">
              <a:ext uri="{FF2B5EF4-FFF2-40B4-BE49-F238E27FC236}">
                <a16:creationId xmlns:a16="http://schemas.microsoft.com/office/drawing/2014/main" id="{A658430C-472A-4716-8CC1-EA776A2BA7F2}"/>
              </a:ext>
            </a:extLst>
          </p:cNvPr>
          <p:cNvSpPr>
            <a:spLocks xmlns:a="http://schemas.openxmlformats.org/drawingml/2006/main" noGrp="1"/>
          </p:cNvSpPr>
          <p:nvPr/>
        </p:nvSpPr>
        <p:spPr>
          <a:xfrm xmlns:a="http://schemas.openxmlformats.org/drawingml/2006/main">
            <a:off x="20050125" y="13941047"/>
            <a:ext cx="190500" cy="19050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172" name="">
            <a:extLst xmlns:a="http://schemas.openxmlformats.org/drawingml/2006/main">
              <a:ext uri="{FF2B5EF4-FFF2-40B4-BE49-F238E27FC236}">
                <a16:creationId xmlns:a16="http://schemas.microsoft.com/office/drawing/2014/main" id="{CFB0C811-A2B7-48E2-8405-2CF8015890A3}"/>
              </a:ext>
            </a:extLst>
          </p:cNvPr>
          <p:cNvSpPr>
            <a:spLocks xmlns:a="http://schemas.openxmlformats.org/drawingml/2006/main" noGrp="1"/>
          </p:cNvSpPr>
          <p:nvPr/>
        </p:nvSpPr>
        <p:spPr>
          <a:xfrm xmlns:a="http://schemas.openxmlformats.org/drawingml/2006/main">
            <a:off x="22269450" y="13954125"/>
            <a:ext cx="190500" cy="190500"/>
          </a:xfrm>
          <a:prstGeom xmlns:a="http://schemas.openxmlformats.org/drawingml/2006/main" prst="ellipse">
            <a:avLst/>
          </a:prstGeom>
          <a:solidFill xmlns:a="http://schemas.openxmlformats.org/drawingml/2006/main">
            <a:srgbClr val="0F9D8A"/>
          </a:solidFill>
          <a:ln xmlns:a="http://schemas.openxmlformats.org/drawingml/2006/main" w="9525">
            <a:solidFill>
              <a:srgbClr val="FFFFFF"/>
            </a:solidFill>
            <a:prstDash val="solid"/>
          </a:ln>
        </p:spPr>
      </p:sp>
      <p:sp>
        <p:nvSpPr>
          <p:cNvPr id="173" name="">
            <a:extLst xmlns:a="http://schemas.openxmlformats.org/drawingml/2006/main">
              <a:ext uri="{FF2B5EF4-FFF2-40B4-BE49-F238E27FC236}">
                <a16:creationId xmlns:a16="http://schemas.microsoft.com/office/drawing/2014/main" id="{AF415218-E011-4081-8B29-D4C5575F32E5}"/>
              </a:ext>
            </a:extLst>
          </p:cNvPr>
          <p:cNvSpPr>
            <a:spLocks xmlns:a="http://schemas.openxmlformats.org/drawingml/2006/main" noGrp="1"/>
          </p:cNvSpPr>
          <p:nvPr/>
        </p:nvSpPr>
        <p:spPr>
          <a:xfrm xmlns:a="http://schemas.openxmlformats.org/drawingml/2006/main" flipH="0" flipV="0">
            <a:off x="21831300" y="14049375"/>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0F9D8A">
                <a:alpha val="60000"/>
              </a:srgbClr>
            </a:solidFill>
            <a:prstDash val="solid"/>
          </a:ln>
        </p:spPr>
      </p:sp>
      <p:sp>
        <p:nvSpPr>
          <p:cNvPr id="174" name="">
            <a:extLst xmlns:a="http://schemas.openxmlformats.org/drawingml/2006/main">
              <a:ext uri="{FF2B5EF4-FFF2-40B4-BE49-F238E27FC236}">
                <a16:creationId xmlns:a16="http://schemas.microsoft.com/office/drawing/2014/main" id="{BA786C8B-AFC4-4CBF-A9C8-C4EFE0EF8CDC}"/>
              </a:ext>
            </a:extLst>
          </p:cNvPr>
          <p:cNvSpPr>
            <a:spLocks xmlns:a="http://schemas.openxmlformats.org/drawingml/2006/main" noGrp="1"/>
          </p:cNvSpPr>
          <p:nvPr/>
        </p:nvSpPr>
        <p:spPr>
          <a:xfrm xmlns:a="http://schemas.openxmlformats.org/drawingml/2006/main">
            <a:off x="22002750" y="14300578"/>
            <a:ext cx="190500" cy="190500"/>
          </a:xfrm>
          <a:prstGeom xmlns:a="http://schemas.openxmlformats.org/drawingml/2006/main" prst="ellipse">
            <a:avLst/>
          </a:prstGeom>
          <a:solidFill xmlns:a="http://schemas.openxmlformats.org/drawingml/2006/main">
            <a:srgbClr val="0F9D8A"/>
          </a:solidFill>
          <a:ln xmlns:a="http://schemas.openxmlformats.org/drawingml/2006/main" w="9525">
            <a:solidFill>
              <a:srgbClr val="FFFFFF"/>
            </a:solidFill>
            <a:prstDash val="solid"/>
          </a:ln>
        </p:spPr>
      </p:sp>
      <p:sp>
        <p:nvSpPr>
          <p:cNvPr id="175" name="">
            <a:extLst xmlns:a="http://schemas.openxmlformats.org/drawingml/2006/main">
              <a:ext uri="{FF2B5EF4-FFF2-40B4-BE49-F238E27FC236}">
                <a16:creationId xmlns:a16="http://schemas.microsoft.com/office/drawing/2014/main" id="{848AA421-5A21-4763-BBC9-BE6F1B88CAF4}"/>
              </a:ext>
            </a:extLst>
          </p:cNvPr>
          <p:cNvSpPr>
            <a:spLocks xmlns:a="http://schemas.openxmlformats.org/drawingml/2006/main" noGrp="1"/>
          </p:cNvSpPr>
          <p:nvPr/>
        </p:nvSpPr>
        <p:spPr>
          <a:xfrm xmlns:a="http://schemas.openxmlformats.org/drawingml/2006/main" flipH="1" flipV="0">
            <a:off x="21564600" y="14049375"/>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0F9D8A">
                <a:alpha val="60000"/>
              </a:srgbClr>
            </a:solidFill>
            <a:prstDash val="solid"/>
          </a:ln>
        </p:spPr>
      </p:sp>
      <p:sp>
        <p:nvSpPr>
          <p:cNvPr id="176" name="">
            <a:extLst xmlns:a="http://schemas.openxmlformats.org/drawingml/2006/main">
              <a:ext uri="{FF2B5EF4-FFF2-40B4-BE49-F238E27FC236}">
                <a16:creationId xmlns:a16="http://schemas.microsoft.com/office/drawing/2014/main" id="{0F422BF7-E23F-48C5-8778-466EAB35C8CF}"/>
              </a:ext>
            </a:extLst>
          </p:cNvPr>
          <p:cNvSpPr>
            <a:spLocks xmlns:a="http://schemas.openxmlformats.org/drawingml/2006/main" noGrp="1"/>
          </p:cNvSpPr>
          <p:nvPr/>
        </p:nvSpPr>
        <p:spPr>
          <a:xfrm xmlns:a="http://schemas.openxmlformats.org/drawingml/2006/main">
            <a:off x="21469350" y="14300578"/>
            <a:ext cx="190500" cy="190500"/>
          </a:xfrm>
          <a:prstGeom xmlns:a="http://schemas.openxmlformats.org/drawingml/2006/main" prst="ellipse">
            <a:avLst/>
          </a:prstGeom>
          <a:solidFill xmlns:a="http://schemas.openxmlformats.org/drawingml/2006/main">
            <a:srgbClr val="0F9D8A"/>
          </a:solidFill>
          <a:ln xmlns:a="http://schemas.openxmlformats.org/drawingml/2006/main" w="9525">
            <a:solidFill>
              <a:srgbClr val="FFFFFF"/>
            </a:solidFill>
            <a:prstDash val="solid"/>
          </a:ln>
        </p:spPr>
      </p:sp>
      <p:sp>
        <p:nvSpPr>
          <p:cNvPr id="177" name="">
            <a:extLst xmlns:a="http://schemas.openxmlformats.org/drawingml/2006/main">
              <a:ext uri="{FF2B5EF4-FFF2-40B4-BE49-F238E27FC236}">
                <a16:creationId xmlns:a16="http://schemas.microsoft.com/office/drawing/2014/main" id="{2E0C092C-451C-42F4-B39C-B3B2CB5DAC73}"/>
              </a:ext>
            </a:extLst>
          </p:cNvPr>
          <p:cNvSpPr>
            <a:spLocks xmlns:a="http://schemas.openxmlformats.org/drawingml/2006/main" noGrp="1"/>
          </p:cNvSpPr>
          <p:nvPr/>
        </p:nvSpPr>
        <p:spPr>
          <a:xfrm xmlns:a="http://schemas.openxmlformats.org/drawingml/2006/main" flipH="1" flipV="0">
            <a:off x="21297900" y="14049375"/>
            <a:ext cx="53340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0F9D8A">
                <a:alpha val="60000"/>
              </a:srgbClr>
            </a:solidFill>
            <a:prstDash val="solid"/>
          </a:ln>
        </p:spPr>
      </p:sp>
      <p:sp>
        <p:nvSpPr>
          <p:cNvPr id="178" name="">
            <a:extLst xmlns:a="http://schemas.openxmlformats.org/drawingml/2006/main">
              <a:ext uri="{FF2B5EF4-FFF2-40B4-BE49-F238E27FC236}">
                <a16:creationId xmlns:a16="http://schemas.microsoft.com/office/drawing/2014/main" id="{9A496F15-B0E3-4C3B-A550-38DF56C83FDE}"/>
              </a:ext>
            </a:extLst>
          </p:cNvPr>
          <p:cNvSpPr>
            <a:spLocks xmlns:a="http://schemas.openxmlformats.org/drawingml/2006/main" noGrp="1"/>
          </p:cNvSpPr>
          <p:nvPr/>
        </p:nvSpPr>
        <p:spPr>
          <a:xfrm xmlns:a="http://schemas.openxmlformats.org/drawingml/2006/main">
            <a:off x="21202650" y="13954125"/>
            <a:ext cx="190500" cy="190500"/>
          </a:xfrm>
          <a:prstGeom xmlns:a="http://schemas.openxmlformats.org/drawingml/2006/main" prst="ellipse">
            <a:avLst/>
          </a:prstGeom>
          <a:solidFill xmlns:a="http://schemas.openxmlformats.org/drawingml/2006/main">
            <a:srgbClr val="0F9D8A"/>
          </a:solidFill>
          <a:ln xmlns:a="http://schemas.openxmlformats.org/drawingml/2006/main" w="9525">
            <a:solidFill>
              <a:srgbClr val="FFFFFF"/>
            </a:solidFill>
            <a:prstDash val="solid"/>
          </a:ln>
        </p:spPr>
      </p:sp>
      <p:sp>
        <p:nvSpPr>
          <p:cNvPr id="179" name="">
            <a:extLst xmlns:a="http://schemas.openxmlformats.org/drawingml/2006/main">
              <a:ext uri="{FF2B5EF4-FFF2-40B4-BE49-F238E27FC236}">
                <a16:creationId xmlns:a16="http://schemas.microsoft.com/office/drawing/2014/main" id="{EE01E4D4-04E7-4772-AF48-2F740DEE7727}"/>
              </a:ext>
            </a:extLst>
          </p:cNvPr>
          <p:cNvSpPr>
            <a:spLocks xmlns:a="http://schemas.openxmlformats.org/drawingml/2006/main" noGrp="1"/>
          </p:cNvSpPr>
          <p:nvPr/>
        </p:nvSpPr>
        <p:spPr>
          <a:xfrm xmlns:a="http://schemas.openxmlformats.org/drawingml/2006/main" flipH="1" flipV="1">
            <a:off x="21564600" y="13702922"/>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0F9D8A">
                <a:alpha val="60000"/>
              </a:srgbClr>
            </a:solidFill>
            <a:prstDash val="solid"/>
          </a:ln>
        </p:spPr>
      </p:sp>
      <p:sp>
        <p:nvSpPr>
          <p:cNvPr id="180" name="">
            <a:extLst xmlns:a="http://schemas.openxmlformats.org/drawingml/2006/main">
              <a:ext uri="{FF2B5EF4-FFF2-40B4-BE49-F238E27FC236}">
                <a16:creationId xmlns:a16="http://schemas.microsoft.com/office/drawing/2014/main" id="{55CCEAB9-3FF9-42E9-9B1A-4ADF9F406EFF}"/>
              </a:ext>
            </a:extLst>
          </p:cNvPr>
          <p:cNvSpPr>
            <a:spLocks xmlns:a="http://schemas.openxmlformats.org/drawingml/2006/main" noGrp="1"/>
          </p:cNvSpPr>
          <p:nvPr/>
        </p:nvSpPr>
        <p:spPr>
          <a:xfrm xmlns:a="http://schemas.openxmlformats.org/drawingml/2006/main">
            <a:off x="21469350" y="13607672"/>
            <a:ext cx="190500" cy="190500"/>
          </a:xfrm>
          <a:prstGeom xmlns:a="http://schemas.openxmlformats.org/drawingml/2006/main" prst="ellipse">
            <a:avLst/>
          </a:prstGeom>
          <a:solidFill xmlns:a="http://schemas.openxmlformats.org/drawingml/2006/main">
            <a:srgbClr val="0F9D8A"/>
          </a:solidFill>
          <a:ln xmlns:a="http://schemas.openxmlformats.org/drawingml/2006/main" w="9525">
            <a:solidFill>
              <a:srgbClr val="FFFFFF"/>
            </a:solidFill>
            <a:prstDash val="solid"/>
          </a:ln>
        </p:spPr>
      </p:sp>
      <p:sp>
        <p:nvSpPr>
          <p:cNvPr id="181" name="">
            <a:extLst xmlns:a="http://schemas.openxmlformats.org/drawingml/2006/main">
              <a:ext uri="{FF2B5EF4-FFF2-40B4-BE49-F238E27FC236}">
                <a16:creationId xmlns:a16="http://schemas.microsoft.com/office/drawing/2014/main" id="{80C1FB0F-785B-4D35-B8D2-B2463E2772BE}"/>
              </a:ext>
            </a:extLst>
          </p:cNvPr>
          <p:cNvSpPr>
            <a:spLocks xmlns:a="http://schemas.openxmlformats.org/drawingml/2006/main" noGrp="1"/>
          </p:cNvSpPr>
          <p:nvPr/>
        </p:nvSpPr>
        <p:spPr>
          <a:xfrm xmlns:a="http://schemas.openxmlformats.org/drawingml/2006/main" flipH="0" flipV="1">
            <a:off x="21831300" y="13702922"/>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0F9D8A">
                <a:alpha val="60000"/>
              </a:srgbClr>
            </a:solidFill>
            <a:prstDash val="solid"/>
          </a:ln>
        </p:spPr>
      </p:sp>
      <p:sp>
        <p:nvSpPr>
          <p:cNvPr id="182" name="">
            <a:extLst xmlns:a="http://schemas.openxmlformats.org/drawingml/2006/main">
              <a:ext uri="{FF2B5EF4-FFF2-40B4-BE49-F238E27FC236}">
                <a16:creationId xmlns:a16="http://schemas.microsoft.com/office/drawing/2014/main" id="{4BD68104-A6D5-4C35-89C5-7037CDD4F0EE}"/>
              </a:ext>
            </a:extLst>
          </p:cNvPr>
          <p:cNvSpPr>
            <a:spLocks xmlns:a="http://schemas.openxmlformats.org/drawingml/2006/main" noGrp="1"/>
          </p:cNvSpPr>
          <p:nvPr/>
        </p:nvSpPr>
        <p:spPr>
          <a:xfrm xmlns:a="http://schemas.openxmlformats.org/drawingml/2006/main">
            <a:off x="22002750" y="13607672"/>
            <a:ext cx="190500" cy="190500"/>
          </a:xfrm>
          <a:prstGeom xmlns:a="http://schemas.openxmlformats.org/drawingml/2006/main" prst="ellipse">
            <a:avLst/>
          </a:prstGeom>
          <a:solidFill xmlns:a="http://schemas.openxmlformats.org/drawingml/2006/main">
            <a:srgbClr val="0F9D8A"/>
          </a:solidFill>
          <a:ln xmlns:a="http://schemas.openxmlformats.org/drawingml/2006/main" w="9525">
            <a:solidFill>
              <a:srgbClr val="FFFFFF"/>
            </a:solidFill>
            <a:prstDash val="solid"/>
          </a:ln>
        </p:spPr>
      </p:sp>
      <p:sp>
        <p:nvSpPr>
          <p:cNvPr id="183" name="">
            <a:extLst xmlns:a="http://schemas.openxmlformats.org/drawingml/2006/main">
              <a:ext uri="{FF2B5EF4-FFF2-40B4-BE49-F238E27FC236}">
                <a16:creationId xmlns:a16="http://schemas.microsoft.com/office/drawing/2014/main" id="{94031332-03D7-466E-8ABB-63E4CFF3B657}"/>
              </a:ext>
            </a:extLst>
          </p:cNvPr>
          <p:cNvSpPr>
            <a:spLocks xmlns:a="http://schemas.openxmlformats.org/drawingml/2006/main" noGrp="1"/>
          </p:cNvSpPr>
          <p:nvPr/>
        </p:nvSpPr>
        <p:spPr>
          <a:xfrm xmlns:a="http://schemas.openxmlformats.org/drawingml/2006/main">
            <a:off x="24222075" y="14525625"/>
            <a:ext cx="190500" cy="190500"/>
          </a:xfrm>
          <a:prstGeom xmlns:a="http://schemas.openxmlformats.org/drawingml/2006/main" prst="ellipse">
            <a:avLst/>
          </a:prstGeom>
          <a:solidFill xmlns:a="http://schemas.openxmlformats.org/drawingml/2006/main">
            <a:srgbClr val="F59E0B"/>
          </a:solidFill>
          <a:ln xmlns:a="http://schemas.openxmlformats.org/drawingml/2006/main" w="9525">
            <a:solidFill>
              <a:srgbClr val="FFFFFF"/>
            </a:solidFill>
            <a:prstDash val="solid"/>
          </a:ln>
        </p:spPr>
      </p:sp>
      <p:sp>
        <p:nvSpPr>
          <p:cNvPr id="184" name="">
            <a:extLst xmlns:a="http://schemas.openxmlformats.org/drawingml/2006/main">
              <a:ext uri="{FF2B5EF4-FFF2-40B4-BE49-F238E27FC236}">
                <a16:creationId xmlns:a16="http://schemas.microsoft.com/office/drawing/2014/main" id="{017DFB1C-4AB9-48CB-BB21-1B4003A461F4}"/>
              </a:ext>
            </a:extLst>
          </p:cNvPr>
          <p:cNvSpPr>
            <a:spLocks xmlns:a="http://schemas.openxmlformats.org/drawingml/2006/main" noGrp="1"/>
          </p:cNvSpPr>
          <p:nvPr/>
        </p:nvSpPr>
        <p:spPr>
          <a:xfrm xmlns:a="http://schemas.openxmlformats.org/drawingml/2006/main" flipH="0" flipV="0">
            <a:off x="23783925" y="14620875"/>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F59E0B">
                <a:alpha val="60000"/>
              </a:srgbClr>
            </a:solidFill>
            <a:prstDash val="solid"/>
          </a:ln>
        </p:spPr>
      </p:sp>
      <p:sp>
        <p:nvSpPr>
          <p:cNvPr id="185" name="">
            <a:extLst xmlns:a="http://schemas.openxmlformats.org/drawingml/2006/main">
              <a:ext uri="{FF2B5EF4-FFF2-40B4-BE49-F238E27FC236}">
                <a16:creationId xmlns:a16="http://schemas.microsoft.com/office/drawing/2014/main" id="{7A550413-F133-40E8-8A76-45C06FB550A2}"/>
              </a:ext>
            </a:extLst>
          </p:cNvPr>
          <p:cNvSpPr>
            <a:spLocks xmlns:a="http://schemas.openxmlformats.org/drawingml/2006/main" noGrp="1"/>
          </p:cNvSpPr>
          <p:nvPr/>
        </p:nvSpPr>
        <p:spPr>
          <a:xfrm xmlns:a="http://schemas.openxmlformats.org/drawingml/2006/main">
            <a:off x="23955375" y="14872078"/>
            <a:ext cx="190500" cy="190500"/>
          </a:xfrm>
          <a:prstGeom xmlns:a="http://schemas.openxmlformats.org/drawingml/2006/main" prst="ellipse">
            <a:avLst/>
          </a:prstGeom>
          <a:solidFill xmlns:a="http://schemas.openxmlformats.org/drawingml/2006/main">
            <a:srgbClr val="F59E0B"/>
          </a:solidFill>
          <a:ln xmlns:a="http://schemas.openxmlformats.org/drawingml/2006/main" w="9525">
            <a:solidFill>
              <a:srgbClr val="FFFFFF"/>
            </a:solidFill>
            <a:prstDash val="solid"/>
          </a:ln>
        </p:spPr>
      </p:sp>
      <p:sp>
        <p:nvSpPr>
          <p:cNvPr id="186" name="">
            <a:extLst xmlns:a="http://schemas.openxmlformats.org/drawingml/2006/main">
              <a:ext uri="{FF2B5EF4-FFF2-40B4-BE49-F238E27FC236}">
                <a16:creationId xmlns:a16="http://schemas.microsoft.com/office/drawing/2014/main" id="{A18BD9A9-38ED-47F2-9447-F9FD3F42B7AC}"/>
              </a:ext>
            </a:extLst>
          </p:cNvPr>
          <p:cNvSpPr>
            <a:spLocks xmlns:a="http://schemas.openxmlformats.org/drawingml/2006/main" noGrp="1"/>
          </p:cNvSpPr>
          <p:nvPr/>
        </p:nvSpPr>
        <p:spPr>
          <a:xfrm xmlns:a="http://schemas.openxmlformats.org/drawingml/2006/main" flipH="1" flipV="0">
            <a:off x="23517225" y="14620875"/>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F59E0B">
                <a:alpha val="60000"/>
              </a:srgbClr>
            </a:solidFill>
            <a:prstDash val="solid"/>
          </a:ln>
        </p:spPr>
      </p:sp>
      <p:sp>
        <p:nvSpPr>
          <p:cNvPr id="187" name="">
            <a:extLst xmlns:a="http://schemas.openxmlformats.org/drawingml/2006/main">
              <a:ext uri="{FF2B5EF4-FFF2-40B4-BE49-F238E27FC236}">
                <a16:creationId xmlns:a16="http://schemas.microsoft.com/office/drawing/2014/main" id="{0864AE54-2582-4430-8AAA-D6595D7D8E7C}"/>
              </a:ext>
            </a:extLst>
          </p:cNvPr>
          <p:cNvSpPr>
            <a:spLocks xmlns:a="http://schemas.openxmlformats.org/drawingml/2006/main" noGrp="1"/>
          </p:cNvSpPr>
          <p:nvPr/>
        </p:nvSpPr>
        <p:spPr>
          <a:xfrm xmlns:a="http://schemas.openxmlformats.org/drawingml/2006/main">
            <a:off x="23421975" y="14872078"/>
            <a:ext cx="190500" cy="190500"/>
          </a:xfrm>
          <a:prstGeom xmlns:a="http://schemas.openxmlformats.org/drawingml/2006/main" prst="ellipse">
            <a:avLst/>
          </a:prstGeom>
          <a:solidFill xmlns:a="http://schemas.openxmlformats.org/drawingml/2006/main">
            <a:srgbClr val="F59E0B"/>
          </a:solidFill>
          <a:ln xmlns:a="http://schemas.openxmlformats.org/drawingml/2006/main" w="9525">
            <a:solidFill>
              <a:srgbClr val="FFFFFF"/>
            </a:solidFill>
            <a:prstDash val="solid"/>
          </a:ln>
        </p:spPr>
      </p:sp>
      <p:sp>
        <p:nvSpPr>
          <p:cNvPr id="188" name="">
            <a:extLst xmlns:a="http://schemas.openxmlformats.org/drawingml/2006/main">
              <a:ext uri="{FF2B5EF4-FFF2-40B4-BE49-F238E27FC236}">
                <a16:creationId xmlns:a16="http://schemas.microsoft.com/office/drawing/2014/main" id="{4C0B324E-F408-438B-BBE3-0E2895FCF33B}"/>
              </a:ext>
            </a:extLst>
          </p:cNvPr>
          <p:cNvSpPr>
            <a:spLocks xmlns:a="http://schemas.openxmlformats.org/drawingml/2006/main" noGrp="1"/>
          </p:cNvSpPr>
          <p:nvPr/>
        </p:nvSpPr>
        <p:spPr>
          <a:xfrm xmlns:a="http://schemas.openxmlformats.org/drawingml/2006/main" flipH="1" flipV="0">
            <a:off x="23250525" y="14620875"/>
            <a:ext cx="53340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F59E0B">
                <a:alpha val="60000"/>
              </a:srgbClr>
            </a:solidFill>
            <a:prstDash val="solid"/>
          </a:ln>
        </p:spPr>
      </p:sp>
      <p:sp>
        <p:nvSpPr>
          <p:cNvPr id="189" name="">
            <a:extLst xmlns:a="http://schemas.openxmlformats.org/drawingml/2006/main">
              <a:ext uri="{FF2B5EF4-FFF2-40B4-BE49-F238E27FC236}">
                <a16:creationId xmlns:a16="http://schemas.microsoft.com/office/drawing/2014/main" id="{5BF4E78A-FC3A-4952-8727-0BBCCB5EF694}"/>
              </a:ext>
            </a:extLst>
          </p:cNvPr>
          <p:cNvSpPr>
            <a:spLocks xmlns:a="http://schemas.openxmlformats.org/drawingml/2006/main" noGrp="1"/>
          </p:cNvSpPr>
          <p:nvPr/>
        </p:nvSpPr>
        <p:spPr>
          <a:xfrm xmlns:a="http://schemas.openxmlformats.org/drawingml/2006/main">
            <a:off x="23155275" y="14525625"/>
            <a:ext cx="190500" cy="190500"/>
          </a:xfrm>
          <a:prstGeom xmlns:a="http://schemas.openxmlformats.org/drawingml/2006/main" prst="ellipse">
            <a:avLst/>
          </a:prstGeom>
          <a:solidFill xmlns:a="http://schemas.openxmlformats.org/drawingml/2006/main">
            <a:srgbClr val="F59E0B"/>
          </a:solidFill>
          <a:ln xmlns:a="http://schemas.openxmlformats.org/drawingml/2006/main" w="9525">
            <a:solidFill>
              <a:srgbClr val="FFFFFF"/>
            </a:solidFill>
            <a:prstDash val="solid"/>
          </a:ln>
        </p:spPr>
      </p:sp>
      <p:sp>
        <p:nvSpPr>
          <p:cNvPr id="190" name="">
            <a:extLst xmlns:a="http://schemas.openxmlformats.org/drawingml/2006/main">
              <a:ext uri="{FF2B5EF4-FFF2-40B4-BE49-F238E27FC236}">
                <a16:creationId xmlns:a16="http://schemas.microsoft.com/office/drawing/2014/main" id="{A56026C2-D26F-4881-BEF5-6C666702D527}"/>
              </a:ext>
            </a:extLst>
          </p:cNvPr>
          <p:cNvSpPr>
            <a:spLocks xmlns:a="http://schemas.openxmlformats.org/drawingml/2006/main" noGrp="1"/>
          </p:cNvSpPr>
          <p:nvPr/>
        </p:nvSpPr>
        <p:spPr>
          <a:xfrm xmlns:a="http://schemas.openxmlformats.org/drawingml/2006/main" flipH="1" flipV="1">
            <a:off x="23517225" y="14274422"/>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F59E0B">
                <a:alpha val="60000"/>
              </a:srgbClr>
            </a:solidFill>
            <a:prstDash val="solid"/>
          </a:ln>
        </p:spPr>
      </p:sp>
      <p:sp>
        <p:nvSpPr>
          <p:cNvPr id="191" name="">
            <a:extLst xmlns:a="http://schemas.openxmlformats.org/drawingml/2006/main">
              <a:ext uri="{FF2B5EF4-FFF2-40B4-BE49-F238E27FC236}">
                <a16:creationId xmlns:a16="http://schemas.microsoft.com/office/drawing/2014/main" id="{AB79BB98-9CEF-4039-AD57-E4ACFAA9293E}"/>
              </a:ext>
            </a:extLst>
          </p:cNvPr>
          <p:cNvSpPr>
            <a:spLocks xmlns:a="http://schemas.openxmlformats.org/drawingml/2006/main" noGrp="1"/>
          </p:cNvSpPr>
          <p:nvPr/>
        </p:nvSpPr>
        <p:spPr>
          <a:xfrm xmlns:a="http://schemas.openxmlformats.org/drawingml/2006/main">
            <a:off x="23421975" y="14179172"/>
            <a:ext cx="190500" cy="190500"/>
          </a:xfrm>
          <a:prstGeom xmlns:a="http://schemas.openxmlformats.org/drawingml/2006/main" prst="ellipse">
            <a:avLst/>
          </a:prstGeom>
          <a:solidFill xmlns:a="http://schemas.openxmlformats.org/drawingml/2006/main">
            <a:srgbClr val="F59E0B"/>
          </a:solidFill>
          <a:ln xmlns:a="http://schemas.openxmlformats.org/drawingml/2006/main" w="9525">
            <a:solidFill>
              <a:srgbClr val="FFFFFF"/>
            </a:solidFill>
            <a:prstDash val="solid"/>
          </a:ln>
        </p:spPr>
      </p:sp>
      <p:sp>
        <p:nvSpPr>
          <p:cNvPr id="192" name="">
            <a:extLst xmlns:a="http://schemas.openxmlformats.org/drawingml/2006/main">
              <a:ext uri="{FF2B5EF4-FFF2-40B4-BE49-F238E27FC236}">
                <a16:creationId xmlns:a16="http://schemas.microsoft.com/office/drawing/2014/main" id="{4B8E8F6A-F940-42BD-B55E-D3C76F888379}"/>
              </a:ext>
            </a:extLst>
          </p:cNvPr>
          <p:cNvSpPr>
            <a:spLocks xmlns:a="http://schemas.openxmlformats.org/drawingml/2006/main" noGrp="1"/>
          </p:cNvSpPr>
          <p:nvPr/>
        </p:nvSpPr>
        <p:spPr>
          <a:xfrm xmlns:a="http://schemas.openxmlformats.org/drawingml/2006/main" flipH="0" flipV="1">
            <a:off x="23783925" y="14274422"/>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F59E0B">
                <a:alpha val="60000"/>
              </a:srgbClr>
            </a:solidFill>
            <a:prstDash val="solid"/>
          </a:ln>
        </p:spPr>
      </p:sp>
      <p:sp>
        <p:nvSpPr>
          <p:cNvPr id="193" name="">
            <a:extLst xmlns:a="http://schemas.openxmlformats.org/drawingml/2006/main">
              <a:ext uri="{FF2B5EF4-FFF2-40B4-BE49-F238E27FC236}">
                <a16:creationId xmlns:a16="http://schemas.microsoft.com/office/drawing/2014/main" id="{7E734E08-BB21-43D2-8156-5E3DBB791909}"/>
              </a:ext>
            </a:extLst>
          </p:cNvPr>
          <p:cNvSpPr>
            <a:spLocks xmlns:a="http://schemas.openxmlformats.org/drawingml/2006/main" noGrp="1"/>
          </p:cNvSpPr>
          <p:nvPr/>
        </p:nvSpPr>
        <p:spPr>
          <a:xfrm xmlns:a="http://schemas.openxmlformats.org/drawingml/2006/main">
            <a:off x="23955375" y="14179172"/>
            <a:ext cx="190500" cy="190500"/>
          </a:xfrm>
          <a:prstGeom xmlns:a="http://schemas.openxmlformats.org/drawingml/2006/main" prst="ellipse">
            <a:avLst/>
          </a:prstGeom>
          <a:solidFill xmlns:a="http://schemas.openxmlformats.org/drawingml/2006/main">
            <a:srgbClr val="F59E0B"/>
          </a:solidFill>
          <a:ln xmlns:a="http://schemas.openxmlformats.org/drawingml/2006/main" w="9525">
            <a:solidFill>
              <a:srgbClr val="FFFFFF"/>
            </a:solidFill>
            <a:prstDash val="solid"/>
          </a:ln>
        </p:spPr>
      </p:sp>
      <p:sp>
        <p:nvSpPr>
          <p:cNvPr id="194" name="">
            <a:extLst xmlns:a="http://schemas.openxmlformats.org/drawingml/2006/main">
              <a:ext uri="{FF2B5EF4-FFF2-40B4-BE49-F238E27FC236}">
                <a16:creationId xmlns:a16="http://schemas.microsoft.com/office/drawing/2014/main" id="{8C485A3F-D3E3-4A57-98F5-CEEE4F94AAE3}"/>
              </a:ext>
            </a:extLst>
          </p:cNvPr>
          <p:cNvSpPr>
            <a:spLocks xmlns:a="http://schemas.openxmlformats.org/drawingml/2006/main" noGrp="1"/>
          </p:cNvSpPr>
          <p:nvPr/>
        </p:nvSpPr>
        <p:spPr>
          <a:xfrm xmlns:a="http://schemas.openxmlformats.org/drawingml/2006/main">
            <a:off x="22507575" y="15478125"/>
            <a:ext cx="190500" cy="190500"/>
          </a:xfrm>
          <a:prstGeom xmlns:a="http://schemas.openxmlformats.org/drawingml/2006/main" prst="ellipse">
            <a:avLst/>
          </a:prstGeom>
          <a:solidFill xmlns:a="http://schemas.openxmlformats.org/drawingml/2006/main">
            <a:srgbClr val="7C3AED"/>
          </a:solidFill>
          <a:ln xmlns:a="http://schemas.openxmlformats.org/drawingml/2006/main" w="9525">
            <a:solidFill>
              <a:srgbClr val="FFFFFF"/>
            </a:solidFill>
            <a:prstDash val="solid"/>
          </a:ln>
        </p:spPr>
      </p:sp>
      <p:sp>
        <p:nvSpPr>
          <p:cNvPr id="195" name="">
            <a:extLst xmlns:a="http://schemas.openxmlformats.org/drawingml/2006/main">
              <a:ext uri="{FF2B5EF4-FFF2-40B4-BE49-F238E27FC236}">
                <a16:creationId xmlns:a16="http://schemas.microsoft.com/office/drawing/2014/main" id="{2BF59A52-152A-4101-B399-C9331426FB71}"/>
              </a:ext>
            </a:extLst>
          </p:cNvPr>
          <p:cNvSpPr>
            <a:spLocks xmlns:a="http://schemas.openxmlformats.org/drawingml/2006/main" noGrp="1"/>
          </p:cNvSpPr>
          <p:nvPr/>
        </p:nvSpPr>
        <p:spPr>
          <a:xfrm xmlns:a="http://schemas.openxmlformats.org/drawingml/2006/main" flipH="0" flipV="0">
            <a:off x="22069425" y="15573375"/>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7C3AED">
                <a:alpha val="60000"/>
              </a:srgbClr>
            </a:solidFill>
            <a:prstDash val="solid"/>
          </a:ln>
        </p:spPr>
      </p:sp>
      <p:sp>
        <p:nvSpPr>
          <p:cNvPr id="196" name="">
            <a:extLst xmlns:a="http://schemas.openxmlformats.org/drawingml/2006/main">
              <a:ext uri="{FF2B5EF4-FFF2-40B4-BE49-F238E27FC236}">
                <a16:creationId xmlns:a16="http://schemas.microsoft.com/office/drawing/2014/main" id="{3118E8A3-4ABE-45C6-B79E-36D604FBF5C2}"/>
              </a:ext>
            </a:extLst>
          </p:cNvPr>
          <p:cNvSpPr>
            <a:spLocks xmlns:a="http://schemas.openxmlformats.org/drawingml/2006/main" noGrp="1"/>
          </p:cNvSpPr>
          <p:nvPr/>
        </p:nvSpPr>
        <p:spPr>
          <a:xfrm xmlns:a="http://schemas.openxmlformats.org/drawingml/2006/main">
            <a:off x="22240875" y="15824578"/>
            <a:ext cx="190500" cy="190500"/>
          </a:xfrm>
          <a:prstGeom xmlns:a="http://schemas.openxmlformats.org/drawingml/2006/main" prst="ellipse">
            <a:avLst/>
          </a:prstGeom>
          <a:solidFill xmlns:a="http://schemas.openxmlformats.org/drawingml/2006/main">
            <a:srgbClr val="7C3AED"/>
          </a:solidFill>
          <a:ln xmlns:a="http://schemas.openxmlformats.org/drawingml/2006/main" w="9525">
            <a:solidFill>
              <a:srgbClr val="FFFFFF"/>
            </a:solidFill>
            <a:prstDash val="solid"/>
          </a:ln>
        </p:spPr>
      </p:sp>
      <p:sp>
        <p:nvSpPr>
          <p:cNvPr id="197" name="">
            <a:extLst xmlns:a="http://schemas.openxmlformats.org/drawingml/2006/main">
              <a:ext uri="{FF2B5EF4-FFF2-40B4-BE49-F238E27FC236}">
                <a16:creationId xmlns:a16="http://schemas.microsoft.com/office/drawing/2014/main" id="{DBCD4281-5C22-46D1-8508-8567178C19A9}"/>
              </a:ext>
            </a:extLst>
          </p:cNvPr>
          <p:cNvSpPr>
            <a:spLocks xmlns:a="http://schemas.openxmlformats.org/drawingml/2006/main" noGrp="1"/>
          </p:cNvSpPr>
          <p:nvPr/>
        </p:nvSpPr>
        <p:spPr>
          <a:xfrm xmlns:a="http://schemas.openxmlformats.org/drawingml/2006/main" flipH="1" flipV="0">
            <a:off x="21802725" y="15573375"/>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7C3AED">
                <a:alpha val="60000"/>
              </a:srgbClr>
            </a:solidFill>
            <a:prstDash val="solid"/>
          </a:ln>
        </p:spPr>
      </p:sp>
      <p:sp>
        <p:nvSpPr>
          <p:cNvPr id="198" name="">
            <a:extLst xmlns:a="http://schemas.openxmlformats.org/drawingml/2006/main">
              <a:ext uri="{FF2B5EF4-FFF2-40B4-BE49-F238E27FC236}">
                <a16:creationId xmlns:a16="http://schemas.microsoft.com/office/drawing/2014/main" id="{8E956CC6-D665-454F-90AC-E86E451F0FD2}"/>
              </a:ext>
            </a:extLst>
          </p:cNvPr>
          <p:cNvSpPr>
            <a:spLocks xmlns:a="http://schemas.openxmlformats.org/drawingml/2006/main" noGrp="1"/>
          </p:cNvSpPr>
          <p:nvPr/>
        </p:nvSpPr>
        <p:spPr>
          <a:xfrm xmlns:a="http://schemas.openxmlformats.org/drawingml/2006/main">
            <a:off x="21707475" y="15824578"/>
            <a:ext cx="190500" cy="190500"/>
          </a:xfrm>
          <a:prstGeom xmlns:a="http://schemas.openxmlformats.org/drawingml/2006/main" prst="ellipse">
            <a:avLst/>
          </a:prstGeom>
          <a:solidFill xmlns:a="http://schemas.openxmlformats.org/drawingml/2006/main">
            <a:srgbClr val="7C3AED"/>
          </a:solidFill>
          <a:ln xmlns:a="http://schemas.openxmlformats.org/drawingml/2006/main" w="9525">
            <a:solidFill>
              <a:srgbClr val="FFFFFF"/>
            </a:solidFill>
            <a:prstDash val="solid"/>
          </a:ln>
        </p:spPr>
      </p:sp>
      <p:sp>
        <p:nvSpPr>
          <p:cNvPr id="199" name="">
            <a:extLst xmlns:a="http://schemas.openxmlformats.org/drawingml/2006/main">
              <a:ext uri="{FF2B5EF4-FFF2-40B4-BE49-F238E27FC236}">
                <a16:creationId xmlns:a16="http://schemas.microsoft.com/office/drawing/2014/main" id="{CA3EF357-7B60-4146-99FA-C8DBB3A32A60}"/>
              </a:ext>
            </a:extLst>
          </p:cNvPr>
          <p:cNvSpPr>
            <a:spLocks xmlns:a="http://schemas.openxmlformats.org/drawingml/2006/main" noGrp="1"/>
          </p:cNvSpPr>
          <p:nvPr/>
        </p:nvSpPr>
        <p:spPr>
          <a:xfrm xmlns:a="http://schemas.openxmlformats.org/drawingml/2006/main" flipH="1" flipV="0">
            <a:off x="21536025" y="15573375"/>
            <a:ext cx="53340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7C3AED">
                <a:alpha val="60000"/>
              </a:srgbClr>
            </a:solidFill>
            <a:prstDash val="solid"/>
          </a:ln>
        </p:spPr>
      </p:sp>
      <p:sp>
        <p:nvSpPr>
          <p:cNvPr id="200" name="">
            <a:extLst xmlns:a="http://schemas.openxmlformats.org/drawingml/2006/main">
              <a:ext uri="{FF2B5EF4-FFF2-40B4-BE49-F238E27FC236}">
                <a16:creationId xmlns:a16="http://schemas.microsoft.com/office/drawing/2014/main" id="{D608B17E-E1CA-463E-A134-D4B8420B9510}"/>
              </a:ext>
            </a:extLst>
          </p:cNvPr>
          <p:cNvSpPr>
            <a:spLocks xmlns:a="http://schemas.openxmlformats.org/drawingml/2006/main" noGrp="1"/>
          </p:cNvSpPr>
          <p:nvPr/>
        </p:nvSpPr>
        <p:spPr>
          <a:xfrm xmlns:a="http://schemas.openxmlformats.org/drawingml/2006/main">
            <a:off x="21440775" y="15478125"/>
            <a:ext cx="190500" cy="190500"/>
          </a:xfrm>
          <a:prstGeom xmlns:a="http://schemas.openxmlformats.org/drawingml/2006/main" prst="ellipse">
            <a:avLst/>
          </a:prstGeom>
          <a:solidFill xmlns:a="http://schemas.openxmlformats.org/drawingml/2006/main">
            <a:srgbClr val="7C3AED"/>
          </a:solidFill>
          <a:ln xmlns:a="http://schemas.openxmlformats.org/drawingml/2006/main" w="9525">
            <a:solidFill>
              <a:srgbClr val="FFFFFF"/>
            </a:solidFill>
            <a:prstDash val="solid"/>
          </a:ln>
        </p:spPr>
      </p:sp>
      <p:sp>
        <p:nvSpPr>
          <p:cNvPr id="201" name="">
            <a:extLst xmlns:a="http://schemas.openxmlformats.org/drawingml/2006/main">
              <a:ext uri="{FF2B5EF4-FFF2-40B4-BE49-F238E27FC236}">
                <a16:creationId xmlns:a16="http://schemas.microsoft.com/office/drawing/2014/main" id="{B7AD71EB-79B9-4C71-B5D8-199381E2ED1F}"/>
              </a:ext>
            </a:extLst>
          </p:cNvPr>
          <p:cNvSpPr>
            <a:spLocks xmlns:a="http://schemas.openxmlformats.org/drawingml/2006/main" noGrp="1"/>
          </p:cNvSpPr>
          <p:nvPr/>
        </p:nvSpPr>
        <p:spPr>
          <a:xfrm xmlns:a="http://schemas.openxmlformats.org/drawingml/2006/main" flipH="1" flipV="1">
            <a:off x="21802725" y="15226922"/>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7C3AED">
                <a:alpha val="60000"/>
              </a:srgbClr>
            </a:solidFill>
            <a:prstDash val="solid"/>
          </a:ln>
        </p:spPr>
      </p:sp>
      <p:sp>
        <p:nvSpPr>
          <p:cNvPr id="202" name="">
            <a:extLst xmlns:a="http://schemas.openxmlformats.org/drawingml/2006/main">
              <a:ext uri="{FF2B5EF4-FFF2-40B4-BE49-F238E27FC236}">
                <a16:creationId xmlns:a16="http://schemas.microsoft.com/office/drawing/2014/main" id="{BC8E2FFF-3D6F-4DBD-BE5E-B90F8712AA9F}"/>
              </a:ext>
            </a:extLst>
          </p:cNvPr>
          <p:cNvSpPr>
            <a:spLocks xmlns:a="http://schemas.openxmlformats.org/drawingml/2006/main" noGrp="1"/>
          </p:cNvSpPr>
          <p:nvPr/>
        </p:nvSpPr>
        <p:spPr>
          <a:xfrm xmlns:a="http://schemas.openxmlformats.org/drawingml/2006/main">
            <a:off x="21707475" y="15131672"/>
            <a:ext cx="190500" cy="190500"/>
          </a:xfrm>
          <a:prstGeom xmlns:a="http://schemas.openxmlformats.org/drawingml/2006/main" prst="ellipse">
            <a:avLst/>
          </a:prstGeom>
          <a:solidFill xmlns:a="http://schemas.openxmlformats.org/drawingml/2006/main">
            <a:srgbClr val="7C3AED"/>
          </a:solidFill>
          <a:ln xmlns:a="http://schemas.openxmlformats.org/drawingml/2006/main" w="9525">
            <a:solidFill>
              <a:srgbClr val="FFFFFF"/>
            </a:solidFill>
            <a:prstDash val="solid"/>
          </a:ln>
        </p:spPr>
      </p:sp>
      <p:sp>
        <p:nvSpPr>
          <p:cNvPr id="203" name="">
            <a:extLst xmlns:a="http://schemas.openxmlformats.org/drawingml/2006/main">
              <a:ext uri="{FF2B5EF4-FFF2-40B4-BE49-F238E27FC236}">
                <a16:creationId xmlns:a16="http://schemas.microsoft.com/office/drawing/2014/main" id="{B8868851-ED8A-4DE7-A0E7-D53EAC9BF2D7}"/>
              </a:ext>
            </a:extLst>
          </p:cNvPr>
          <p:cNvSpPr>
            <a:spLocks xmlns:a="http://schemas.openxmlformats.org/drawingml/2006/main" noGrp="1"/>
          </p:cNvSpPr>
          <p:nvPr/>
        </p:nvSpPr>
        <p:spPr>
          <a:xfrm xmlns:a="http://schemas.openxmlformats.org/drawingml/2006/main" flipH="0" flipV="1">
            <a:off x="22069425" y="15226922"/>
            <a:ext cx="266700" cy="346453"/>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7C3AED">
                <a:alpha val="60000"/>
              </a:srgbClr>
            </a:solidFill>
            <a:prstDash val="solid"/>
          </a:ln>
        </p:spPr>
      </p:sp>
      <p:sp>
        <p:nvSpPr>
          <p:cNvPr id="204" name="">
            <a:extLst xmlns:a="http://schemas.openxmlformats.org/drawingml/2006/main">
              <a:ext uri="{FF2B5EF4-FFF2-40B4-BE49-F238E27FC236}">
                <a16:creationId xmlns:a16="http://schemas.microsoft.com/office/drawing/2014/main" id="{1C548A47-3AF2-482A-BBE1-05395F763CF5}"/>
              </a:ext>
            </a:extLst>
          </p:cNvPr>
          <p:cNvSpPr>
            <a:spLocks xmlns:a="http://schemas.openxmlformats.org/drawingml/2006/main" noGrp="1"/>
          </p:cNvSpPr>
          <p:nvPr/>
        </p:nvSpPr>
        <p:spPr>
          <a:xfrm xmlns:a="http://schemas.openxmlformats.org/drawingml/2006/main">
            <a:off x="22240875" y="15131672"/>
            <a:ext cx="190500" cy="190500"/>
          </a:xfrm>
          <a:prstGeom xmlns:a="http://schemas.openxmlformats.org/drawingml/2006/main" prst="ellipse">
            <a:avLst/>
          </a:prstGeom>
          <a:solidFill xmlns:a="http://schemas.openxmlformats.org/drawingml/2006/main">
            <a:srgbClr val="7C3AED"/>
          </a:solidFill>
          <a:ln xmlns:a="http://schemas.openxmlformats.org/drawingml/2006/main" w="9525">
            <a:solidFill>
              <a:srgbClr val="FFFFFF"/>
            </a:solidFill>
            <a:prstDash val="solid"/>
          </a:ln>
        </p:spPr>
      </p:sp>
      <p:sp>
        <p:nvSpPr>
          <p:cNvPr id="205" name="">
            <a:extLst xmlns:a="http://schemas.openxmlformats.org/drawingml/2006/main">
              <a:ext uri="{FF2B5EF4-FFF2-40B4-BE49-F238E27FC236}">
                <a16:creationId xmlns:a16="http://schemas.microsoft.com/office/drawing/2014/main" id="{11BF68B5-86AC-4F68-B062-4AC893B409A4}"/>
              </a:ext>
            </a:extLst>
          </p:cNvPr>
          <p:cNvSpPr>
            <a:spLocks xmlns:a="http://schemas.openxmlformats.org/drawingml/2006/main" noGrp="1"/>
          </p:cNvSpPr>
          <p:nvPr/>
        </p:nvSpPr>
        <p:spPr>
          <a:xfrm xmlns:a="http://schemas.openxmlformats.org/drawingml/2006/main">
            <a:off x="18402300" y="16859250"/>
            <a:ext cx="834390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325" b="0">
                <a:solidFill>
                  <a:srgbClr val="172033"/>
                </a:solidFill>
                <a:latin typeface="Aptos"/>
                <a:ea typeface="Aptos"/>
                <a:cs typeface="Aptos"/>
              </a:defRPr>
            </a:pPr>
            <a:r>
              <a:rPr sz="2325" b="0">
                <a:solidFill>
                  <a:srgbClr val="172033"/>
                </a:solidFill>
                <a:latin typeface="Aptos"/>
                <a:ea typeface="Aptos"/>
                <a:cs typeface="Aptos"/>
              </a:rPr>
              <a:t>The 3D field is solved by projecting candidate component motion into each camera and matching the complex 2D Fourier displacement:</a:t>
            </a:r>
          </a:p>
        </p:txBody>
      </p:sp>
      <p:sp>
        <p:nvSpPr>
          <p:cNvPr id="206" name="">
            <a:extLst xmlns:a="http://schemas.openxmlformats.org/drawingml/2006/main">
              <a:ext uri="{FF2B5EF4-FFF2-40B4-BE49-F238E27FC236}">
                <a16:creationId xmlns:a16="http://schemas.microsoft.com/office/drawing/2014/main" id="{EDDA2FFC-A619-4D52-A2A1-2062723932E2}"/>
              </a:ext>
            </a:extLst>
          </p:cNvPr>
          <p:cNvSpPr>
            <a:spLocks xmlns:a="http://schemas.openxmlformats.org/drawingml/2006/main" noGrp="1"/>
          </p:cNvSpPr>
          <p:nvPr/>
        </p:nvSpPr>
        <p:spPr>
          <a:xfrm xmlns:a="http://schemas.openxmlformats.org/drawingml/2006/main">
            <a:off x="18402300" y="18021300"/>
            <a:ext cx="8343900" cy="1238250"/>
          </a:xfrm>
          <a:prstGeom xmlns:a="http://schemas.openxmlformats.org/drawingml/2006/main" prst="roundRect">
            <a:avLst>
              <a:gd name="adj" fmla="val 12308"/>
            </a:avLst>
          </a:prstGeom>
          <a:solidFill xmlns:a="http://schemas.openxmlformats.org/drawingml/2006/main">
            <a:srgbClr val="F1EAFE"/>
          </a:solidFill>
          <a:ln xmlns:a="http://schemas.openxmlformats.org/drawingml/2006/main" w="19050">
            <a:solidFill>
              <a:srgbClr val="7C3AED"/>
            </a:solidFill>
            <a:prstDash val="solid"/>
          </a:ln>
        </p:spPr>
      </p:sp>
      <p:sp>
        <p:nvSpPr>
          <p:cNvPr id="207" name="">
            <a:extLst xmlns:a="http://schemas.openxmlformats.org/drawingml/2006/main">
              <a:ext uri="{FF2B5EF4-FFF2-40B4-BE49-F238E27FC236}">
                <a16:creationId xmlns:a16="http://schemas.microsoft.com/office/drawing/2014/main" id="{43DBDA4D-3F33-46F2-A6B7-D76D4BD09EC4}"/>
              </a:ext>
            </a:extLst>
          </p:cNvPr>
          <p:cNvSpPr>
            <a:spLocks xmlns:a="http://schemas.openxmlformats.org/drawingml/2006/main" noGrp="1"/>
          </p:cNvSpPr>
          <p:nvPr/>
        </p:nvSpPr>
        <p:spPr>
          <a:xfrm xmlns:a="http://schemas.openxmlformats.org/drawingml/2006/main">
            <a:off x="18592800" y="18116550"/>
            <a:ext cx="79629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325" b="0">
                <a:solidFill>
                  <a:srgbClr val="172033"/>
                </a:solidFill>
                <a:latin typeface="Cambria Math"/>
                <a:ea typeface="Cambria Math"/>
                <a:cs typeface="Cambria Math"/>
              </a:defRPr>
            </a:pPr>
            <a:r>
              <a:rPr sz="2325" b="0">
                <a:solidFill>
                  <a:srgbClr val="172033"/>
                </a:solidFill>
                <a:latin typeface="Cambria Math"/>
                <a:ea typeface="Cambria Math"/>
                <a:cs typeface="Cambria Math"/>
              </a:rPr>
              <a:t>ξ*k,c = arg minξ  Σ(v,p,g)∈𝒪c  w̄v,p,g ‖αv,k Jv,g Bc,g ξ − d̂v,k,p‖²</a:t>
            </a:r>
          </a:p>
        </p:txBody>
      </p:sp>
      <p:sp>
        <p:nvSpPr>
          <p:cNvPr id="208" name="">
            <a:extLst xmlns:a="http://schemas.openxmlformats.org/drawingml/2006/main">
              <a:ext uri="{FF2B5EF4-FFF2-40B4-BE49-F238E27FC236}">
                <a16:creationId xmlns:a16="http://schemas.microsoft.com/office/drawing/2014/main" id="{60692C18-DD8B-4D43-9C0C-C946EB5C3B72}"/>
              </a:ext>
            </a:extLst>
          </p:cNvPr>
          <p:cNvSpPr>
            <a:spLocks xmlns:a="http://schemas.openxmlformats.org/drawingml/2006/main" noGrp="1"/>
          </p:cNvSpPr>
          <p:nvPr/>
        </p:nvSpPr>
        <p:spPr>
          <a:xfrm xmlns:a="http://schemas.openxmlformats.org/drawingml/2006/main">
            <a:off x="18573750" y="19364325"/>
            <a:ext cx="80010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00" b="0">
                <a:solidFill>
                  <a:srgbClr val="526174"/>
                </a:solidFill>
                <a:latin typeface="Aptos"/>
                <a:ea typeface="Aptos"/>
                <a:cs typeface="Aptos"/>
              </a:defRPr>
            </a:pPr>
            <a:r>
              <a:rPr sz="1800" b="0">
                <a:solidFill>
                  <a:srgbClr val="526174"/>
                </a:solidFill>
                <a:latin typeface="Aptos"/>
                <a:ea typeface="Aptos"/>
                <a:cs typeface="Aptos"/>
              </a:rPr>
              <a:t>J projects a small 3D Gaussian displacement into image-space (u,v) motion.</a:t>
            </a:r>
          </a:p>
        </p:txBody>
      </p:sp>
      <p:sp>
        <p:nvSpPr>
          <p:cNvPr id="209" name="">
            <a:extLst xmlns:a="http://schemas.openxmlformats.org/drawingml/2006/main">
              <a:ext uri="{FF2B5EF4-FFF2-40B4-BE49-F238E27FC236}">
                <a16:creationId xmlns:a16="http://schemas.microsoft.com/office/drawing/2014/main" id="{4864FC69-8A8E-4E1C-8FB8-04574E4F19D6}"/>
              </a:ext>
            </a:extLst>
          </p:cNvPr>
          <p:cNvSpPr>
            <a:spLocks xmlns:a="http://schemas.openxmlformats.org/drawingml/2006/main" noGrp="1"/>
          </p:cNvSpPr>
          <p:nvPr/>
        </p:nvSpPr>
        <p:spPr>
          <a:xfrm xmlns:a="http://schemas.openxmlformats.org/drawingml/2006/main">
            <a:off x="18402300" y="20135850"/>
            <a:ext cx="514350" cy="514350"/>
          </a:xfrm>
          <a:prstGeom xmlns:a="http://schemas.openxmlformats.org/drawingml/2006/main" prst="roundRect">
            <a:avLst>
              <a:gd name="adj" fmla="val 50000"/>
            </a:avLst>
          </a:prstGeom>
          <a:solidFill xmlns:a="http://schemas.openxmlformats.org/drawingml/2006/main">
            <a:srgbClr val="DB2777"/>
          </a:solidFill>
          <a:ln xmlns:a="http://schemas.openxmlformats.org/drawingml/2006/main" w="0">
            <a:solidFill>
              <a:srgbClr val="DB2777"/>
            </a:solidFill>
            <a:prstDash val="solid"/>
          </a:ln>
        </p:spPr>
      </p:sp>
      <p:sp>
        <p:nvSpPr>
          <p:cNvPr id="210" name="">
            <a:extLst xmlns:a="http://schemas.openxmlformats.org/drawingml/2006/main">
              <a:ext uri="{FF2B5EF4-FFF2-40B4-BE49-F238E27FC236}">
                <a16:creationId xmlns:a16="http://schemas.microsoft.com/office/drawing/2014/main" id="{2971B70D-B521-4B27-A4DA-DBF69896D79C}"/>
              </a:ext>
            </a:extLst>
          </p:cNvPr>
          <p:cNvSpPr>
            <a:spLocks xmlns:a="http://schemas.openxmlformats.org/drawingml/2006/main" noGrp="1"/>
          </p:cNvSpPr>
          <p:nvPr/>
        </p:nvSpPr>
        <p:spPr>
          <a:xfrm xmlns:a="http://schemas.openxmlformats.org/drawingml/2006/main">
            <a:off x="18402300" y="20126325"/>
            <a:ext cx="5143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FFFFFF"/>
                </a:solidFill>
                <a:latin typeface="Aptos"/>
                <a:ea typeface="Aptos"/>
                <a:cs typeface="Aptos"/>
              </a:defRPr>
            </a:pPr>
            <a:r>
              <a:rPr sz="2250" b="1">
                <a:solidFill>
                  <a:srgbClr val="FFFFFF"/>
                </a:solidFill>
                <a:latin typeface="Aptos"/>
                <a:ea typeface="Aptos"/>
                <a:cs typeface="Aptos"/>
              </a:rPr>
              <a:t>6</a:t>
            </a:r>
          </a:p>
        </p:txBody>
      </p:sp>
      <p:sp>
        <p:nvSpPr>
          <p:cNvPr id="211" name="">
            <a:extLst xmlns:a="http://schemas.openxmlformats.org/drawingml/2006/main">
              <a:ext uri="{FF2B5EF4-FFF2-40B4-BE49-F238E27FC236}">
                <a16:creationId xmlns:a16="http://schemas.microsoft.com/office/drawing/2014/main" id="{5991119B-9096-4E00-ABF6-40200F50E7EA}"/>
              </a:ext>
            </a:extLst>
          </p:cNvPr>
          <p:cNvSpPr>
            <a:spLocks xmlns:a="http://schemas.openxmlformats.org/drawingml/2006/main" noGrp="1"/>
          </p:cNvSpPr>
          <p:nvPr/>
        </p:nvSpPr>
        <p:spPr>
          <a:xfrm xmlns:a="http://schemas.openxmlformats.org/drawingml/2006/main">
            <a:off x="19088100" y="20097750"/>
            <a:ext cx="76581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975" b="1">
                <a:solidFill>
                  <a:srgbClr val="172033"/>
                </a:solidFill>
                <a:latin typeface="Aptos Display"/>
                <a:ea typeface="Aptos Display"/>
                <a:cs typeface="Aptos Display"/>
              </a:defRPr>
            </a:pPr>
            <a:r>
              <a:rPr sz="3975" b="1">
                <a:solidFill>
                  <a:srgbClr val="172033"/>
                </a:solidFill>
                <a:latin typeface="Aptos Display"/>
                <a:ea typeface="Aptos Display"/>
                <a:cs typeface="Aptos Display"/>
              </a:rPr>
              <a:t>Complete the field</a:t>
            </a:r>
          </a:p>
        </p:txBody>
      </p:sp>
      <p:sp>
        <p:nvSpPr>
          <p:cNvPr id="212" name="">
            <a:extLst xmlns:a="http://schemas.openxmlformats.org/drawingml/2006/main">
              <a:ext uri="{FF2B5EF4-FFF2-40B4-BE49-F238E27FC236}">
                <a16:creationId xmlns:a16="http://schemas.microsoft.com/office/drawing/2014/main" id="{9FA58102-DDA2-484D-B24C-847E353A9A9F}"/>
              </a:ext>
            </a:extLst>
          </p:cNvPr>
          <p:cNvSpPr>
            <a:spLocks xmlns:a="http://schemas.openxmlformats.org/drawingml/2006/main" noGrp="1"/>
          </p:cNvSpPr>
          <p:nvPr/>
        </p:nvSpPr>
        <p:spPr>
          <a:xfrm xmlns:a="http://schemas.openxmlformats.org/drawingml/2006/main" flipH="0" flipV="0">
            <a:off x="18402300" y="20745450"/>
            <a:ext cx="83439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DB2777"/>
            </a:solidFill>
            <a:prstDash val="solid"/>
          </a:ln>
        </p:spPr>
      </p:sp>
      <p:sp>
        <p:nvSpPr>
          <p:cNvPr id="213" name="">
            <a:extLst xmlns:a="http://schemas.openxmlformats.org/drawingml/2006/main">
              <a:ext uri="{FF2B5EF4-FFF2-40B4-BE49-F238E27FC236}">
                <a16:creationId xmlns:a16="http://schemas.microsoft.com/office/drawing/2014/main" id="{C4FACBD0-29B7-4A54-A85D-4E38CEE21165}"/>
              </a:ext>
            </a:extLst>
          </p:cNvPr>
          <p:cNvSpPr>
            <a:spLocks xmlns:a="http://schemas.openxmlformats.org/drawingml/2006/main" noGrp="1"/>
          </p:cNvSpPr>
          <p:nvPr/>
        </p:nvSpPr>
        <p:spPr>
          <a:xfrm xmlns:a="http://schemas.openxmlformats.org/drawingml/2006/main">
            <a:off x="18402300" y="20859750"/>
            <a:ext cx="83439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325" b="0">
                <a:solidFill>
                  <a:srgbClr val="172033"/>
                </a:solidFill>
                <a:latin typeface="Aptos"/>
                <a:ea typeface="Aptos"/>
                <a:cs typeface="Aptos"/>
              </a:defRPr>
            </a:pPr>
            <a:r>
              <a:rPr sz="2325" b="0">
                <a:solidFill>
                  <a:srgbClr val="172033"/>
                </a:solidFill>
                <a:latin typeface="Aptos"/>
                <a:ea typeface="Aptos"/>
                <a:cs typeface="Aptos"/>
              </a:rPr>
              <a:t>Only Gaussians with reliable image observations receive a direct estimate. A separate foreground KNN graph propagates the solved motion into compatible unobserved Gaussians while preserving observed values.</a:t>
            </a:r>
          </a:p>
        </p:txBody>
      </p:sp>
      <p:sp>
        <p:nvSpPr>
          <p:cNvPr id="214" name="">
            <a:extLst xmlns:a="http://schemas.openxmlformats.org/drawingml/2006/main">
              <a:ext uri="{FF2B5EF4-FFF2-40B4-BE49-F238E27FC236}">
                <a16:creationId xmlns:a16="http://schemas.microsoft.com/office/drawing/2014/main" id="{F707DDBC-D041-4333-8C18-90D3A926E7EB}"/>
              </a:ext>
            </a:extLst>
          </p:cNvPr>
          <p:cNvSpPr>
            <a:spLocks xmlns:a="http://schemas.openxmlformats.org/drawingml/2006/main" noGrp="1"/>
          </p:cNvSpPr>
          <p:nvPr/>
        </p:nvSpPr>
        <p:spPr>
          <a:xfrm xmlns:a="http://schemas.openxmlformats.org/drawingml/2006/main">
            <a:off x="18402300" y="22526625"/>
            <a:ext cx="8343900" cy="3381375"/>
          </a:xfrm>
          <a:prstGeom xmlns:a="http://schemas.openxmlformats.org/drawingml/2006/main" prst="roundRect">
            <a:avLst>
              <a:gd name="adj" fmla="val 5070"/>
            </a:avLst>
          </a:prstGeom>
          <a:solidFill xmlns:a="http://schemas.openxmlformats.org/drawingml/2006/main">
            <a:srgbClr val="F7F9FC"/>
          </a:solidFill>
          <a:ln xmlns:a="http://schemas.openxmlformats.org/drawingml/2006/main" w="28575">
            <a:solidFill>
              <a:srgbClr val="DB2777"/>
            </a:solidFill>
            <a:prstDash val="dash"/>
          </a:ln>
        </p:spPr>
      </p:sp>
      <p:sp>
        <p:nvSpPr>
          <p:cNvPr id="215" name="">
            <a:extLst xmlns:a="http://schemas.openxmlformats.org/drawingml/2006/main">
              <a:ext uri="{FF2B5EF4-FFF2-40B4-BE49-F238E27FC236}">
                <a16:creationId xmlns:a16="http://schemas.microsoft.com/office/drawing/2014/main" id="{107E8A7A-67B8-4114-8F41-58D6AC4F824C}"/>
              </a:ext>
            </a:extLst>
          </p:cNvPr>
          <p:cNvSpPr>
            <a:spLocks xmlns:a="http://schemas.openxmlformats.org/drawingml/2006/main" noGrp="1"/>
          </p:cNvSpPr>
          <p:nvPr/>
        </p:nvSpPr>
        <p:spPr>
          <a:xfrm xmlns:a="http://schemas.openxmlformats.org/drawingml/2006/main">
            <a:off x="18573750" y="22688550"/>
            <a:ext cx="1952625" cy="381000"/>
          </a:xfrm>
          <a:prstGeom xmlns:a="http://schemas.openxmlformats.org/drawingml/2006/main" prst="roundRect">
            <a:avLst>
              <a:gd name="adj" fmla="val 50000"/>
            </a:avLst>
          </a:prstGeom>
          <a:solidFill xmlns:a="http://schemas.openxmlformats.org/drawingml/2006/main">
            <a:srgbClr val="DB2777"/>
          </a:solidFill>
          <a:ln xmlns:a="http://schemas.openxmlformats.org/drawingml/2006/main" w="0">
            <a:solidFill>
              <a:srgbClr val="DB2777"/>
            </a:solidFill>
            <a:prstDash val="solid"/>
          </a:ln>
        </p:spPr>
      </p:sp>
      <p:sp>
        <p:nvSpPr>
          <p:cNvPr id="216" name="">
            <a:extLst xmlns:a="http://schemas.openxmlformats.org/drawingml/2006/main">
              <a:ext uri="{FF2B5EF4-FFF2-40B4-BE49-F238E27FC236}">
                <a16:creationId xmlns:a16="http://schemas.microsoft.com/office/drawing/2014/main" id="{7114E35A-CF63-4287-92FC-6155E903670E}"/>
              </a:ext>
            </a:extLst>
          </p:cNvPr>
          <p:cNvSpPr>
            <a:spLocks xmlns:a="http://schemas.openxmlformats.org/drawingml/2006/main" noGrp="1"/>
          </p:cNvSpPr>
          <p:nvPr/>
        </p:nvSpPr>
        <p:spPr>
          <a:xfrm xmlns:a="http://schemas.openxmlformats.org/drawingml/2006/main">
            <a:off x="18592800" y="22698075"/>
            <a:ext cx="1914525" cy="352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1425" b="1">
                <a:solidFill>
                  <a:srgbClr val="FFFFFF"/>
                </a:solidFill>
                <a:latin typeface="Aptos"/>
                <a:ea typeface="Aptos"/>
                <a:cs typeface="Aptos"/>
              </a:defRPr>
            </a:pPr>
            <a:r>
              <a:rPr sz="1425" b="1">
                <a:solidFill>
                  <a:srgbClr val="FFFFFF"/>
                </a:solidFill>
                <a:latin typeface="Aptos"/>
                <a:ea typeface="Aptos"/>
                <a:cs typeface="Aptos"/>
              </a:rPr>
              <a:t>IMAGE PLACEHOLDER</a:t>
            </a:r>
          </a:p>
        </p:txBody>
      </p:sp>
      <p:sp>
        <p:nvSpPr>
          <p:cNvPr id="217" name="">
            <a:extLst xmlns:a="http://schemas.openxmlformats.org/drawingml/2006/main">
              <a:ext uri="{FF2B5EF4-FFF2-40B4-BE49-F238E27FC236}">
                <a16:creationId xmlns:a16="http://schemas.microsoft.com/office/drawing/2014/main" id="{9E48E04C-993D-4010-9E86-91ED15B0F62E}"/>
              </a:ext>
            </a:extLst>
          </p:cNvPr>
          <p:cNvSpPr>
            <a:spLocks xmlns:a="http://schemas.openxmlformats.org/drawingml/2006/main" noGrp="1"/>
          </p:cNvSpPr>
          <p:nvPr/>
        </p:nvSpPr>
        <p:spPr>
          <a:xfrm xmlns:a="http://schemas.openxmlformats.org/drawingml/2006/main">
            <a:off x="18649950" y="23174325"/>
            <a:ext cx="7848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400" b="1">
                <a:solidFill>
                  <a:srgbClr val="172033"/>
                </a:solidFill>
                <a:latin typeface="Aptos"/>
                <a:ea typeface="Aptos"/>
                <a:cs typeface="Aptos"/>
              </a:defRPr>
            </a:pPr>
            <a:r>
              <a:rPr sz="2400" b="1">
                <a:solidFill>
                  <a:srgbClr val="172033"/>
                </a:solidFill>
                <a:latin typeface="Aptos"/>
                <a:ea typeface="Aptos"/>
                <a:cs typeface="Aptos"/>
              </a:rPr>
              <a:t>Motion fill across foreground Gaussians</a:t>
            </a:r>
          </a:p>
        </p:txBody>
      </p:sp>
      <p:sp>
        <p:nvSpPr>
          <p:cNvPr id="218" name="">
            <a:extLst xmlns:a="http://schemas.openxmlformats.org/drawingml/2006/main">
              <a:ext uri="{FF2B5EF4-FFF2-40B4-BE49-F238E27FC236}">
                <a16:creationId xmlns:a16="http://schemas.microsoft.com/office/drawing/2014/main" id="{4D6C82F2-D181-4EA9-B425-A411D518E74E}"/>
              </a:ext>
            </a:extLst>
          </p:cNvPr>
          <p:cNvSpPr>
            <a:spLocks xmlns:a="http://schemas.openxmlformats.org/drawingml/2006/main" noGrp="1"/>
          </p:cNvSpPr>
          <p:nvPr/>
        </p:nvSpPr>
        <p:spPr>
          <a:xfrm xmlns:a="http://schemas.openxmlformats.org/drawingml/2006/main">
            <a:off x="18592800" y="25441275"/>
            <a:ext cx="7962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0">
                <a:solidFill>
                  <a:srgbClr val="526174"/>
                </a:solidFill>
                <a:latin typeface="Aptos Mono"/>
                <a:ea typeface="Aptos Mono"/>
                <a:cs typeface="Aptos Mono"/>
              </a:defRPr>
            </a:pPr>
            <a:r>
              <a:rPr sz="1500" b="0">
                <a:solidFill>
                  <a:srgbClr val="526174"/>
                </a:solidFill>
                <a:latin typeface="Aptos Mono"/>
                <a:ea typeface="Aptos Mono"/>
                <a:cs typeface="Aptos Mono"/>
              </a:rPr>
              <a:t>bush_motion_fill.png</a:t>
            </a:r>
          </a:p>
        </p:txBody>
      </p:sp>
      <p:sp>
        <p:nvSpPr>
          <p:cNvPr id="219" name="">
            <a:extLst xmlns:a="http://schemas.openxmlformats.org/drawingml/2006/main">
              <a:ext uri="{FF2B5EF4-FFF2-40B4-BE49-F238E27FC236}">
                <a16:creationId xmlns:a16="http://schemas.microsoft.com/office/drawing/2014/main" id="{D9EFE524-D175-456E-9FB9-1CF3A8D06BD7}"/>
              </a:ext>
            </a:extLst>
          </p:cNvPr>
          <p:cNvSpPr>
            <a:spLocks xmlns:a="http://schemas.openxmlformats.org/drawingml/2006/main" noGrp="1"/>
          </p:cNvSpPr>
          <p:nvPr/>
        </p:nvSpPr>
        <p:spPr>
          <a:xfrm xmlns:a="http://schemas.openxmlformats.org/drawingml/2006/main" flipH="0" flipV="0">
            <a:off x="19735800" y="24450675"/>
            <a:ext cx="558165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526174"/>
            </a:solidFill>
            <a:prstDash val="solid"/>
          </a:ln>
        </p:spPr>
      </p:sp>
      <p:sp>
        <p:nvSpPr>
          <p:cNvPr id="220" name="">
            <a:extLst xmlns:a="http://schemas.openxmlformats.org/drawingml/2006/main">
              <a:ext uri="{FF2B5EF4-FFF2-40B4-BE49-F238E27FC236}">
                <a16:creationId xmlns:a16="http://schemas.microsoft.com/office/drawing/2014/main" id="{C7D73D34-0BF2-41B4-930D-ACA1BF3BE444}"/>
              </a:ext>
            </a:extLst>
          </p:cNvPr>
          <p:cNvSpPr>
            <a:spLocks xmlns:a="http://schemas.openxmlformats.org/drawingml/2006/main" noGrp="1"/>
          </p:cNvSpPr>
          <p:nvPr/>
        </p:nvSpPr>
        <p:spPr>
          <a:xfrm xmlns:a="http://schemas.openxmlformats.org/drawingml/2006/main">
            <a:off x="19564350" y="24279225"/>
            <a:ext cx="342900" cy="342900"/>
          </a:xfrm>
          <a:prstGeom xmlns:a="http://schemas.openxmlformats.org/drawingml/2006/main" prst="ellipse">
            <a:avLst/>
          </a:prstGeom>
          <a:solidFill xmlns:a="http://schemas.openxmlformats.org/drawingml/2006/main">
            <a:srgbClr val="DB2777"/>
          </a:solidFill>
          <a:ln xmlns:a="http://schemas.openxmlformats.org/drawingml/2006/main" w="38100">
            <a:solidFill>
              <a:srgbClr val="DB2777"/>
            </a:solidFill>
            <a:prstDash val="solid"/>
          </a:ln>
        </p:spPr>
      </p:sp>
      <p:sp>
        <p:nvSpPr>
          <p:cNvPr id="221" name="">
            <a:extLst xmlns:a="http://schemas.openxmlformats.org/drawingml/2006/main">
              <a:ext uri="{FF2B5EF4-FFF2-40B4-BE49-F238E27FC236}">
                <a16:creationId xmlns:a16="http://schemas.microsoft.com/office/drawing/2014/main" id="{D8E38B30-DF6E-4F81-B807-4D62B09F8AE7}"/>
              </a:ext>
            </a:extLst>
          </p:cNvPr>
          <p:cNvSpPr>
            <a:spLocks xmlns:a="http://schemas.openxmlformats.org/drawingml/2006/main" noGrp="1"/>
          </p:cNvSpPr>
          <p:nvPr/>
        </p:nvSpPr>
        <p:spPr>
          <a:xfrm xmlns:a="http://schemas.openxmlformats.org/drawingml/2006/main">
            <a:off x="20494625" y="24279225"/>
            <a:ext cx="342900" cy="342900"/>
          </a:xfrm>
          <a:prstGeom xmlns:a="http://schemas.openxmlformats.org/drawingml/2006/main" prst="ellipse">
            <a:avLst/>
          </a:prstGeom>
          <a:solidFill xmlns:a="http://schemas.openxmlformats.org/drawingml/2006/main">
            <a:srgbClr val="DB2777"/>
          </a:solidFill>
          <a:ln xmlns:a="http://schemas.openxmlformats.org/drawingml/2006/main" w="38100">
            <a:solidFill>
              <a:srgbClr val="DB2777"/>
            </a:solidFill>
            <a:prstDash val="solid"/>
          </a:ln>
        </p:spPr>
      </p:sp>
      <p:sp>
        <p:nvSpPr>
          <p:cNvPr id="222" name="">
            <a:extLst xmlns:a="http://schemas.openxmlformats.org/drawingml/2006/main">
              <a:ext uri="{FF2B5EF4-FFF2-40B4-BE49-F238E27FC236}">
                <a16:creationId xmlns:a16="http://schemas.microsoft.com/office/drawing/2014/main" id="{AB54357A-2B64-47E9-995E-6540DE5C800F}"/>
              </a:ext>
            </a:extLst>
          </p:cNvPr>
          <p:cNvSpPr>
            <a:spLocks xmlns:a="http://schemas.openxmlformats.org/drawingml/2006/main" noGrp="1"/>
          </p:cNvSpPr>
          <p:nvPr/>
        </p:nvSpPr>
        <p:spPr>
          <a:xfrm xmlns:a="http://schemas.openxmlformats.org/drawingml/2006/main">
            <a:off x="21424900" y="24279225"/>
            <a:ext cx="342900" cy="342900"/>
          </a:xfrm>
          <a:prstGeom xmlns:a="http://schemas.openxmlformats.org/drawingml/2006/main" prst="ellipse">
            <a:avLst/>
          </a:prstGeom>
          <a:solidFill xmlns:a="http://schemas.openxmlformats.org/drawingml/2006/main">
            <a:srgbClr val="FFFFFF"/>
          </a:solidFill>
          <a:ln xmlns:a="http://schemas.openxmlformats.org/drawingml/2006/main" w="38100">
            <a:solidFill>
              <a:srgbClr val="DB2777"/>
            </a:solidFill>
            <a:prstDash val="solid"/>
          </a:ln>
        </p:spPr>
      </p:sp>
      <p:sp>
        <p:nvSpPr>
          <p:cNvPr id="223" name="">
            <a:extLst xmlns:a="http://schemas.openxmlformats.org/drawingml/2006/main">
              <a:ext uri="{FF2B5EF4-FFF2-40B4-BE49-F238E27FC236}">
                <a16:creationId xmlns:a16="http://schemas.microsoft.com/office/drawing/2014/main" id="{1511AEAD-A014-4BE7-991C-CC0CB2EF741F}"/>
              </a:ext>
            </a:extLst>
          </p:cNvPr>
          <p:cNvSpPr>
            <a:spLocks xmlns:a="http://schemas.openxmlformats.org/drawingml/2006/main" noGrp="1"/>
          </p:cNvSpPr>
          <p:nvPr/>
        </p:nvSpPr>
        <p:spPr>
          <a:xfrm xmlns:a="http://schemas.openxmlformats.org/drawingml/2006/main">
            <a:off x="22355175" y="24279225"/>
            <a:ext cx="342900" cy="342900"/>
          </a:xfrm>
          <a:prstGeom xmlns:a="http://schemas.openxmlformats.org/drawingml/2006/main" prst="ellipse">
            <a:avLst/>
          </a:prstGeom>
          <a:solidFill xmlns:a="http://schemas.openxmlformats.org/drawingml/2006/main">
            <a:srgbClr val="FFFFFF"/>
          </a:solidFill>
          <a:ln xmlns:a="http://schemas.openxmlformats.org/drawingml/2006/main" w="38100">
            <a:solidFill>
              <a:srgbClr val="DB2777"/>
            </a:solidFill>
            <a:prstDash val="solid"/>
          </a:ln>
        </p:spPr>
      </p:sp>
      <p:sp>
        <p:nvSpPr>
          <p:cNvPr id="224" name="">
            <a:extLst xmlns:a="http://schemas.openxmlformats.org/drawingml/2006/main">
              <a:ext uri="{FF2B5EF4-FFF2-40B4-BE49-F238E27FC236}">
                <a16:creationId xmlns:a16="http://schemas.microsoft.com/office/drawing/2014/main" id="{D150F434-A123-4FFB-846D-B1A183BB8888}"/>
              </a:ext>
            </a:extLst>
          </p:cNvPr>
          <p:cNvSpPr>
            <a:spLocks xmlns:a="http://schemas.openxmlformats.org/drawingml/2006/main" noGrp="1"/>
          </p:cNvSpPr>
          <p:nvPr/>
        </p:nvSpPr>
        <p:spPr>
          <a:xfrm xmlns:a="http://schemas.openxmlformats.org/drawingml/2006/main">
            <a:off x="23285450" y="24279225"/>
            <a:ext cx="342900" cy="342900"/>
          </a:xfrm>
          <a:prstGeom xmlns:a="http://schemas.openxmlformats.org/drawingml/2006/main" prst="ellipse">
            <a:avLst/>
          </a:prstGeom>
          <a:solidFill xmlns:a="http://schemas.openxmlformats.org/drawingml/2006/main">
            <a:srgbClr val="FFFFFF"/>
          </a:solidFill>
          <a:ln xmlns:a="http://schemas.openxmlformats.org/drawingml/2006/main" w="38100">
            <a:solidFill>
              <a:srgbClr val="DB2777"/>
            </a:solidFill>
            <a:prstDash val="solid"/>
          </a:ln>
        </p:spPr>
      </p:sp>
      <p:sp>
        <p:nvSpPr>
          <p:cNvPr id="225" name="">
            <a:extLst xmlns:a="http://schemas.openxmlformats.org/drawingml/2006/main">
              <a:ext uri="{FF2B5EF4-FFF2-40B4-BE49-F238E27FC236}">
                <a16:creationId xmlns:a16="http://schemas.microsoft.com/office/drawing/2014/main" id="{E1DEA788-755B-4647-A848-2B3A31D8AE2E}"/>
              </a:ext>
            </a:extLst>
          </p:cNvPr>
          <p:cNvSpPr>
            <a:spLocks xmlns:a="http://schemas.openxmlformats.org/drawingml/2006/main" noGrp="1"/>
          </p:cNvSpPr>
          <p:nvPr/>
        </p:nvSpPr>
        <p:spPr>
          <a:xfrm xmlns:a="http://schemas.openxmlformats.org/drawingml/2006/main">
            <a:off x="24215725" y="24279225"/>
            <a:ext cx="342900" cy="342900"/>
          </a:xfrm>
          <a:prstGeom xmlns:a="http://schemas.openxmlformats.org/drawingml/2006/main" prst="ellipse">
            <a:avLst/>
          </a:prstGeom>
          <a:solidFill xmlns:a="http://schemas.openxmlformats.org/drawingml/2006/main">
            <a:srgbClr val="DB2777"/>
          </a:solidFill>
          <a:ln xmlns:a="http://schemas.openxmlformats.org/drawingml/2006/main" w="38100">
            <a:solidFill>
              <a:srgbClr val="DB2777"/>
            </a:solidFill>
            <a:prstDash val="solid"/>
          </a:ln>
        </p:spPr>
      </p:sp>
      <p:sp>
        <p:nvSpPr>
          <p:cNvPr id="226" name="">
            <a:extLst xmlns:a="http://schemas.openxmlformats.org/drawingml/2006/main">
              <a:ext uri="{FF2B5EF4-FFF2-40B4-BE49-F238E27FC236}">
                <a16:creationId xmlns:a16="http://schemas.microsoft.com/office/drawing/2014/main" id="{96B6D55F-9D0B-40ED-94D2-2023DC7689BB}"/>
              </a:ext>
            </a:extLst>
          </p:cNvPr>
          <p:cNvSpPr>
            <a:spLocks xmlns:a="http://schemas.openxmlformats.org/drawingml/2006/main" noGrp="1"/>
          </p:cNvSpPr>
          <p:nvPr/>
        </p:nvSpPr>
        <p:spPr>
          <a:xfrm xmlns:a="http://schemas.openxmlformats.org/drawingml/2006/main">
            <a:off x="25146000" y="24279225"/>
            <a:ext cx="342900" cy="342900"/>
          </a:xfrm>
          <a:prstGeom xmlns:a="http://schemas.openxmlformats.org/drawingml/2006/main" prst="ellipse">
            <a:avLst/>
          </a:prstGeom>
          <a:solidFill xmlns:a="http://schemas.openxmlformats.org/drawingml/2006/main">
            <a:srgbClr val="DB2777"/>
          </a:solidFill>
          <a:ln xmlns:a="http://schemas.openxmlformats.org/drawingml/2006/main" w="38100">
            <a:solidFill>
              <a:srgbClr val="DB2777"/>
            </a:solidFill>
            <a:prstDash val="solid"/>
          </a:ln>
        </p:spPr>
      </p:sp>
      <p:sp>
        <p:nvSpPr>
          <p:cNvPr id="227" name="">
            <a:extLst xmlns:a="http://schemas.openxmlformats.org/drawingml/2006/main">
              <a:ext uri="{FF2B5EF4-FFF2-40B4-BE49-F238E27FC236}">
                <a16:creationId xmlns:a16="http://schemas.microsoft.com/office/drawing/2014/main" id="{608B22D9-CA92-4AA2-848C-37EE9B5FAEF3}"/>
              </a:ext>
            </a:extLst>
          </p:cNvPr>
          <p:cNvSpPr>
            <a:spLocks xmlns:a="http://schemas.openxmlformats.org/drawingml/2006/main" noGrp="1"/>
          </p:cNvSpPr>
          <p:nvPr/>
        </p:nvSpPr>
        <p:spPr>
          <a:xfrm xmlns:a="http://schemas.openxmlformats.org/drawingml/2006/main">
            <a:off x="18926175" y="24917400"/>
            <a:ext cx="2190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0">
                <a:solidFill>
                  <a:srgbClr val="DB2777"/>
                </a:solidFill>
                <a:latin typeface="Aptos"/>
                <a:ea typeface="Aptos"/>
                <a:cs typeface="Aptos"/>
              </a:defRPr>
            </a:pPr>
            <a:r>
              <a:rPr sz="1500" b="0">
                <a:solidFill>
                  <a:srgbClr val="DB2777"/>
                </a:solidFill>
                <a:latin typeface="Aptos"/>
                <a:ea typeface="Aptos"/>
                <a:cs typeface="Aptos"/>
              </a:rPr>
              <a:t>observed</a:t>
            </a:r>
          </a:p>
        </p:txBody>
      </p:sp>
      <p:sp>
        <p:nvSpPr>
          <p:cNvPr id="228" name="">
            <a:extLst xmlns:a="http://schemas.openxmlformats.org/drawingml/2006/main">
              <a:ext uri="{FF2B5EF4-FFF2-40B4-BE49-F238E27FC236}">
                <a16:creationId xmlns:a16="http://schemas.microsoft.com/office/drawing/2014/main" id="{0E7456A9-3073-4BE8-80F2-2D67C4BD72FA}"/>
              </a:ext>
            </a:extLst>
          </p:cNvPr>
          <p:cNvSpPr>
            <a:spLocks xmlns:a="http://schemas.openxmlformats.org/drawingml/2006/main" noGrp="1"/>
          </p:cNvSpPr>
          <p:nvPr/>
        </p:nvSpPr>
        <p:spPr>
          <a:xfrm xmlns:a="http://schemas.openxmlformats.org/drawingml/2006/main">
            <a:off x="21126450" y="24917400"/>
            <a:ext cx="3333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0">
                <a:solidFill>
                  <a:srgbClr val="526174"/>
                </a:solidFill>
                <a:latin typeface="Aptos"/>
                <a:ea typeface="Aptos"/>
                <a:cs typeface="Aptos"/>
              </a:defRPr>
            </a:pPr>
            <a:r>
              <a:rPr sz="1500" b="0">
                <a:solidFill>
                  <a:srgbClr val="526174"/>
                </a:solidFill>
                <a:latin typeface="Aptos"/>
                <a:ea typeface="Aptos"/>
                <a:cs typeface="Aptos"/>
              </a:rPr>
              <a:t>filled by graph propagation</a:t>
            </a:r>
          </a:p>
        </p:txBody>
      </p:sp>
      <p:sp>
        <p:nvSpPr>
          <p:cNvPr id="229" name="">
            <a:extLst xmlns:a="http://schemas.openxmlformats.org/drawingml/2006/main">
              <a:ext uri="{FF2B5EF4-FFF2-40B4-BE49-F238E27FC236}">
                <a16:creationId xmlns:a16="http://schemas.microsoft.com/office/drawing/2014/main" id="{6C95C7EC-9D5D-4DDD-A02E-0C5A309189D9}"/>
              </a:ext>
            </a:extLst>
          </p:cNvPr>
          <p:cNvSpPr>
            <a:spLocks xmlns:a="http://schemas.openxmlformats.org/drawingml/2006/main" noGrp="1"/>
          </p:cNvSpPr>
          <p:nvPr/>
        </p:nvSpPr>
        <p:spPr>
          <a:xfrm xmlns:a="http://schemas.openxmlformats.org/drawingml/2006/main">
            <a:off x="18402300" y="26231850"/>
            <a:ext cx="514350" cy="514350"/>
          </a:xfrm>
          <a:prstGeom xmlns:a="http://schemas.openxmlformats.org/drawingml/2006/main" prst="roundRect">
            <a:avLst>
              <a:gd name="adj" fmla="val 50000"/>
            </a:avLst>
          </a:prstGeom>
          <a:solidFill xmlns:a="http://schemas.openxmlformats.org/drawingml/2006/main">
            <a:srgbClr val="7C3AED"/>
          </a:solidFill>
          <a:ln xmlns:a="http://schemas.openxmlformats.org/drawingml/2006/main" w="0">
            <a:solidFill>
              <a:srgbClr val="7C3AED"/>
            </a:solidFill>
            <a:prstDash val="solid"/>
          </a:ln>
        </p:spPr>
      </p:sp>
      <p:sp>
        <p:nvSpPr>
          <p:cNvPr id="230" name="">
            <a:extLst xmlns:a="http://schemas.openxmlformats.org/drawingml/2006/main">
              <a:ext uri="{FF2B5EF4-FFF2-40B4-BE49-F238E27FC236}">
                <a16:creationId xmlns:a16="http://schemas.microsoft.com/office/drawing/2014/main" id="{3AB88EC1-E291-4174-B99B-A9181F8BE058}"/>
              </a:ext>
            </a:extLst>
          </p:cNvPr>
          <p:cNvSpPr>
            <a:spLocks xmlns:a="http://schemas.openxmlformats.org/drawingml/2006/main" noGrp="1"/>
          </p:cNvSpPr>
          <p:nvPr/>
        </p:nvSpPr>
        <p:spPr>
          <a:xfrm xmlns:a="http://schemas.openxmlformats.org/drawingml/2006/main">
            <a:off x="18402300" y="26222325"/>
            <a:ext cx="5143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250" b="1">
                <a:solidFill>
                  <a:srgbClr val="FFFFFF"/>
                </a:solidFill>
                <a:latin typeface="Aptos"/>
                <a:ea typeface="Aptos"/>
                <a:cs typeface="Aptos"/>
              </a:defRPr>
            </a:pPr>
            <a:r>
              <a:rPr sz="2250" b="1">
                <a:solidFill>
                  <a:srgbClr val="FFFFFF"/>
                </a:solidFill>
                <a:latin typeface="Aptos"/>
                <a:ea typeface="Aptos"/>
                <a:cs typeface="Aptos"/>
              </a:rPr>
              <a:t>7</a:t>
            </a:r>
          </a:p>
        </p:txBody>
      </p:sp>
      <p:sp>
        <p:nvSpPr>
          <p:cNvPr id="231" name="">
            <a:extLst xmlns:a="http://schemas.openxmlformats.org/drawingml/2006/main">
              <a:ext uri="{FF2B5EF4-FFF2-40B4-BE49-F238E27FC236}">
                <a16:creationId xmlns:a16="http://schemas.microsoft.com/office/drawing/2014/main" id="{707DBE30-85BB-43B1-8666-BE6050E9B4E1}"/>
              </a:ext>
            </a:extLst>
          </p:cNvPr>
          <p:cNvSpPr>
            <a:spLocks xmlns:a="http://schemas.openxmlformats.org/drawingml/2006/main" noGrp="1"/>
          </p:cNvSpPr>
          <p:nvPr/>
        </p:nvSpPr>
        <p:spPr>
          <a:xfrm xmlns:a="http://schemas.openxmlformats.org/drawingml/2006/main">
            <a:off x="19088100" y="26193750"/>
            <a:ext cx="76581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975" b="1">
                <a:solidFill>
                  <a:srgbClr val="172033"/>
                </a:solidFill>
                <a:latin typeface="Aptos Display"/>
                <a:ea typeface="Aptos Display"/>
                <a:cs typeface="Aptos Display"/>
              </a:defRPr>
            </a:pPr>
            <a:r>
              <a:rPr sz="3975" b="1">
                <a:solidFill>
                  <a:srgbClr val="172033"/>
                </a:solidFill>
                <a:latin typeface="Aptos Display"/>
                <a:ea typeface="Aptos Display"/>
                <a:cs typeface="Aptos Display"/>
              </a:rPr>
              <a:t>Bush spatial 3D modes</a:t>
            </a:r>
          </a:p>
        </p:txBody>
      </p:sp>
      <p:sp>
        <p:nvSpPr>
          <p:cNvPr id="232" name="">
            <a:extLst xmlns:a="http://schemas.openxmlformats.org/drawingml/2006/main">
              <a:ext uri="{FF2B5EF4-FFF2-40B4-BE49-F238E27FC236}">
                <a16:creationId xmlns:a16="http://schemas.microsoft.com/office/drawing/2014/main" id="{4076EF7C-DC11-4FC3-A531-92A34ECF2091}"/>
              </a:ext>
            </a:extLst>
          </p:cNvPr>
          <p:cNvSpPr>
            <a:spLocks xmlns:a="http://schemas.openxmlformats.org/drawingml/2006/main" noGrp="1"/>
          </p:cNvSpPr>
          <p:nvPr/>
        </p:nvSpPr>
        <p:spPr>
          <a:xfrm xmlns:a="http://schemas.openxmlformats.org/drawingml/2006/main" flipH="0" flipV="0">
            <a:off x="18402300" y="26841450"/>
            <a:ext cx="834390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7C3AED"/>
            </a:solidFill>
            <a:prstDash val="solid"/>
          </a:ln>
        </p:spPr>
      </p:sp>
      <p:sp>
        <p:nvSpPr>
          <p:cNvPr id="233" name="">
            <a:extLst xmlns:a="http://schemas.openxmlformats.org/drawingml/2006/main">
              <a:ext uri="{FF2B5EF4-FFF2-40B4-BE49-F238E27FC236}">
                <a16:creationId xmlns:a16="http://schemas.microsoft.com/office/drawing/2014/main" id="{F673F28B-2ADD-4D60-B5DC-8B934AFB1E4C}"/>
              </a:ext>
            </a:extLst>
          </p:cNvPr>
          <p:cNvSpPr>
            <a:spLocks xmlns:a="http://schemas.openxmlformats.org/drawingml/2006/main" noGrp="1"/>
          </p:cNvSpPr>
          <p:nvPr/>
        </p:nvSpPr>
        <p:spPr>
          <a:xfrm xmlns:a="http://schemas.openxmlformats.org/drawingml/2006/main">
            <a:off x="18402300" y="26955750"/>
            <a:ext cx="8343900" cy="4629150"/>
          </a:xfrm>
          <a:prstGeom xmlns:a="http://schemas.openxmlformats.org/drawingml/2006/main" prst="roundRect">
            <a:avLst>
              <a:gd name="adj" fmla="val 3704"/>
            </a:avLst>
          </a:prstGeom>
          <a:solidFill xmlns:a="http://schemas.openxmlformats.org/drawingml/2006/main">
            <a:srgbClr val="F7F9FC"/>
          </a:solidFill>
          <a:ln xmlns:a="http://schemas.openxmlformats.org/drawingml/2006/main" w="28575">
            <a:solidFill>
              <a:srgbClr val="7C3AED"/>
            </a:solidFill>
            <a:prstDash val="dash"/>
          </a:ln>
        </p:spPr>
      </p:sp>
      <p:sp>
        <p:nvSpPr>
          <p:cNvPr id="234" name="">
            <a:extLst xmlns:a="http://schemas.openxmlformats.org/drawingml/2006/main">
              <a:ext uri="{FF2B5EF4-FFF2-40B4-BE49-F238E27FC236}">
                <a16:creationId xmlns:a16="http://schemas.microsoft.com/office/drawing/2014/main" id="{DAEB302E-6ABC-4E21-9E9F-7E35D553E6B0}"/>
              </a:ext>
            </a:extLst>
          </p:cNvPr>
          <p:cNvSpPr>
            <a:spLocks xmlns:a="http://schemas.openxmlformats.org/drawingml/2006/main" noGrp="1"/>
          </p:cNvSpPr>
          <p:nvPr/>
        </p:nvSpPr>
        <p:spPr>
          <a:xfrm xmlns:a="http://schemas.openxmlformats.org/drawingml/2006/main">
            <a:off x="18573750" y="27117675"/>
            <a:ext cx="1952625" cy="381000"/>
          </a:xfrm>
          <a:prstGeom xmlns:a="http://schemas.openxmlformats.org/drawingml/2006/main" prst="roundRect">
            <a:avLst>
              <a:gd name="adj" fmla="val 50000"/>
            </a:avLst>
          </a:prstGeom>
          <a:solidFill xmlns:a="http://schemas.openxmlformats.org/drawingml/2006/main">
            <a:srgbClr val="7C3AED"/>
          </a:solidFill>
          <a:ln xmlns:a="http://schemas.openxmlformats.org/drawingml/2006/main" w="0">
            <a:solidFill>
              <a:srgbClr val="7C3AED"/>
            </a:solidFill>
            <a:prstDash val="solid"/>
          </a:ln>
        </p:spPr>
      </p:sp>
      <p:sp>
        <p:nvSpPr>
          <p:cNvPr id="235" name="">
            <a:extLst xmlns:a="http://schemas.openxmlformats.org/drawingml/2006/main">
              <a:ext uri="{FF2B5EF4-FFF2-40B4-BE49-F238E27FC236}">
                <a16:creationId xmlns:a16="http://schemas.microsoft.com/office/drawing/2014/main" id="{E77A75C4-ACF6-422C-8F13-D244AA308900}"/>
              </a:ext>
            </a:extLst>
          </p:cNvPr>
          <p:cNvSpPr>
            <a:spLocks xmlns:a="http://schemas.openxmlformats.org/drawingml/2006/main" noGrp="1"/>
          </p:cNvSpPr>
          <p:nvPr/>
        </p:nvSpPr>
        <p:spPr>
          <a:xfrm xmlns:a="http://schemas.openxmlformats.org/drawingml/2006/main">
            <a:off x="18592800" y="27127200"/>
            <a:ext cx="1914525" cy="352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1425" b="1">
                <a:solidFill>
                  <a:srgbClr val="FFFFFF"/>
                </a:solidFill>
                <a:latin typeface="Aptos"/>
                <a:ea typeface="Aptos"/>
                <a:cs typeface="Aptos"/>
              </a:defRPr>
            </a:pPr>
            <a:r>
              <a:rPr sz="1425" b="1">
                <a:solidFill>
                  <a:srgbClr val="FFFFFF"/>
                </a:solidFill>
                <a:latin typeface="Aptos"/>
                <a:ea typeface="Aptos"/>
                <a:cs typeface="Aptos"/>
              </a:rPr>
              <a:t>IMAGE PLACEHOLDER</a:t>
            </a:r>
          </a:p>
        </p:txBody>
      </p:sp>
      <p:sp>
        <p:nvSpPr>
          <p:cNvPr id="236" name="">
            <a:extLst xmlns:a="http://schemas.openxmlformats.org/drawingml/2006/main">
              <a:ext uri="{FF2B5EF4-FFF2-40B4-BE49-F238E27FC236}">
                <a16:creationId xmlns:a16="http://schemas.microsoft.com/office/drawing/2014/main" id="{E0992153-018C-4EE9-9654-EA29A3BD1451}"/>
              </a:ext>
            </a:extLst>
          </p:cNvPr>
          <p:cNvSpPr>
            <a:spLocks xmlns:a="http://schemas.openxmlformats.org/drawingml/2006/main" noGrp="1"/>
          </p:cNvSpPr>
          <p:nvPr/>
        </p:nvSpPr>
        <p:spPr>
          <a:xfrm xmlns:a="http://schemas.openxmlformats.org/drawingml/2006/main">
            <a:off x="18649950" y="27603450"/>
            <a:ext cx="7848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400" b="1">
                <a:solidFill>
                  <a:srgbClr val="172033"/>
                </a:solidFill>
                <a:latin typeface="Aptos"/>
                <a:ea typeface="Aptos"/>
                <a:cs typeface="Aptos"/>
              </a:defRPr>
            </a:pPr>
            <a:r>
              <a:rPr sz="2400" b="1">
                <a:solidFill>
                  <a:srgbClr val="172033"/>
                </a:solidFill>
                <a:latin typeface="Aptos"/>
                <a:ea typeface="Aptos"/>
                <a:cs typeface="Aptos"/>
              </a:rPr>
              <a:t>Completed mode shapes at selected frequencies</a:t>
            </a:r>
          </a:p>
        </p:txBody>
      </p:sp>
      <p:sp>
        <p:nvSpPr>
          <p:cNvPr id="237" name="">
            <a:extLst xmlns:a="http://schemas.openxmlformats.org/drawingml/2006/main">
              <a:ext uri="{FF2B5EF4-FFF2-40B4-BE49-F238E27FC236}">
                <a16:creationId xmlns:a16="http://schemas.microsoft.com/office/drawing/2014/main" id="{A4DBC059-8AA2-4BC5-8E02-08A1215828A2}"/>
              </a:ext>
            </a:extLst>
          </p:cNvPr>
          <p:cNvSpPr>
            <a:spLocks xmlns:a="http://schemas.openxmlformats.org/drawingml/2006/main" noGrp="1"/>
          </p:cNvSpPr>
          <p:nvPr/>
        </p:nvSpPr>
        <p:spPr>
          <a:xfrm xmlns:a="http://schemas.openxmlformats.org/drawingml/2006/main">
            <a:off x="18592800" y="31118175"/>
            <a:ext cx="7962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0">
                <a:solidFill>
                  <a:srgbClr val="526174"/>
                </a:solidFill>
                <a:latin typeface="Aptos Mono"/>
                <a:ea typeface="Aptos Mono"/>
                <a:cs typeface="Aptos Mono"/>
              </a:defRPr>
            </a:pPr>
            <a:r>
              <a:rPr sz="1500" b="0">
                <a:solidFill>
                  <a:srgbClr val="526174"/>
                </a:solidFill>
                <a:latin typeface="Aptos Mono"/>
                <a:ea typeface="Aptos Mono"/>
                <a:cs typeface="Aptos Mono"/>
              </a:rPr>
              <a:t>bush_modes_grid.png</a:t>
            </a:r>
          </a:p>
        </p:txBody>
      </p:sp>
      <p:sp>
        <p:nvSpPr>
          <p:cNvPr id="238" name="">
            <a:extLst xmlns:a="http://schemas.openxmlformats.org/drawingml/2006/main">
              <a:ext uri="{FF2B5EF4-FFF2-40B4-BE49-F238E27FC236}">
                <a16:creationId xmlns:a16="http://schemas.microsoft.com/office/drawing/2014/main" id="{9530BCA8-793B-453B-B862-5F1E0ADB63ED}"/>
              </a:ext>
            </a:extLst>
          </p:cNvPr>
          <p:cNvSpPr>
            <a:spLocks xmlns:a="http://schemas.openxmlformats.org/drawingml/2006/main" noGrp="1"/>
          </p:cNvSpPr>
          <p:nvPr/>
        </p:nvSpPr>
        <p:spPr>
          <a:xfrm xmlns:a="http://schemas.openxmlformats.org/drawingml/2006/main">
            <a:off x="19040475" y="28308300"/>
            <a:ext cx="1876425"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E6EBF1"/>
            </a:solidFill>
            <a:prstDash val="solid"/>
          </a:ln>
        </p:spPr>
      </p:sp>
      <p:sp>
        <p:nvSpPr>
          <p:cNvPr id="239" name="">
            <a:extLst xmlns:a="http://schemas.openxmlformats.org/drawingml/2006/main">
              <a:ext uri="{FF2B5EF4-FFF2-40B4-BE49-F238E27FC236}">
                <a16:creationId xmlns:a16="http://schemas.microsoft.com/office/drawing/2014/main" id="{56EE6AC0-40BC-4116-9EFF-C7F2FD090B5A}"/>
              </a:ext>
            </a:extLst>
          </p:cNvPr>
          <p:cNvSpPr>
            <a:spLocks xmlns:a="http://schemas.openxmlformats.org/drawingml/2006/main" noGrp="1"/>
          </p:cNvSpPr>
          <p:nvPr/>
        </p:nvSpPr>
        <p:spPr>
          <a:xfrm xmlns:a="http://schemas.openxmlformats.org/drawingml/2006/main" flipH="0" flipV="1">
            <a:off x="19250025" y="28708350"/>
            <a:ext cx="428625" cy="4572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2563EB"/>
            </a:solidFill>
            <a:prstDash val="solid"/>
          </a:ln>
        </p:spPr>
      </p:sp>
      <p:sp>
        <p:nvSpPr>
          <p:cNvPr id="240" name="">
            <a:extLst xmlns:a="http://schemas.openxmlformats.org/drawingml/2006/main">
              <a:ext uri="{FF2B5EF4-FFF2-40B4-BE49-F238E27FC236}">
                <a16:creationId xmlns:a16="http://schemas.microsoft.com/office/drawing/2014/main" id="{D7A88B33-47CD-40BE-8CD8-656449ADC13D}"/>
              </a:ext>
            </a:extLst>
          </p:cNvPr>
          <p:cNvSpPr>
            <a:spLocks xmlns:a="http://schemas.openxmlformats.org/drawingml/2006/main" noGrp="1"/>
          </p:cNvSpPr>
          <p:nvPr/>
        </p:nvSpPr>
        <p:spPr>
          <a:xfrm xmlns:a="http://schemas.openxmlformats.org/drawingml/2006/main" flipH="0" flipV="1">
            <a:off x="19535775" y="28717875"/>
            <a:ext cx="428625" cy="37147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0F9D8A"/>
            </a:solidFill>
            <a:prstDash val="solid"/>
          </a:ln>
        </p:spPr>
      </p:sp>
      <p:sp>
        <p:nvSpPr>
          <p:cNvPr id="241" name="">
            <a:extLst xmlns:a="http://schemas.openxmlformats.org/drawingml/2006/main">
              <a:ext uri="{FF2B5EF4-FFF2-40B4-BE49-F238E27FC236}">
                <a16:creationId xmlns:a16="http://schemas.microsoft.com/office/drawing/2014/main" id="{30B182C8-8A60-44FD-9723-F2DFB5361887}"/>
              </a:ext>
            </a:extLst>
          </p:cNvPr>
          <p:cNvSpPr>
            <a:spLocks xmlns:a="http://schemas.openxmlformats.org/drawingml/2006/main" noGrp="1"/>
          </p:cNvSpPr>
          <p:nvPr/>
        </p:nvSpPr>
        <p:spPr>
          <a:xfrm xmlns:a="http://schemas.openxmlformats.org/drawingml/2006/main" flipH="0" flipV="1">
            <a:off x="19821525" y="28727400"/>
            <a:ext cx="428625" cy="28575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F59E0B"/>
            </a:solidFill>
            <a:prstDash val="solid"/>
          </a:ln>
        </p:spPr>
      </p:sp>
      <p:sp>
        <p:nvSpPr>
          <p:cNvPr id="242" name="">
            <a:extLst xmlns:a="http://schemas.openxmlformats.org/drawingml/2006/main">
              <a:ext uri="{FF2B5EF4-FFF2-40B4-BE49-F238E27FC236}">
                <a16:creationId xmlns:a16="http://schemas.microsoft.com/office/drawing/2014/main" id="{ABADED34-DC6D-4E24-85F9-00F7715D0F62}"/>
              </a:ext>
            </a:extLst>
          </p:cNvPr>
          <p:cNvSpPr>
            <a:spLocks xmlns:a="http://schemas.openxmlformats.org/drawingml/2006/main" noGrp="1"/>
          </p:cNvSpPr>
          <p:nvPr/>
        </p:nvSpPr>
        <p:spPr>
          <a:xfrm xmlns:a="http://schemas.openxmlformats.org/drawingml/2006/main" flipH="0" flipV="1">
            <a:off x="20107275" y="28736925"/>
            <a:ext cx="428625" cy="20002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7C3AED"/>
            </a:solidFill>
            <a:prstDash val="solid"/>
          </a:ln>
        </p:spPr>
      </p:sp>
      <p:sp>
        <p:nvSpPr>
          <p:cNvPr id="243" name="">
            <a:extLst xmlns:a="http://schemas.openxmlformats.org/drawingml/2006/main">
              <a:ext uri="{FF2B5EF4-FFF2-40B4-BE49-F238E27FC236}">
                <a16:creationId xmlns:a16="http://schemas.microsoft.com/office/drawing/2014/main" id="{8C1AA9C3-58CD-4888-BA63-6F63F98E90E4}"/>
              </a:ext>
            </a:extLst>
          </p:cNvPr>
          <p:cNvSpPr>
            <a:spLocks xmlns:a="http://schemas.openxmlformats.org/drawingml/2006/main" noGrp="1"/>
          </p:cNvSpPr>
          <p:nvPr/>
        </p:nvSpPr>
        <p:spPr>
          <a:xfrm xmlns:a="http://schemas.openxmlformats.org/drawingml/2006/main" flipH="0" flipV="1">
            <a:off x="20393025" y="28746450"/>
            <a:ext cx="428625" cy="1143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DB2777"/>
            </a:solidFill>
            <a:prstDash val="solid"/>
          </a:ln>
        </p:spPr>
      </p:sp>
      <p:sp>
        <p:nvSpPr>
          <p:cNvPr id="244" name="">
            <a:extLst xmlns:a="http://schemas.openxmlformats.org/drawingml/2006/main">
              <a:ext uri="{FF2B5EF4-FFF2-40B4-BE49-F238E27FC236}">
                <a16:creationId xmlns:a16="http://schemas.microsoft.com/office/drawing/2014/main" id="{673871F3-BAC8-4E09-A7F0-253B8BC57B39}"/>
              </a:ext>
            </a:extLst>
          </p:cNvPr>
          <p:cNvSpPr>
            <a:spLocks xmlns:a="http://schemas.openxmlformats.org/drawingml/2006/main" noGrp="1"/>
          </p:cNvSpPr>
          <p:nvPr/>
        </p:nvSpPr>
        <p:spPr>
          <a:xfrm xmlns:a="http://schemas.openxmlformats.org/drawingml/2006/main">
            <a:off x="19116675" y="28374975"/>
            <a:ext cx="1724025"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526174"/>
                </a:solidFill>
                <a:latin typeface="Aptos"/>
                <a:ea typeface="Aptos"/>
                <a:cs typeface="Aptos"/>
              </a:defRPr>
            </a:pPr>
            <a:r>
              <a:rPr sz="1275" b="1">
                <a:solidFill>
                  <a:srgbClr val="526174"/>
                </a:solidFill>
                <a:latin typeface="Aptos"/>
                <a:ea typeface="Aptos"/>
                <a:cs typeface="Aptos"/>
              </a:rPr>
              <a:t>mode 1</a:t>
            </a:r>
          </a:p>
        </p:txBody>
      </p:sp>
      <p:sp>
        <p:nvSpPr>
          <p:cNvPr id="245" name="">
            <a:extLst xmlns:a="http://schemas.openxmlformats.org/drawingml/2006/main">
              <a:ext uri="{FF2B5EF4-FFF2-40B4-BE49-F238E27FC236}">
                <a16:creationId xmlns:a16="http://schemas.microsoft.com/office/drawing/2014/main" id="{471FE534-D076-46BD-B4C0-E1F7E80DB390}"/>
              </a:ext>
            </a:extLst>
          </p:cNvPr>
          <p:cNvSpPr>
            <a:spLocks xmlns:a="http://schemas.openxmlformats.org/drawingml/2006/main" noGrp="1"/>
          </p:cNvSpPr>
          <p:nvPr/>
        </p:nvSpPr>
        <p:spPr>
          <a:xfrm xmlns:a="http://schemas.openxmlformats.org/drawingml/2006/main">
            <a:off x="21145500" y="28308300"/>
            <a:ext cx="1876425"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E6EBF1"/>
            </a:solidFill>
            <a:prstDash val="solid"/>
          </a:ln>
        </p:spPr>
      </p:sp>
      <p:sp>
        <p:nvSpPr>
          <p:cNvPr id="246" name="">
            <a:extLst xmlns:a="http://schemas.openxmlformats.org/drawingml/2006/main">
              <a:ext uri="{FF2B5EF4-FFF2-40B4-BE49-F238E27FC236}">
                <a16:creationId xmlns:a16="http://schemas.microsoft.com/office/drawing/2014/main" id="{C4EE850D-0FC7-4328-808A-A8E279549783}"/>
              </a:ext>
            </a:extLst>
          </p:cNvPr>
          <p:cNvSpPr>
            <a:spLocks xmlns:a="http://schemas.openxmlformats.org/drawingml/2006/main" noGrp="1"/>
          </p:cNvSpPr>
          <p:nvPr/>
        </p:nvSpPr>
        <p:spPr>
          <a:xfrm xmlns:a="http://schemas.openxmlformats.org/drawingml/2006/main" flipH="0" flipV="1">
            <a:off x="21355050" y="28708350"/>
            <a:ext cx="428625" cy="4572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2563EB"/>
            </a:solidFill>
            <a:prstDash val="solid"/>
          </a:ln>
        </p:spPr>
      </p:sp>
      <p:sp>
        <p:nvSpPr>
          <p:cNvPr id="247" name="">
            <a:extLst xmlns:a="http://schemas.openxmlformats.org/drawingml/2006/main">
              <a:ext uri="{FF2B5EF4-FFF2-40B4-BE49-F238E27FC236}">
                <a16:creationId xmlns:a16="http://schemas.microsoft.com/office/drawing/2014/main" id="{3B20F3CF-50CC-4FA3-BA69-68A1D6D7C8E4}"/>
              </a:ext>
            </a:extLst>
          </p:cNvPr>
          <p:cNvSpPr>
            <a:spLocks xmlns:a="http://schemas.openxmlformats.org/drawingml/2006/main" noGrp="1"/>
          </p:cNvSpPr>
          <p:nvPr/>
        </p:nvSpPr>
        <p:spPr>
          <a:xfrm xmlns:a="http://schemas.openxmlformats.org/drawingml/2006/main" flipH="0" flipV="1">
            <a:off x="21640800" y="28717875"/>
            <a:ext cx="428625" cy="37147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0F9D8A"/>
            </a:solidFill>
            <a:prstDash val="solid"/>
          </a:ln>
        </p:spPr>
      </p:sp>
      <p:sp>
        <p:nvSpPr>
          <p:cNvPr id="248" name="">
            <a:extLst xmlns:a="http://schemas.openxmlformats.org/drawingml/2006/main">
              <a:ext uri="{FF2B5EF4-FFF2-40B4-BE49-F238E27FC236}">
                <a16:creationId xmlns:a16="http://schemas.microsoft.com/office/drawing/2014/main" id="{042A8426-796B-4EA5-998C-760FA7E48315}"/>
              </a:ext>
            </a:extLst>
          </p:cNvPr>
          <p:cNvSpPr>
            <a:spLocks xmlns:a="http://schemas.openxmlformats.org/drawingml/2006/main" noGrp="1"/>
          </p:cNvSpPr>
          <p:nvPr/>
        </p:nvSpPr>
        <p:spPr>
          <a:xfrm xmlns:a="http://schemas.openxmlformats.org/drawingml/2006/main" flipH="0" flipV="1">
            <a:off x="21926550" y="28727400"/>
            <a:ext cx="428625" cy="28575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F59E0B"/>
            </a:solidFill>
            <a:prstDash val="solid"/>
          </a:ln>
        </p:spPr>
      </p:sp>
      <p:sp>
        <p:nvSpPr>
          <p:cNvPr id="249" name="">
            <a:extLst xmlns:a="http://schemas.openxmlformats.org/drawingml/2006/main">
              <a:ext uri="{FF2B5EF4-FFF2-40B4-BE49-F238E27FC236}">
                <a16:creationId xmlns:a16="http://schemas.microsoft.com/office/drawing/2014/main" id="{FAF04447-A6E4-463F-99C4-7C44F508D33B}"/>
              </a:ext>
            </a:extLst>
          </p:cNvPr>
          <p:cNvSpPr>
            <a:spLocks xmlns:a="http://schemas.openxmlformats.org/drawingml/2006/main" noGrp="1"/>
          </p:cNvSpPr>
          <p:nvPr/>
        </p:nvSpPr>
        <p:spPr>
          <a:xfrm xmlns:a="http://schemas.openxmlformats.org/drawingml/2006/main" flipH="0" flipV="1">
            <a:off x="22212300" y="28736925"/>
            <a:ext cx="428625" cy="20002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7C3AED"/>
            </a:solidFill>
            <a:prstDash val="solid"/>
          </a:ln>
        </p:spPr>
      </p:sp>
      <p:sp>
        <p:nvSpPr>
          <p:cNvPr id="250" name="">
            <a:extLst xmlns:a="http://schemas.openxmlformats.org/drawingml/2006/main">
              <a:ext uri="{FF2B5EF4-FFF2-40B4-BE49-F238E27FC236}">
                <a16:creationId xmlns:a16="http://schemas.microsoft.com/office/drawing/2014/main" id="{47BE94A6-2CCC-4370-8063-B079DA8D0DC1}"/>
              </a:ext>
            </a:extLst>
          </p:cNvPr>
          <p:cNvSpPr>
            <a:spLocks xmlns:a="http://schemas.openxmlformats.org/drawingml/2006/main" noGrp="1"/>
          </p:cNvSpPr>
          <p:nvPr/>
        </p:nvSpPr>
        <p:spPr>
          <a:xfrm xmlns:a="http://schemas.openxmlformats.org/drawingml/2006/main" flipH="0" flipV="1">
            <a:off x="22498050" y="28746450"/>
            <a:ext cx="428625" cy="1143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DB2777"/>
            </a:solidFill>
            <a:prstDash val="solid"/>
          </a:ln>
        </p:spPr>
      </p:sp>
      <p:sp>
        <p:nvSpPr>
          <p:cNvPr id="251" name="">
            <a:extLst xmlns:a="http://schemas.openxmlformats.org/drawingml/2006/main">
              <a:ext uri="{FF2B5EF4-FFF2-40B4-BE49-F238E27FC236}">
                <a16:creationId xmlns:a16="http://schemas.microsoft.com/office/drawing/2014/main" id="{CC7ABA73-1EED-4E95-836D-9EA9FFF31A66}"/>
              </a:ext>
            </a:extLst>
          </p:cNvPr>
          <p:cNvSpPr>
            <a:spLocks xmlns:a="http://schemas.openxmlformats.org/drawingml/2006/main" noGrp="1"/>
          </p:cNvSpPr>
          <p:nvPr/>
        </p:nvSpPr>
        <p:spPr>
          <a:xfrm xmlns:a="http://schemas.openxmlformats.org/drawingml/2006/main">
            <a:off x="21221700" y="28374975"/>
            <a:ext cx="1724025"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526174"/>
                </a:solidFill>
                <a:latin typeface="Aptos"/>
                <a:ea typeface="Aptos"/>
                <a:cs typeface="Aptos"/>
              </a:defRPr>
            </a:pPr>
            <a:r>
              <a:rPr sz="1275" b="1">
                <a:solidFill>
                  <a:srgbClr val="526174"/>
                </a:solidFill>
                <a:latin typeface="Aptos"/>
                <a:ea typeface="Aptos"/>
                <a:cs typeface="Aptos"/>
              </a:rPr>
              <a:t>mode 2</a:t>
            </a:r>
          </a:p>
        </p:txBody>
      </p:sp>
      <p:sp>
        <p:nvSpPr>
          <p:cNvPr id="252" name="">
            <a:extLst xmlns:a="http://schemas.openxmlformats.org/drawingml/2006/main">
              <a:ext uri="{FF2B5EF4-FFF2-40B4-BE49-F238E27FC236}">
                <a16:creationId xmlns:a16="http://schemas.microsoft.com/office/drawing/2014/main" id="{9B52C9FF-A637-4233-9977-1DFB3254EAC8}"/>
              </a:ext>
            </a:extLst>
          </p:cNvPr>
          <p:cNvSpPr>
            <a:spLocks xmlns:a="http://schemas.openxmlformats.org/drawingml/2006/main" noGrp="1"/>
          </p:cNvSpPr>
          <p:nvPr/>
        </p:nvSpPr>
        <p:spPr>
          <a:xfrm xmlns:a="http://schemas.openxmlformats.org/drawingml/2006/main">
            <a:off x="23250525" y="28308300"/>
            <a:ext cx="1876425"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E6EBF1"/>
            </a:solidFill>
            <a:prstDash val="solid"/>
          </a:ln>
        </p:spPr>
      </p:sp>
      <p:sp>
        <p:nvSpPr>
          <p:cNvPr id="253" name="">
            <a:extLst xmlns:a="http://schemas.openxmlformats.org/drawingml/2006/main">
              <a:ext uri="{FF2B5EF4-FFF2-40B4-BE49-F238E27FC236}">
                <a16:creationId xmlns:a16="http://schemas.microsoft.com/office/drawing/2014/main" id="{E03ED5DF-ABC4-4DD3-950F-CD1DFED32183}"/>
              </a:ext>
            </a:extLst>
          </p:cNvPr>
          <p:cNvSpPr>
            <a:spLocks xmlns:a="http://schemas.openxmlformats.org/drawingml/2006/main" noGrp="1"/>
          </p:cNvSpPr>
          <p:nvPr/>
        </p:nvSpPr>
        <p:spPr>
          <a:xfrm xmlns:a="http://schemas.openxmlformats.org/drawingml/2006/main" flipH="0" flipV="1">
            <a:off x="23460075" y="28708350"/>
            <a:ext cx="428625" cy="4572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2563EB"/>
            </a:solidFill>
            <a:prstDash val="solid"/>
          </a:ln>
        </p:spPr>
      </p:sp>
      <p:sp>
        <p:nvSpPr>
          <p:cNvPr id="254" name="">
            <a:extLst xmlns:a="http://schemas.openxmlformats.org/drawingml/2006/main">
              <a:ext uri="{FF2B5EF4-FFF2-40B4-BE49-F238E27FC236}">
                <a16:creationId xmlns:a16="http://schemas.microsoft.com/office/drawing/2014/main" id="{36B8EFEC-63D7-47B0-A0D0-CAEBE37E22EC}"/>
              </a:ext>
            </a:extLst>
          </p:cNvPr>
          <p:cNvSpPr>
            <a:spLocks xmlns:a="http://schemas.openxmlformats.org/drawingml/2006/main" noGrp="1"/>
          </p:cNvSpPr>
          <p:nvPr/>
        </p:nvSpPr>
        <p:spPr>
          <a:xfrm xmlns:a="http://schemas.openxmlformats.org/drawingml/2006/main" flipH="0" flipV="1">
            <a:off x="23745825" y="28717875"/>
            <a:ext cx="428625" cy="37147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0F9D8A"/>
            </a:solidFill>
            <a:prstDash val="solid"/>
          </a:ln>
        </p:spPr>
      </p:sp>
      <p:sp>
        <p:nvSpPr>
          <p:cNvPr id="255" name="">
            <a:extLst xmlns:a="http://schemas.openxmlformats.org/drawingml/2006/main">
              <a:ext uri="{FF2B5EF4-FFF2-40B4-BE49-F238E27FC236}">
                <a16:creationId xmlns:a16="http://schemas.microsoft.com/office/drawing/2014/main" id="{CACDB68E-FF09-4EB3-B3E6-C16C55BDA127}"/>
              </a:ext>
            </a:extLst>
          </p:cNvPr>
          <p:cNvSpPr>
            <a:spLocks xmlns:a="http://schemas.openxmlformats.org/drawingml/2006/main" noGrp="1"/>
          </p:cNvSpPr>
          <p:nvPr/>
        </p:nvSpPr>
        <p:spPr>
          <a:xfrm xmlns:a="http://schemas.openxmlformats.org/drawingml/2006/main" flipH="0" flipV="1">
            <a:off x="24031575" y="28727400"/>
            <a:ext cx="428625" cy="28575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F59E0B"/>
            </a:solidFill>
            <a:prstDash val="solid"/>
          </a:ln>
        </p:spPr>
      </p:sp>
      <p:sp>
        <p:nvSpPr>
          <p:cNvPr id="256" name="">
            <a:extLst xmlns:a="http://schemas.openxmlformats.org/drawingml/2006/main">
              <a:ext uri="{FF2B5EF4-FFF2-40B4-BE49-F238E27FC236}">
                <a16:creationId xmlns:a16="http://schemas.microsoft.com/office/drawing/2014/main" id="{F57A36B1-802B-4B99-AD9F-AB9375227571}"/>
              </a:ext>
            </a:extLst>
          </p:cNvPr>
          <p:cNvSpPr>
            <a:spLocks xmlns:a="http://schemas.openxmlformats.org/drawingml/2006/main" noGrp="1"/>
          </p:cNvSpPr>
          <p:nvPr/>
        </p:nvSpPr>
        <p:spPr>
          <a:xfrm xmlns:a="http://schemas.openxmlformats.org/drawingml/2006/main" flipH="0" flipV="1">
            <a:off x="24317325" y="28736925"/>
            <a:ext cx="428625" cy="20002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7C3AED"/>
            </a:solidFill>
            <a:prstDash val="solid"/>
          </a:ln>
        </p:spPr>
      </p:sp>
      <p:sp>
        <p:nvSpPr>
          <p:cNvPr id="257" name="">
            <a:extLst xmlns:a="http://schemas.openxmlformats.org/drawingml/2006/main">
              <a:ext uri="{FF2B5EF4-FFF2-40B4-BE49-F238E27FC236}">
                <a16:creationId xmlns:a16="http://schemas.microsoft.com/office/drawing/2014/main" id="{5B3024E6-25CD-4C18-ADD5-F545D7990D68}"/>
              </a:ext>
            </a:extLst>
          </p:cNvPr>
          <p:cNvSpPr>
            <a:spLocks xmlns:a="http://schemas.openxmlformats.org/drawingml/2006/main" noGrp="1"/>
          </p:cNvSpPr>
          <p:nvPr/>
        </p:nvSpPr>
        <p:spPr>
          <a:xfrm xmlns:a="http://schemas.openxmlformats.org/drawingml/2006/main" flipH="0" flipV="1">
            <a:off x="24603075" y="28746450"/>
            <a:ext cx="428625" cy="1143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DB2777"/>
            </a:solidFill>
            <a:prstDash val="solid"/>
          </a:ln>
        </p:spPr>
      </p:sp>
      <p:sp>
        <p:nvSpPr>
          <p:cNvPr id="258" name="">
            <a:extLst xmlns:a="http://schemas.openxmlformats.org/drawingml/2006/main">
              <a:ext uri="{FF2B5EF4-FFF2-40B4-BE49-F238E27FC236}">
                <a16:creationId xmlns:a16="http://schemas.microsoft.com/office/drawing/2014/main" id="{1B5FA1CD-94E2-418E-96ED-42D6443E87E5}"/>
              </a:ext>
            </a:extLst>
          </p:cNvPr>
          <p:cNvSpPr>
            <a:spLocks xmlns:a="http://schemas.openxmlformats.org/drawingml/2006/main" noGrp="1"/>
          </p:cNvSpPr>
          <p:nvPr/>
        </p:nvSpPr>
        <p:spPr>
          <a:xfrm xmlns:a="http://schemas.openxmlformats.org/drawingml/2006/main">
            <a:off x="23326725" y="28374975"/>
            <a:ext cx="1724025"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526174"/>
                </a:solidFill>
                <a:latin typeface="Aptos"/>
                <a:ea typeface="Aptos"/>
                <a:cs typeface="Aptos"/>
              </a:defRPr>
            </a:pPr>
            <a:r>
              <a:rPr sz="1275" b="1">
                <a:solidFill>
                  <a:srgbClr val="526174"/>
                </a:solidFill>
                <a:latin typeface="Aptos"/>
                <a:ea typeface="Aptos"/>
                <a:cs typeface="Aptos"/>
              </a:rPr>
              <a:t>mode 3</a:t>
            </a:r>
          </a:p>
        </p:txBody>
      </p:sp>
      <p:sp>
        <p:nvSpPr>
          <p:cNvPr id="259" name="">
            <a:extLst xmlns:a="http://schemas.openxmlformats.org/drawingml/2006/main">
              <a:ext uri="{FF2B5EF4-FFF2-40B4-BE49-F238E27FC236}">
                <a16:creationId xmlns:a16="http://schemas.microsoft.com/office/drawing/2014/main" id="{304CFED7-A795-4C64-9B4E-4703654D3057}"/>
              </a:ext>
            </a:extLst>
          </p:cNvPr>
          <p:cNvSpPr>
            <a:spLocks xmlns:a="http://schemas.openxmlformats.org/drawingml/2006/main" noGrp="1"/>
          </p:cNvSpPr>
          <p:nvPr/>
        </p:nvSpPr>
        <p:spPr>
          <a:xfrm xmlns:a="http://schemas.openxmlformats.org/drawingml/2006/main">
            <a:off x="19040475" y="29679900"/>
            <a:ext cx="1876425"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E6EBF1"/>
            </a:solidFill>
            <a:prstDash val="solid"/>
          </a:ln>
        </p:spPr>
      </p:sp>
      <p:sp>
        <p:nvSpPr>
          <p:cNvPr id="260" name="">
            <a:extLst xmlns:a="http://schemas.openxmlformats.org/drawingml/2006/main">
              <a:ext uri="{FF2B5EF4-FFF2-40B4-BE49-F238E27FC236}">
                <a16:creationId xmlns:a16="http://schemas.microsoft.com/office/drawing/2014/main" id="{B508D7CD-6017-4175-A4C0-372D4B5156E5}"/>
              </a:ext>
            </a:extLst>
          </p:cNvPr>
          <p:cNvSpPr>
            <a:spLocks xmlns:a="http://schemas.openxmlformats.org/drawingml/2006/main" noGrp="1"/>
          </p:cNvSpPr>
          <p:nvPr/>
        </p:nvSpPr>
        <p:spPr>
          <a:xfrm xmlns:a="http://schemas.openxmlformats.org/drawingml/2006/main" flipH="0" flipV="1">
            <a:off x="19250025" y="30079950"/>
            <a:ext cx="428625" cy="4572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2563EB"/>
            </a:solidFill>
            <a:prstDash val="solid"/>
          </a:ln>
        </p:spPr>
      </p:sp>
      <p:sp>
        <p:nvSpPr>
          <p:cNvPr id="261" name="">
            <a:extLst xmlns:a="http://schemas.openxmlformats.org/drawingml/2006/main">
              <a:ext uri="{FF2B5EF4-FFF2-40B4-BE49-F238E27FC236}">
                <a16:creationId xmlns:a16="http://schemas.microsoft.com/office/drawing/2014/main" id="{6C4756C8-A4E1-40FC-A125-8B68C91DCCC1}"/>
              </a:ext>
            </a:extLst>
          </p:cNvPr>
          <p:cNvSpPr>
            <a:spLocks xmlns:a="http://schemas.openxmlformats.org/drawingml/2006/main" noGrp="1"/>
          </p:cNvSpPr>
          <p:nvPr/>
        </p:nvSpPr>
        <p:spPr>
          <a:xfrm xmlns:a="http://schemas.openxmlformats.org/drawingml/2006/main" flipH="0" flipV="1">
            <a:off x="19535775" y="30089475"/>
            <a:ext cx="428625" cy="37147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0F9D8A"/>
            </a:solidFill>
            <a:prstDash val="solid"/>
          </a:ln>
        </p:spPr>
      </p:sp>
      <p:sp>
        <p:nvSpPr>
          <p:cNvPr id="262" name="">
            <a:extLst xmlns:a="http://schemas.openxmlformats.org/drawingml/2006/main">
              <a:ext uri="{FF2B5EF4-FFF2-40B4-BE49-F238E27FC236}">
                <a16:creationId xmlns:a16="http://schemas.microsoft.com/office/drawing/2014/main" id="{9F773C20-13FA-4CDB-A26A-0A069515CF69}"/>
              </a:ext>
            </a:extLst>
          </p:cNvPr>
          <p:cNvSpPr>
            <a:spLocks xmlns:a="http://schemas.openxmlformats.org/drawingml/2006/main" noGrp="1"/>
          </p:cNvSpPr>
          <p:nvPr/>
        </p:nvSpPr>
        <p:spPr>
          <a:xfrm xmlns:a="http://schemas.openxmlformats.org/drawingml/2006/main" flipH="0" flipV="1">
            <a:off x="19821525" y="30099000"/>
            <a:ext cx="428625" cy="28575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F59E0B"/>
            </a:solidFill>
            <a:prstDash val="solid"/>
          </a:ln>
        </p:spPr>
      </p:sp>
      <p:sp>
        <p:nvSpPr>
          <p:cNvPr id="263" name="">
            <a:extLst xmlns:a="http://schemas.openxmlformats.org/drawingml/2006/main">
              <a:ext uri="{FF2B5EF4-FFF2-40B4-BE49-F238E27FC236}">
                <a16:creationId xmlns:a16="http://schemas.microsoft.com/office/drawing/2014/main" id="{03A1C62D-E837-47B1-BF55-6F3D64C80BF8}"/>
              </a:ext>
            </a:extLst>
          </p:cNvPr>
          <p:cNvSpPr>
            <a:spLocks xmlns:a="http://schemas.openxmlformats.org/drawingml/2006/main" noGrp="1"/>
          </p:cNvSpPr>
          <p:nvPr/>
        </p:nvSpPr>
        <p:spPr>
          <a:xfrm xmlns:a="http://schemas.openxmlformats.org/drawingml/2006/main" flipH="0" flipV="1">
            <a:off x="20107275" y="30108525"/>
            <a:ext cx="428625" cy="20002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7C3AED"/>
            </a:solidFill>
            <a:prstDash val="solid"/>
          </a:ln>
        </p:spPr>
      </p:sp>
      <p:sp>
        <p:nvSpPr>
          <p:cNvPr id="264" name="">
            <a:extLst xmlns:a="http://schemas.openxmlformats.org/drawingml/2006/main">
              <a:ext uri="{FF2B5EF4-FFF2-40B4-BE49-F238E27FC236}">
                <a16:creationId xmlns:a16="http://schemas.microsoft.com/office/drawing/2014/main" id="{2DF2C6A9-F2F7-43A2-8093-A96CC7A6418E}"/>
              </a:ext>
            </a:extLst>
          </p:cNvPr>
          <p:cNvSpPr>
            <a:spLocks xmlns:a="http://schemas.openxmlformats.org/drawingml/2006/main" noGrp="1"/>
          </p:cNvSpPr>
          <p:nvPr/>
        </p:nvSpPr>
        <p:spPr>
          <a:xfrm xmlns:a="http://schemas.openxmlformats.org/drawingml/2006/main" flipH="0" flipV="1">
            <a:off x="20393025" y="30118050"/>
            <a:ext cx="428625" cy="1143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DB2777"/>
            </a:solidFill>
            <a:prstDash val="solid"/>
          </a:ln>
        </p:spPr>
      </p:sp>
      <p:sp>
        <p:nvSpPr>
          <p:cNvPr id="265" name="">
            <a:extLst xmlns:a="http://schemas.openxmlformats.org/drawingml/2006/main">
              <a:ext uri="{FF2B5EF4-FFF2-40B4-BE49-F238E27FC236}">
                <a16:creationId xmlns:a16="http://schemas.microsoft.com/office/drawing/2014/main" id="{BDEA4B62-44D9-4DED-872F-C999219584F9}"/>
              </a:ext>
            </a:extLst>
          </p:cNvPr>
          <p:cNvSpPr>
            <a:spLocks xmlns:a="http://schemas.openxmlformats.org/drawingml/2006/main" noGrp="1"/>
          </p:cNvSpPr>
          <p:nvPr/>
        </p:nvSpPr>
        <p:spPr>
          <a:xfrm xmlns:a="http://schemas.openxmlformats.org/drawingml/2006/main">
            <a:off x="19116675" y="29746575"/>
            <a:ext cx="1724025"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526174"/>
                </a:solidFill>
                <a:latin typeface="Aptos"/>
                <a:ea typeface="Aptos"/>
                <a:cs typeface="Aptos"/>
              </a:defRPr>
            </a:pPr>
            <a:r>
              <a:rPr sz="1275" b="1">
                <a:solidFill>
                  <a:srgbClr val="526174"/>
                </a:solidFill>
                <a:latin typeface="Aptos"/>
                <a:ea typeface="Aptos"/>
                <a:cs typeface="Aptos"/>
              </a:rPr>
              <a:t>mode 4</a:t>
            </a:r>
          </a:p>
        </p:txBody>
      </p:sp>
      <p:sp>
        <p:nvSpPr>
          <p:cNvPr id="266" name="">
            <a:extLst xmlns:a="http://schemas.openxmlformats.org/drawingml/2006/main">
              <a:ext uri="{FF2B5EF4-FFF2-40B4-BE49-F238E27FC236}">
                <a16:creationId xmlns:a16="http://schemas.microsoft.com/office/drawing/2014/main" id="{67BA09F1-E40F-4FB5-8C01-1C975D2475FE}"/>
              </a:ext>
            </a:extLst>
          </p:cNvPr>
          <p:cNvSpPr>
            <a:spLocks xmlns:a="http://schemas.openxmlformats.org/drawingml/2006/main" noGrp="1"/>
          </p:cNvSpPr>
          <p:nvPr/>
        </p:nvSpPr>
        <p:spPr>
          <a:xfrm xmlns:a="http://schemas.openxmlformats.org/drawingml/2006/main">
            <a:off x="21145500" y="29679900"/>
            <a:ext cx="1876425"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E6EBF1"/>
            </a:solidFill>
            <a:prstDash val="solid"/>
          </a:ln>
        </p:spPr>
      </p:sp>
      <p:sp>
        <p:nvSpPr>
          <p:cNvPr id="267" name="">
            <a:extLst xmlns:a="http://schemas.openxmlformats.org/drawingml/2006/main">
              <a:ext uri="{FF2B5EF4-FFF2-40B4-BE49-F238E27FC236}">
                <a16:creationId xmlns:a16="http://schemas.microsoft.com/office/drawing/2014/main" id="{2A192F19-26E6-40C9-899C-097D95932090}"/>
              </a:ext>
            </a:extLst>
          </p:cNvPr>
          <p:cNvSpPr>
            <a:spLocks xmlns:a="http://schemas.openxmlformats.org/drawingml/2006/main" noGrp="1"/>
          </p:cNvSpPr>
          <p:nvPr/>
        </p:nvSpPr>
        <p:spPr>
          <a:xfrm xmlns:a="http://schemas.openxmlformats.org/drawingml/2006/main" flipH="0" flipV="1">
            <a:off x="21355050" y="30079950"/>
            <a:ext cx="428625" cy="4572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2563EB"/>
            </a:solidFill>
            <a:prstDash val="solid"/>
          </a:ln>
        </p:spPr>
      </p:sp>
      <p:sp>
        <p:nvSpPr>
          <p:cNvPr id="268" name="">
            <a:extLst xmlns:a="http://schemas.openxmlformats.org/drawingml/2006/main">
              <a:ext uri="{FF2B5EF4-FFF2-40B4-BE49-F238E27FC236}">
                <a16:creationId xmlns:a16="http://schemas.microsoft.com/office/drawing/2014/main" id="{FD840407-EDEF-4FE6-8461-D549B24C139D}"/>
              </a:ext>
            </a:extLst>
          </p:cNvPr>
          <p:cNvSpPr>
            <a:spLocks xmlns:a="http://schemas.openxmlformats.org/drawingml/2006/main" noGrp="1"/>
          </p:cNvSpPr>
          <p:nvPr/>
        </p:nvSpPr>
        <p:spPr>
          <a:xfrm xmlns:a="http://schemas.openxmlformats.org/drawingml/2006/main" flipH="0" flipV="1">
            <a:off x="21640800" y="30089475"/>
            <a:ext cx="428625" cy="37147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0F9D8A"/>
            </a:solidFill>
            <a:prstDash val="solid"/>
          </a:ln>
        </p:spPr>
      </p:sp>
      <p:sp>
        <p:nvSpPr>
          <p:cNvPr id="269" name="">
            <a:extLst xmlns:a="http://schemas.openxmlformats.org/drawingml/2006/main">
              <a:ext uri="{FF2B5EF4-FFF2-40B4-BE49-F238E27FC236}">
                <a16:creationId xmlns:a16="http://schemas.microsoft.com/office/drawing/2014/main" id="{A24622E3-5326-4C5B-8BC2-4B02538DCA85}"/>
              </a:ext>
            </a:extLst>
          </p:cNvPr>
          <p:cNvSpPr>
            <a:spLocks xmlns:a="http://schemas.openxmlformats.org/drawingml/2006/main" noGrp="1"/>
          </p:cNvSpPr>
          <p:nvPr/>
        </p:nvSpPr>
        <p:spPr>
          <a:xfrm xmlns:a="http://schemas.openxmlformats.org/drawingml/2006/main" flipH="0" flipV="1">
            <a:off x="21926550" y="30099000"/>
            <a:ext cx="428625" cy="28575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F59E0B"/>
            </a:solidFill>
            <a:prstDash val="solid"/>
          </a:ln>
        </p:spPr>
      </p:sp>
      <p:sp>
        <p:nvSpPr>
          <p:cNvPr id="270" name="">
            <a:extLst xmlns:a="http://schemas.openxmlformats.org/drawingml/2006/main">
              <a:ext uri="{FF2B5EF4-FFF2-40B4-BE49-F238E27FC236}">
                <a16:creationId xmlns:a16="http://schemas.microsoft.com/office/drawing/2014/main" id="{3FC80C11-1E7A-4795-91DA-92523796C483}"/>
              </a:ext>
            </a:extLst>
          </p:cNvPr>
          <p:cNvSpPr>
            <a:spLocks xmlns:a="http://schemas.openxmlformats.org/drawingml/2006/main" noGrp="1"/>
          </p:cNvSpPr>
          <p:nvPr/>
        </p:nvSpPr>
        <p:spPr>
          <a:xfrm xmlns:a="http://schemas.openxmlformats.org/drawingml/2006/main" flipH="0" flipV="1">
            <a:off x="22212300" y="30108525"/>
            <a:ext cx="428625" cy="20002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7C3AED"/>
            </a:solidFill>
            <a:prstDash val="solid"/>
          </a:ln>
        </p:spPr>
      </p:sp>
      <p:sp>
        <p:nvSpPr>
          <p:cNvPr id="271" name="">
            <a:extLst xmlns:a="http://schemas.openxmlformats.org/drawingml/2006/main">
              <a:ext uri="{FF2B5EF4-FFF2-40B4-BE49-F238E27FC236}">
                <a16:creationId xmlns:a16="http://schemas.microsoft.com/office/drawing/2014/main" id="{D47DFDFA-A110-473A-BEE3-74782A2731B9}"/>
              </a:ext>
            </a:extLst>
          </p:cNvPr>
          <p:cNvSpPr>
            <a:spLocks xmlns:a="http://schemas.openxmlformats.org/drawingml/2006/main" noGrp="1"/>
          </p:cNvSpPr>
          <p:nvPr/>
        </p:nvSpPr>
        <p:spPr>
          <a:xfrm xmlns:a="http://schemas.openxmlformats.org/drawingml/2006/main" flipH="0" flipV="1">
            <a:off x="22498050" y="30118050"/>
            <a:ext cx="428625" cy="1143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DB2777"/>
            </a:solidFill>
            <a:prstDash val="solid"/>
          </a:ln>
        </p:spPr>
      </p:sp>
      <p:sp>
        <p:nvSpPr>
          <p:cNvPr id="272" name="">
            <a:extLst xmlns:a="http://schemas.openxmlformats.org/drawingml/2006/main">
              <a:ext uri="{FF2B5EF4-FFF2-40B4-BE49-F238E27FC236}">
                <a16:creationId xmlns:a16="http://schemas.microsoft.com/office/drawing/2014/main" id="{9783770F-7981-4862-84ED-23B865CCDBD9}"/>
              </a:ext>
            </a:extLst>
          </p:cNvPr>
          <p:cNvSpPr>
            <a:spLocks xmlns:a="http://schemas.openxmlformats.org/drawingml/2006/main" noGrp="1"/>
          </p:cNvSpPr>
          <p:nvPr/>
        </p:nvSpPr>
        <p:spPr>
          <a:xfrm xmlns:a="http://schemas.openxmlformats.org/drawingml/2006/main">
            <a:off x="21221700" y="29746575"/>
            <a:ext cx="1724025"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526174"/>
                </a:solidFill>
                <a:latin typeface="Aptos"/>
                <a:ea typeface="Aptos"/>
                <a:cs typeface="Aptos"/>
              </a:defRPr>
            </a:pPr>
            <a:r>
              <a:rPr sz="1275" b="1">
                <a:solidFill>
                  <a:srgbClr val="526174"/>
                </a:solidFill>
                <a:latin typeface="Aptos"/>
                <a:ea typeface="Aptos"/>
                <a:cs typeface="Aptos"/>
              </a:rPr>
              <a:t>mode 5</a:t>
            </a:r>
          </a:p>
        </p:txBody>
      </p:sp>
      <p:sp>
        <p:nvSpPr>
          <p:cNvPr id="273" name="">
            <a:extLst xmlns:a="http://schemas.openxmlformats.org/drawingml/2006/main">
              <a:ext uri="{FF2B5EF4-FFF2-40B4-BE49-F238E27FC236}">
                <a16:creationId xmlns:a16="http://schemas.microsoft.com/office/drawing/2014/main" id="{7413C0E8-E5F3-4A17-96C2-7B9D7A275575}"/>
              </a:ext>
            </a:extLst>
          </p:cNvPr>
          <p:cNvSpPr>
            <a:spLocks xmlns:a="http://schemas.openxmlformats.org/drawingml/2006/main" noGrp="1"/>
          </p:cNvSpPr>
          <p:nvPr/>
        </p:nvSpPr>
        <p:spPr>
          <a:xfrm xmlns:a="http://schemas.openxmlformats.org/drawingml/2006/main">
            <a:off x="23250525" y="29679900"/>
            <a:ext cx="1876425"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E6EBF1"/>
            </a:solidFill>
            <a:prstDash val="solid"/>
          </a:ln>
        </p:spPr>
      </p:sp>
      <p:sp>
        <p:nvSpPr>
          <p:cNvPr id="274" name="">
            <a:extLst xmlns:a="http://schemas.openxmlformats.org/drawingml/2006/main">
              <a:ext uri="{FF2B5EF4-FFF2-40B4-BE49-F238E27FC236}">
                <a16:creationId xmlns:a16="http://schemas.microsoft.com/office/drawing/2014/main" id="{A4820A3B-C04F-40F3-9C22-96C7CA7092EC}"/>
              </a:ext>
            </a:extLst>
          </p:cNvPr>
          <p:cNvSpPr>
            <a:spLocks xmlns:a="http://schemas.openxmlformats.org/drawingml/2006/main" noGrp="1"/>
          </p:cNvSpPr>
          <p:nvPr/>
        </p:nvSpPr>
        <p:spPr>
          <a:xfrm xmlns:a="http://schemas.openxmlformats.org/drawingml/2006/main" flipH="0" flipV="1">
            <a:off x="23460075" y="30079950"/>
            <a:ext cx="428625" cy="4572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2563EB"/>
            </a:solidFill>
            <a:prstDash val="solid"/>
          </a:ln>
        </p:spPr>
      </p:sp>
      <p:sp>
        <p:nvSpPr>
          <p:cNvPr id="275" name="">
            <a:extLst xmlns:a="http://schemas.openxmlformats.org/drawingml/2006/main">
              <a:ext uri="{FF2B5EF4-FFF2-40B4-BE49-F238E27FC236}">
                <a16:creationId xmlns:a16="http://schemas.microsoft.com/office/drawing/2014/main" id="{9C56BED2-EDDF-49A8-B661-873BFDE273DB}"/>
              </a:ext>
            </a:extLst>
          </p:cNvPr>
          <p:cNvSpPr>
            <a:spLocks xmlns:a="http://schemas.openxmlformats.org/drawingml/2006/main" noGrp="1"/>
          </p:cNvSpPr>
          <p:nvPr/>
        </p:nvSpPr>
        <p:spPr>
          <a:xfrm xmlns:a="http://schemas.openxmlformats.org/drawingml/2006/main" flipH="0" flipV="1">
            <a:off x="23745825" y="30089475"/>
            <a:ext cx="428625" cy="37147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0F9D8A"/>
            </a:solidFill>
            <a:prstDash val="solid"/>
          </a:ln>
        </p:spPr>
      </p:sp>
      <p:sp>
        <p:nvSpPr>
          <p:cNvPr id="276" name="">
            <a:extLst xmlns:a="http://schemas.openxmlformats.org/drawingml/2006/main">
              <a:ext uri="{FF2B5EF4-FFF2-40B4-BE49-F238E27FC236}">
                <a16:creationId xmlns:a16="http://schemas.microsoft.com/office/drawing/2014/main" id="{41A9516F-DAE7-49C6-83EC-1D1C876A0D6A}"/>
              </a:ext>
            </a:extLst>
          </p:cNvPr>
          <p:cNvSpPr>
            <a:spLocks xmlns:a="http://schemas.openxmlformats.org/drawingml/2006/main" noGrp="1"/>
          </p:cNvSpPr>
          <p:nvPr/>
        </p:nvSpPr>
        <p:spPr>
          <a:xfrm xmlns:a="http://schemas.openxmlformats.org/drawingml/2006/main" flipH="0" flipV="1">
            <a:off x="24031575" y="30099000"/>
            <a:ext cx="428625" cy="28575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F59E0B"/>
            </a:solidFill>
            <a:prstDash val="solid"/>
          </a:ln>
        </p:spPr>
      </p:sp>
      <p:sp>
        <p:nvSpPr>
          <p:cNvPr id="277" name="">
            <a:extLst xmlns:a="http://schemas.openxmlformats.org/drawingml/2006/main">
              <a:ext uri="{FF2B5EF4-FFF2-40B4-BE49-F238E27FC236}">
                <a16:creationId xmlns:a16="http://schemas.microsoft.com/office/drawing/2014/main" id="{F0B02E21-8F05-4456-BE38-9D01E2D7E72B}"/>
              </a:ext>
            </a:extLst>
          </p:cNvPr>
          <p:cNvSpPr>
            <a:spLocks xmlns:a="http://schemas.openxmlformats.org/drawingml/2006/main" noGrp="1"/>
          </p:cNvSpPr>
          <p:nvPr/>
        </p:nvSpPr>
        <p:spPr>
          <a:xfrm xmlns:a="http://schemas.openxmlformats.org/drawingml/2006/main" flipH="0" flipV="1">
            <a:off x="24317325" y="30108525"/>
            <a:ext cx="428625" cy="200025"/>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7C3AED"/>
            </a:solidFill>
            <a:prstDash val="solid"/>
          </a:ln>
        </p:spPr>
      </p:sp>
      <p:sp>
        <p:nvSpPr>
          <p:cNvPr id="278" name="">
            <a:extLst xmlns:a="http://schemas.openxmlformats.org/drawingml/2006/main">
              <a:ext uri="{FF2B5EF4-FFF2-40B4-BE49-F238E27FC236}">
                <a16:creationId xmlns:a16="http://schemas.microsoft.com/office/drawing/2014/main" id="{EF186386-61D9-44BF-839F-FC0B5243476D}"/>
              </a:ext>
            </a:extLst>
          </p:cNvPr>
          <p:cNvSpPr>
            <a:spLocks xmlns:a="http://schemas.openxmlformats.org/drawingml/2006/main" noGrp="1"/>
          </p:cNvSpPr>
          <p:nvPr/>
        </p:nvSpPr>
        <p:spPr>
          <a:xfrm xmlns:a="http://schemas.openxmlformats.org/drawingml/2006/main" flipH="0" flipV="1">
            <a:off x="24603075" y="30118050"/>
            <a:ext cx="428625" cy="11430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DB2777"/>
            </a:solidFill>
            <a:prstDash val="solid"/>
          </a:ln>
        </p:spPr>
      </p:sp>
      <p:sp>
        <p:nvSpPr>
          <p:cNvPr id="279" name="">
            <a:extLst xmlns:a="http://schemas.openxmlformats.org/drawingml/2006/main">
              <a:ext uri="{FF2B5EF4-FFF2-40B4-BE49-F238E27FC236}">
                <a16:creationId xmlns:a16="http://schemas.microsoft.com/office/drawing/2014/main" id="{47C1ECFB-747A-4726-B298-7DABAFC286F8}"/>
              </a:ext>
            </a:extLst>
          </p:cNvPr>
          <p:cNvSpPr>
            <a:spLocks xmlns:a="http://schemas.openxmlformats.org/drawingml/2006/main" noGrp="1"/>
          </p:cNvSpPr>
          <p:nvPr/>
        </p:nvSpPr>
        <p:spPr>
          <a:xfrm xmlns:a="http://schemas.openxmlformats.org/drawingml/2006/main">
            <a:off x="23326725" y="29746575"/>
            <a:ext cx="1724025"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526174"/>
                </a:solidFill>
                <a:latin typeface="Aptos"/>
                <a:ea typeface="Aptos"/>
                <a:cs typeface="Aptos"/>
              </a:defRPr>
            </a:pPr>
            <a:r>
              <a:rPr sz="1275" b="1">
                <a:solidFill>
                  <a:srgbClr val="526174"/>
                </a:solidFill>
                <a:latin typeface="Aptos"/>
                <a:ea typeface="Aptos"/>
                <a:cs typeface="Aptos"/>
              </a:rPr>
              <a:t>mode 6</a:t>
            </a:r>
          </a:p>
        </p:txBody>
      </p:sp>
      <p:sp>
        <p:nvSpPr>
          <p:cNvPr id="280" name="">
            <a:extLst xmlns:a="http://schemas.openxmlformats.org/drawingml/2006/main">
              <a:ext uri="{FF2B5EF4-FFF2-40B4-BE49-F238E27FC236}">
                <a16:creationId xmlns:a16="http://schemas.microsoft.com/office/drawing/2014/main" id="{6842A526-5F12-4CBC-B376-259A9E3F877A}"/>
              </a:ext>
            </a:extLst>
          </p:cNvPr>
          <p:cNvSpPr>
            <a:spLocks xmlns:a="http://schemas.openxmlformats.org/drawingml/2006/main" noGrp="1"/>
          </p:cNvSpPr>
          <p:nvPr/>
        </p:nvSpPr>
        <p:spPr>
          <a:xfrm xmlns:a="http://schemas.openxmlformats.org/drawingml/2006/main">
            <a:off x="552450" y="32813625"/>
            <a:ext cx="26327100" cy="3105150"/>
          </a:xfrm>
          <a:prstGeom xmlns:a="http://schemas.openxmlformats.org/drawingml/2006/main" prst="roundRect">
            <a:avLst>
              <a:gd name="adj" fmla="val 7362"/>
            </a:avLst>
          </a:prstGeom>
          <a:solidFill xmlns:a="http://schemas.openxmlformats.org/drawingml/2006/main">
            <a:srgbClr val="172033"/>
          </a:solidFill>
          <a:ln xmlns:a="http://schemas.openxmlformats.org/drawingml/2006/main" w="0">
            <a:solidFill>
              <a:srgbClr val="172033"/>
            </a:solidFill>
            <a:prstDash val="solid"/>
          </a:ln>
        </p:spPr>
      </p:sp>
      <p:sp>
        <p:nvSpPr>
          <p:cNvPr id="281" name="">
            <a:extLst xmlns:a="http://schemas.openxmlformats.org/drawingml/2006/main">
              <a:ext uri="{FF2B5EF4-FFF2-40B4-BE49-F238E27FC236}">
                <a16:creationId xmlns:a16="http://schemas.microsoft.com/office/drawing/2014/main" id="{A8F63E7D-281C-4C9F-84D4-9884498343E1}"/>
              </a:ext>
            </a:extLst>
          </p:cNvPr>
          <p:cNvSpPr>
            <a:spLocks xmlns:a="http://schemas.openxmlformats.org/drawingml/2006/main" noGrp="1"/>
          </p:cNvSpPr>
          <p:nvPr/>
        </p:nvSpPr>
        <p:spPr>
          <a:xfrm xmlns:a="http://schemas.openxmlformats.org/drawingml/2006/main">
            <a:off x="866775" y="33099375"/>
            <a:ext cx="3905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225" b="1">
                <a:solidFill>
                  <a:srgbClr val="FFFFFF"/>
                </a:solidFill>
                <a:latin typeface="Aptos Display"/>
                <a:ea typeface="Aptos Display"/>
                <a:cs typeface="Aptos Display"/>
              </a:defRPr>
            </a:pPr>
            <a:r>
              <a:rPr sz="3225" b="1">
                <a:solidFill>
                  <a:srgbClr val="FFFFFF"/>
                </a:solidFill>
                <a:latin typeface="Aptos Display"/>
                <a:ea typeface="Aptos Display"/>
                <a:cs typeface="Aptos Display"/>
              </a:rPr>
              <a:t>TAKEAWAY</a:t>
            </a:r>
          </a:p>
        </p:txBody>
      </p:sp>
      <p:sp>
        <p:nvSpPr>
          <p:cNvPr id="282" name="">
            <a:extLst xmlns:a="http://schemas.openxmlformats.org/drawingml/2006/main">
              <a:ext uri="{FF2B5EF4-FFF2-40B4-BE49-F238E27FC236}">
                <a16:creationId xmlns:a16="http://schemas.microsoft.com/office/drawing/2014/main" id="{4B7CD470-41C6-462E-A215-7ED6F6D6DCB4}"/>
              </a:ext>
            </a:extLst>
          </p:cNvPr>
          <p:cNvSpPr>
            <a:spLocks xmlns:a="http://schemas.openxmlformats.org/drawingml/2006/main" noGrp="1"/>
          </p:cNvSpPr>
          <p:nvPr/>
        </p:nvSpPr>
        <p:spPr>
          <a:xfrm xmlns:a="http://schemas.openxmlformats.org/drawingml/2006/main">
            <a:off x="857250" y="33861375"/>
            <a:ext cx="514350" cy="514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83" name="">
            <a:extLst xmlns:a="http://schemas.openxmlformats.org/drawingml/2006/main">
              <a:ext uri="{FF2B5EF4-FFF2-40B4-BE49-F238E27FC236}">
                <a16:creationId xmlns:a16="http://schemas.microsoft.com/office/drawing/2014/main" id="{2C46F395-44BD-43F2-990A-1C7059EB49F3}"/>
              </a:ext>
            </a:extLst>
          </p:cNvPr>
          <p:cNvSpPr>
            <a:spLocks xmlns:a="http://schemas.openxmlformats.org/drawingml/2006/main" noGrp="1"/>
          </p:cNvSpPr>
          <p:nvPr/>
        </p:nvSpPr>
        <p:spPr>
          <a:xfrm xmlns:a="http://schemas.openxmlformats.org/drawingml/2006/main">
            <a:off x="857250" y="33851850"/>
            <a:ext cx="5143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025" b="1">
                <a:solidFill>
                  <a:srgbClr val="FFFFFF"/>
                </a:solidFill>
                <a:latin typeface="Aptos"/>
                <a:ea typeface="Aptos"/>
                <a:cs typeface="Aptos"/>
              </a:defRPr>
            </a:pPr>
            <a:r>
              <a:rPr sz="2025" b="1">
                <a:solidFill>
                  <a:srgbClr val="FFFFFF"/>
                </a:solidFill>
                <a:latin typeface="Aptos"/>
                <a:ea typeface="Aptos"/>
                <a:cs typeface="Aptos"/>
              </a:rPr>
              <a:t>1</a:t>
            </a:r>
          </a:p>
        </p:txBody>
      </p:sp>
      <p:sp>
        <p:nvSpPr>
          <p:cNvPr id="284" name="">
            <a:extLst xmlns:a="http://schemas.openxmlformats.org/drawingml/2006/main">
              <a:ext uri="{FF2B5EF4-FFF2-40B4-BE49-F238E27FC236}">
                <a16:creationId xmlns:a16="http://schemas.microsoft.com/office/drawing/2014/main" id="{21EBD93D-F5B7-4088-96BF-830048DE8A80}"/>
              </a:ext>
            </a:extLst>
          </p:cNvPr>
          <p:cNvSpPr>
            <a:spLocks xmlns:a="http://schemas.openxmlformats.org/drawingml/2006/main" noGrp="1"/>
          </p:cNvSpPr>
          <p:nvPr/>
        </p:nvSpPr>
        <p:spPr>
          <a:xfrm xmlns:a="http://schemas.openxmlformats.org/drawingml/2006/main">
            <a:off x="1524000" y="33804225"/>
            <a:ext cx="704850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325" b="1">
                <a:solidFill>
                  <a:srgbClr val="FFFFFF"/>
                </a:solidFill>
                <a:latin typeface="Aptos"/>
                <a:ea typeface="Aptos"/>
                <a:cs typeface="Aptos"/>
              </a:defRPr>
            </a:pPr>
            <a:r>
              <a:rPr sz="2325" b="1">
                <a:solidFill>
                  <a:srgbClr val="FFFFFF"/>
                </a:solidFill>
                <a:latin typeface="Aptos"/>
                <a:ea typeface="Aptos"/>
                <a:cs typeface="Aptos"/>
              </a:rPr>
              <a:t>One geometry</a:t>
            </a:r>
          </a:p>
        </p:txBody>
      </p:sp>
      <p:sp>
        <p:nvSpPr>
          <p:cNvPr id="285" name="">
            <a:extLst xmlns:a="http://schemas.openxmlformats.org/drawingml/2006/main">
              <a:ext uri="{FF2B5EF4-FFF2-40B4-BE49-F238E27FC236}">
                <a16:creationId xmlns:a16="http://schemas.microsoft.com/office/drawing/2014/main" id="{2BCDF2CA-BE43-4078-9F18-203942301FF4}"/>
              </a:ext>
            </a:extLst>
          </p:cNvPr>
          <p:cNvSpPr>
            <a:spLocks xmlns:a="http://schemas.openxmlformats.org/drawingml/2006/main" noGrp="1"/>
          </p:cNvSpPr>
          <p:nvPr/>
        </p:nvSpPr>
        <p:spPr>
          <a:xfrm xmlns:a="http://schemas.openxmlformats.org/drawingml/2006/main">
            <a:off x="1524000" y="34318575"/>
            <a:ext cx="7096125"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3000"/>
              </a:lnSpc>
              <a:buNone/>
              <a:defRPr sz="1875" b="0">
                <a:solidFill>
                  <a:srgbClr val="DCE4EF"/>
                </a:solidFill>
                <a:latin typeface="Aptos"/>
                <a:ea typeface="Aptos"/>
                <a:cs typeface="Aptos"/>
              </a:defRPr>
            </a:pPr>
            <a:r>
              <a:rPr sz="1875" b="0">
                <a:solidFill>
                  <a:srgbClr val="DCE4EF"/>
                </a:solidFill>
                <a:latin typeface="Aptos"/>
                <a:ea typeface="Aptos"/>
                <a:cs typeface="Aptos"/>
              </a:rPr>
              <a:t>Joint COLMAP + static 3DGS puts every view in one 3D frame.</a:t>
            </a:r>
          </a:p>
        </p:txBody>
      </p:sp>
      <p:sp>
        <p:nvSpPr>
          <p:cNvPr id="286" name="">
            <a:extLst xmlns:a="http://schemas.openxmlformats.org/drawingml/2006/main">
              <a:ext uri="{FF2B5EF4-FFF2-40B4-BE49-F238E27FC236}">
                <a16:creationId xmlns:a16="http://schemas.microsoft.com/office/drawing/2014/main" id="{D793F442-3340-40DE-BEE6-A0090C61BFA0}"/>
              </a:ext>
            </a:extLst>
          </p:cNvPr>
          <p:cNvSpPr>
            <a:spLocks xmlns:a="http://schemas.openxmlformats.org/drawingml/2006/main" noGrp="1"/>
          </p:cNvSpPr>
          <p:nvPr/>
        </p:nvSpPr>
        <p:spPr>
          <a:xfrm xmlns:a="http://schemas.openxmlformats.org/drawingml/2006/main" flipH="0" flipV="0">
            <a:off x="9201150" y="33699450"/>
            <a:ext cx="0" cy="1504950"/>
          </a:xfrm>
          <a:prstGeom xmlns:a="http://schemas.openxmlformats.org/drawingml/2006/main" prst="line">
            <a:avLst/>
          </a:prstGeom>
          <a:solidFill xmlns:a="http://schemas.openxmlformats.org/drawingml/2006/main">
            <a:srgbClr val="000000">
              <a:alpha val="0"/>
            </a:srgbClr>
          </a:solidFill>
          <a:ln xmlns:a="http://schemas.openxmlformats.org/drawingml/2006/main" w="19050">
            <a:solidFill>
              <a:srgbClr val="546175"/>
            </a:solidFill>
            <a:prstDash val="solid"/>
          </a:ln>
        </p:spPr>
      </p:sp>
      <p:sp>
        <p:nvSpPr>
          <p:cNvPr id="287" name="">
            <a:extLst xmlns:a="http://schemas.openxmlformats.org/drawingml/2006/main">
              <a:ext uri="{FF2B5EF4-FFF2-40B4-BE49-F238E27FC236}">
                <a16:creationId xmlns:a16="http://schemas.microsoft.com/office/drawing/2014/main" id="{A38EBB2D-EE88-4FC7-9518-5B82355A97FF}"/>
              </a:ext>
            </a:extLst>
          </p:cNvPr>
          <p:cNvSpPr>
            <a:spLocks xmlns:a="http://schemas.openxmlformats.org/drawingml/2006/main" noGrp="1"/>
          </p:cNvSpPr>
          <p:nvPr/>
        </p:nvSpPr>
        <p:spPr>
          <a:xfrm xmlns:a="http://schemas.openxmlformats.org/drawingml/2006/main">
            <a:off x="9448800" y="33861375"/>
            <a:ext cx="514350" cy="514350"/>
          </a:xfrm>
          <a:prstGeom xmlns:a="http://schemas.openxmlformats.org/drawingml/2006/main" prst="ellipse">
            <a:avLst/>
          </a:prstGeom>
          <a:solidFill xmlns:a="http://schemas.openxmlformats.org/drawingml/2006/main">
            <a:srgbClr val="F59E0B"/>
          </a:solidFill>
          <a:ln xmlns:a="http://schemas.openxmlformats.org/drawingml/2006/main" w="9525">
            <a:solidFill>
              <a:srgbClr val="FFFFFF"/>
            </a:solidFill>
            <a:prstDash val="solid"/>
          </a:ln>
        </p:spPr>
      </p:sp>
      <p:sp>
        <p:nvSpPr>
          <p:cNvPr id="288" name="">
            <a:extLst xmlns:a="http://schemas.openxmlformats.org/drawingml/2006/main">
              <a:ext uri="{FF2B5EF4-FFF2-40B4-BE49-F238E27FC236}">
                <a16:creationId xmlns:a16="http://schemas.microsoft.com/office/drawing/2014/main" id="{9DFBC0CF-160E-4284-991E-2DA0EC03C044}"/>
              </a:ext>
            </a:extLst>
          </p:cNvPr>
          <p:cNvSpPr>
            <a:spLocks xmlns:a="http://schemas.openxmlformats.org/drawingml/2006/main" noGrp="1"/>
          </p:cNvSpPr>
          <p:nvPr/>
        </p:nvSpPr>
        <p:spPr>
          <a:xfrm xmlns:a="http://schemas.openxmlformats.org/drawingml/2006/main">
            <a:off x="9448800" y="33851850"/>
            <a:ext cx="5143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025" b="1">
                <a:solidFill>
                  <a:srgbClr val="FFFFFF"/>
                </a:solidFill>
                <a:latin typeface="Aptos"/>
                <a:ea typeface="Aptos"/>
                <a:cs typeface="Aptos"/>
              </a:defRPr>
            </a:pPr>
            <a:r>
              <a:rPr sz="2025" b="1">
                <a:solidFill>
                  <a:srgbClr val="FFFFFF"/>
                </a:solidFill>
                <a:latin typeface="Aptos"/>
                <a:ea typeface="Aptos"/>
                <a:cs typeface="Aptos"/>
              </a:rPr>
              <a:t>2</a:t>
            </a:r>
          </a:p>
        </p:txBody>
      </p:sp>
      <p:sp>
        <p:nvSpPr>
          <p:cNvPr id="289" name="">
            <a:extLst xmlns:a="http://schemas.openxmlformats.org/drawingml/2006/main">
              <a:ext uri="{FF2B5EF4-FFF2-40B4-BE49-F238E27FC236}">
                <a16:creationId xmlns:a16="http://schemas.microsoft.com/office/drawing/2014/main" id="{BB552AED-BFAE-4535-8942-EB9756D1C621}"/>
              </a:ext>
            </a:extLst>
          </p:cNvPr>
          <p:cNvSpPr>
            <a:spLocks xmlns:a="http://schemas.openxmlformats.org/drawingml/2006/main" noGrp="1"/>
          </p:cNvSpPr>
          <p:nvPr/>
        </p:nvSpPr>
        <p:spPr>
          <a:xfrm xmlns:a="http://schemas.openxmlformats.org/drawingml/2006/main">
            <a:off x="10115550" y="33804225"/>
            <a:ext cx="704850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325" b="1">
                <a:solidFill>
                  <a:srgbClr val="FFFFFF"/>
                </a:solidFill>
                <a:latin typeface="Aptos"/>
                <a:ea typeface="Aptos"/>
                <a:cs typeface="Aptos"/>
              </a:defRPr>
            </a:pPr>
            <a:r>
              <a:rPr sz="2325" b="1">
                <a:solidFill>
                  <a:srgbClr val="FFFFFF"/>
                </a:solidFill>
                <a:latin typeface="Aptos"/>
                <a:ea typeface="Aptos"/>
                <a:cs typeface="Aptos"/>
              </a:rPr>
              <a:t>One evidence space</a:t>
            </a:r>
          </a:p>
        </p:txBody>
      </p:sp>
      <p:sp>
        <p:nvSpPr>
          <p:cNvPr id="290" name="">
            <a:extLst xmlns:a="http://schemas.openxmlformats.org/drawingml/2006/main">
              <a:ext uri="{FF2B5EF4-FFF2-40B4-BE49-F238E27FC236}">
                <a16:creationId xmlns:a16="http://schemas.microsoft.com/office/drawing/2014/main" id="{78145AF4-99A7-4DF2-A261-114E51816361}"/>
              </a:ext>
            </a:extLst>
          </p:cNvPr>
          <p:cNvSpPr>
            <a:spLocks xmlns:a="http://schemas.openxmlformats.org/drawingml/2006/main" noGrp="1"/>
          </p:cNvSpPr>
          <p:nvPr/>
        </p:nvSpPr>
        <p:spPr>
          <a:xfrm xmlns:a="http://schemas.openxmlformats.org/drawingml/2006/main">
            <a:off x="10115550" y="34318575"/>
            <a:ext cx="7096125"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3000"/>
              </a:lnSpc>
              <a:buNone/>
              <a:defRPr sz="1875" b="0">
                <a:solidFill>
                  <a:srgbClr val="DCE4EF"/>
                </a:solidFill>
                <a:latin typeface="Aptos"/>
                <a:ea typeface="Aptos"/>
                <a:cs typeface="Aptos"/>
              </a:defRPr>
            </a:pPr>
            <a:r>
              <a:rPr sz="1875" b="0">
                <a:solidFill>
                  <a:srgbClr val="DCE4EF"/>
                </a:solidFill>
                <a:latin typeface="Aptos"/>
                <a:ea typeface="Aptos"/>
                <a:cs typeface="Aptos"/>
              </a:rPr>
              <a:t>Complex optical-flow spectra preserve amplitude and relative phase.</a:t>
            </a:r>
          </a:p>
        </p:txBody>
      </p:sp>
      <p:sp>
        <p:nvSpPr>
          <p:cNvPr id="291" name="">
            <a:extLst xmlns:a="http://schemas.openxmlformats.org/drawingml/2006/main">
              <a:ext uri="{FF2B5EF4-FFF2-40B4-BE49-F238E27FC236}">
                <a16:creationId xmlns:a16="http://schemas.microsoft.com/office/drawing/2014/main" id="{5E861CA6-9B12-4F95-B153-3858958989E9}"/>
              </a:ext>
            </a:extLst>
          </p:cNvPr>
          <p:cNvSpPr>
            <a:spLocks xmlns:a="http://schemas.openxmlformats.org/drawingml/2006/main" noGrp="1"/>
          </p:cNvSpPr>
          <p:nvPr/>
        </p:nvSpPr>
        <p:spPr>
          <a:xfrm xmlns:a="http://schemas.openxmlformats.org/drawingml/2006/main" flipH="0" flipV="0">
            <a:off x="17792700" y="33699450"/>
            <a:ext cx="0" cy="1504950"/>
          </a:xfrm>
          <a:prstGeom xmlns:a="http://schemas.openxmlformats.org/drawingml/2006/main" prst="line">
            <a:avLst/>
          </a:prstGeom>
          <a:solidFill xmlns:a="http://schemas.openxmlformats.org/drawingml/2006/main">
            <a:srgbClr val="000000">
              <a:alpha val="0"/>
            </a:srgbClr>
          </a:solidFill>
          <a:ln xmlns:a="http://schemas.openxmlformats.org/drawingml/2006/main" w="19050">
            <a:solidFill>
              <a:srgbClr val="546175"/>
            </a:solidFill>
            <a:prstDash val="solid"/>
          </a:ln>
        </p:spPr>
      </p:sp>
      <p:sp>
        <p:nvSpPr>
          <p:cNvPr id="292" name="">
            <a:extLst xmlns:a="http://schemas.openxmlformats.org/drawingml/2006/main">
              <a:ext uri="{FF2B5EF4-FFF2-40B4-BE49-F238E27FC236}">
                <a16:creationId xmlns:a16="http://schemas.microsoft.com/office/drawing/2014/main" id="{EB99A8F9-A289-4699-B38A-B9E0F5EB00C4}"/>
              </a:ext>
            </a:extLst>
          </p:cNvPr>
          <p:cNvSpPr>
            <a:spLocks xmlns:a="http://schemas.openxmlformats.org/drawingml/2006/main" noGrp="1"/>
          </p:cNvSpPr>
          <p:nvPr/>
        </p:nvSpPr>
        <p:spPr>
          <a:xfrm xmlns:a="http://schemas.openxmlformats.org/drawingml/2006/main">
            <a:off x="18040350" y="33861375"/>
            <a:ext cx="514350" cy="514350"/>
          </a:xfrm>
          <a:prstGeom xmlns:a="http://schemas.openxmlformats.org/drawingml/2006/main" prst="ellipse">
            <a:avLst/>
          </a:prstGeom>
          <a:solidFill xmlns:a="http://schemas.openxmlformats.org/drawingml/2006/main">
            <a:srgbClr val="7C3AED"/>
          </a:solidFill>
          <a:ln xmlns:a="http://schemas.openxmlformats.org/drawingml/2006/main" w="9525">
            <a:solidFill>
              <a:srgbClr val="FFFFFF"/>
            </a:solidFill>
            <a:prstDash val="solid"/>
          </a:ln>
        </p:spPr>
      </p:sp>
      <p:sp>
        <p:nvSpPr>
          <p:cNvPr id="293" name="">
            <a:extLst xmlns:a="http://schemas.openxmlformats.org/drawingml/2006/main">
              <a:ext uri="{FF2B5EF4-FFF2-40B4-BE49-F238E27FC236}">
                <a16:creationId xmlns:a16="http://schemas.microsoft.com/office/drawing/2014/main" id="{0DB2149E-46C1-438F-8304-F8FC2DE15503}"/>
              </a:ext>
            </a:extLst>
          </p:cNvPr>
          <p:cNvSpPr>
            <a:spLocks xmlns:a="http://schemas.openxmlformats.org/drawingml/2006/main" noGrp="1"/>
          </p:cNvSpPr>
          <p:nvPr/>
        </p:nvSpPr>
        <p:spPr>
          <a:xfrm xmlns:a="http://schemas.openxmlformats.org/drawingml/2006/main">
            <a:off x="18040350" y="33851850"/>
            <a:ext cx="5143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025" b="1">
                <a:solidFill>
                  <a:srgbClr val="FFFFFF"/>
                </a:solidFill>
                <a:latin typeface="Aptos"/>
                <a:ea typeface="Aptos"/>
                <a:cs typeface="Aptos"/>
              </a:defRPr>
            </a:pPr>
            <a:r>
              <a:rPr sz="2025" b="1">
                <a:solidFill>
                  <a:srgbClr val="FFFFFF"/>
                </a:solidFill>
                <a:latin typeface="Aptos"/>
                <a:ea typeface="Aptos"/>
                <a:cs typeface="Aptos"/>
              </a:rPr>
              <a:t>3</a:t>
            </a:r>
          </a:p>
        </p:txBody>
      </p:sp>
      <p:sp>
        <p:nvSpPr>
          <p:cNvPr id="294" name="">
            <a:extLst xmlns:a="http://schemas.openxmlformats.org/drawingml/2006/main">
              <a:ext uri="{FF2B5EF4-FFF2-40B4-BE49-F238E27FC236}">
                <a16:creationId xmlns:a16="http://schemas.microsoft.com/office/drawing/2014/main" id="{01319323-D923-4408-B15F-4CA4CC3A363A}"/>
              </a:ext>
            </a:extLst>
          </p:cNvPr>
          <p:cNvSpPr>
            <a:spLocks xmlns:a="http://schemas.openxmlformats.org/drawingml/2006/main" noGrp="1"/>
          </p:cNvSpPr>
          <p:nvPr/>
        </p:nvSpPr>
        <p:spPr>
          <a:xfrm xmlns:a="http://schemas.openxmlformats.org/drawingml/2006/main">
            <a:off x="18707100" y="33804225"/>
            <a:ext cx="704850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325" b="1">
                <a:solidFill>
                  <a:srgbClr val="FFFFFF"/>
                </a:solidFill>
                <a:latin typeface="Aptos"/>
                <a:ea typeface="Aptos"/>
                <a:cs typeface="Aptos"/>
              </a:defRPr>
            </a:pPr>
            <a:r>
              <a:rPr sz="2325" b="1">
                <a:solidFill>
                  <a:srgbClr val="FFFFFF"/>
                </a:solidFill>
                <a:latin typeface="Aptos"/>
                <a:ea typeface="Aptos"/>
                <a:cs typeface="Aptos"/>
              </a:rPr>
              <a:t>One spatial output</a:t>
            </a:r>
          </a:p>
        </p:txBody>
      </p:sp>
      <p:sp>
        <p:nvSpPr>
          <p:cNvPr id="295" name="">
            <a:extLst xmlns:a="http://schemas.openxmlformats.org/drawingml/2006/main">
              <a:ext uri="{FF2B5EF4-FFF2-40B4-BE49-F238E27FC236}">
                <a16:creationId xmlns:a16="http://schemas.microsoft.com/office/drawing/2014/main" id="{8B69AF39-9994-4E3F-BE11-F71B53EC1A0B}"/>
              </a:ext>
            </a:extLst>
          </p:cNvPr>
          <p:cNvSpPr>
            <a:spLocks xmlns:a="http://schemas.openxmlformats.org/drawingml/2006/main" noGrp="1"/>
          </p:cNvSpPr>
          <p:nvPr/>
        </p:nvSpPr>
        <p:spPr>
          <a:xfrm xmlns:a="http://schemas.openxmlformats.org/drawingml/2006/main">
            <a:off x="18707100" y="34318575"/>
            <a:ext cx="7096125"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3000"/>
              </a:lnSpc>
              <a:buNone/>
              <a:defRPr sz="1875" b="0">
                <a:solidFill>
                  <a:srgbClr val="DCE4EF"/>
                </a:solidFill>
                <a:latin typeface="Aptos"/>
                <a:ea typeface="Aptos"/>
                <a:cs typeface="Aptos"/>
              </a:defRPr>
            </a:pPr>
            <a:r>
              <a:rPr sz="1875" b="0">
                <a:solidFill>
                  <a:srgbClr val="DCE4EF"/>
                </a:solidFill>
                <a:latin typeface="Aptos"/>
                <a:ea typeface="Aptos"/>
                <a:cs typeface="Aptos"/>
              </a:rPr>
              <a:t>The result is a completed complex displacement field φₖ ∈ ℂG×3.</a:t>
            </a:r>
          </a:p>
        </p:txBody>
      </p:sp>
      <p:sp>
        <p:nvSpPr>
          <p:cNvPr id="296" name="">
            <a:extLst xmlns:a="http://schemas.openxmlformats.org/drawingml/2006/main">
              <a:ext uri="{FF2B5EF4-FFF2-40B4-BE49-F238E27FC236}">
                <a16:creationId xmlns:a16="http://schemas.microsoft.com/office/drawing/2014/main" id="{7196793E-B99E-4D3F-A546-CE851CFBDB99}"/>
              </a:ext>
            </a:extLst>
          </p:cNvPr>
          <p:cNvSpPr>
            <a:spLocks xmlns:a="http://schemas.openxmlformats.org/drawingml/2006/main" noGrp="1"/>
          </p:cNvSpPr>
          <p:nvPr/>
        </p:nvSpPr>
        <p:spPr>
          <a:xfrm xmlns:a="http://schemas.openxmlformats.org/drawingml/2006/main">
            <a:off x="876300" y="35337750"/>
            <a:ext cx="25527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0">
                <a:solidFill>
                  <a:srgbClr val="AEB9C8"/>
                </a:solidFill>
                <a:latin typeface="Aptos"/>
                <a:ea typeface="Aptos"/>
                <a:cs typeface="Aptos"/>
              </a:defRPr>
            </a:pPr>
            <a:r>
              <a:rPr sz="1875" b="0">
                <a:solidFill>
                  <a:srgbClr val="AEB9C8"/>
                </a:solidFill>
                <a:latin typeface="Aptos"/>
                <a:ea typeface="Aptos"/>
                <a:cs typeface="Aptos"/>
              </a:rPr>
              <a:t>Interpretation: these are evidence-driven spatial vibration patterns, not mass- and stiffness-normalized structural eigenmodes.</a:t>
            </a:r>
          </a:p>
        </p:txBody>
      </p:sp>
    </p:spTree>
    <p:extLst>
      <p:ext uri="{BB962C8B-B14F-4D97-AF65-F5344CB8AC3E}">
        <p14:creationId xmlns:p14="http://schemas.microsoft.com/office/powerpoint/2010/main" val="107485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2026-08-06T05:48:27.7570000Z</dcterms:created>
  <dcterms:modified xsi:type="dcterms:W3CDTF">2026-08-06T05:48:27.7570000Z</dcterms:modified>
</coreProperties>
</file>