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b653a0e9014a37" /><Relationship Type="http://schemas.openxmlformats.org/officeDocument/2006/relationships/extended-properties" Target="/docProps/app.xml" Id="Ra94064b8a24b4af3" /><Relationship Type="http://schemas.openxmlformats.org/officeDocument/2006/relationships/officeDocument" Target="/ppt/presentation.xml" Id="Rce696108e7a948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b5d58d33674600"/>
  </p:sldMasterIdLst>
  <p:notesMasterIdLst>
    <p:notesMasterId xmlns:r="http://schemas.openxmlformats.org/officeDocument/2006/relationships" r:id="R0b44d1416da84fcc"/>
  </p:notesMasterIdLst>
  <p:sldIdLst>
    <p:sldId xmlns:r="http://schemas.openxmlformats.org/officeDocument/2006/relationships" id="256" r:id="R1699c8e6b71647bb"/>
  </p:sldIdLst>
  <p:sldSz cx="27432000" cy="365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1a076180514071" /><Relationship Type="http://schemas.openxmlformats.org/officeDocument/2006/relationships/slideMaster" Target="/ppt/slideMasters/slideMaster1.xml" Id="R3db5d58d33674600" /><Relationship Type="http://schemas.openxmlformats.org/officeDocument/2006/relationships/notesMaster" Target="/ppt/notesMasters/notesMaster1.xml" Id="R0b44d1416da84fcc" /><Relationship Type="http://schemas.openxmlformats.org/officeDocument/2006/relationships/presProps" Target="/ppt/presProps.xml" Id="R290b21d5525e4fe1" /><Relationship Type="http://schemas.openxmlformats.org/officeDocument/2006/relationships/tableStyles" Target="/ppt/tableStyles.xml" Id="R36a27547ce5845eb" /><Relationship Type="http://schemas.openxmlformats.org/officeDocument/2006/relationships/slide" Target="/ppt/slides/slide1.xml" Id="R1699c8e6b71647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52d6ddb09540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c3c7014fc443bd" /><Relationship Type="http://schemas.openxmlformats.org/officeDocument/2006/relationships/notesMaster" Target="/ppt/notesMasters/notesMaster1.xml" Id="Rfbc84a6c1dd448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docs/poster_drafts/bush_spatial_modes_poster_v2.tex (poster copy and layout source)</a:t>
            </a:r>
          </a:p>
          <a:p xmlns:a="http://schemas.openxmlformats.org/drawingml/2006/main">
            <a:r>
              <a:t>- C:/Users/zitengsong/Documents/school/research/dynamicGSPaper/Shape of Motion.pdf (3D Gaussian motion context)</a:t>
            </a:r>
          </a:p>
          <a:p xmlns:a="http://schemas.openxmlformats.org/drawingml/2006/main">
            <a:r>
              <a:t>- C:/Users/zitengsong/Documents/school/research/ISMB_Davis_2015.pdf (video modal analysis)</a:t>
            </a:r>
          </a:p>
          <a:p xmlns:a="http://schemas.openxmlformats.org/drawingml/2006/main">
            <a:r>
              <a:t>- Kerbl et al., 3D Gaussian Splatting for Real-Time Radiance Field Rendering,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f15ec707d49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ae518b22094cb1" /><Relationship Type="http://schemas.openxmlformats.org/officeDocument/2006/relationships/slideLayout" Target="/ppt/slideLayouts/slideLayout1.xml" Id="Rd71a90e710b748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1a90e710b748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964b256c64914" /><Relationship Type="http://schemas.openxmlformats.org/officeDocument/2006/relationships/notesSlide" Target="/ppt/notesSlides/notesSlide1.xml" Id="R21d0525d1b2f46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67F4EF1E-E29A-485E-B620-3A6E4AB7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228600"/>
            <a:ext cx="2400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61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61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Recovering 3D Vibration Modes from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61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61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Asynchronous Multi-View Videos</a:t>
            </a:r>
          </a:p>
        </p:txBody>
      </p:sp>
      <p:sp>
        <p:nvSpPr>
          <p:cNvPr id="2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DAB4CBB7-D6F6-4BC5-AB72-14FAD2D3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1666875"/>
            <a:ext cx="2324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0" i="0">
                <a:solidFill>
                  <a:srgbClr val="496577"/>
                </a:solidFill>
                <a:latin typeface="Aptos"/>
                <a:ea typeface="Aptos"/>
                <a:cs typeface="Aptos"/>
              </a:defRPr>
            </a:pPr>
            <a:r>
              <a:rPr sz="2175" b="0" i="0">
                <a:solidFill>
                  <a:srgbClr val="496577"/>
                </a:solidFill>
                <a:latin typeface="Aptos"/>
                <a:ea typeface="Aptos"/>
                <a:cs typeface="Aptos"/>
              </a:rPr>
              <a:t>A Gaussian-splat representation connects independently recorded image-space vibrations to shared spatial 3D mode shapes.</a:t>
            </a:r>
          </a:p>
        </p:txBody>
      </p:sp>
      <p:sp>
        <p:nvSpPr>
          <p:cNvPr id="3" name="poster-goal">
            <a:extLst xmlns:a="http://schemas.openxmlformats.org/drawingml/2006/main">
              <a:ext uri="{FF2B5EF4-FFF2-40B4-BE49-F238E27FC236}">
                <a16:creationId xmlns:a16="http://schemas.microsoft.com/office/drawing/2014/main" id="{AE5BC117-4A66-473D-A637-75B25261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66950"/>
            <a:ext cx="2647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42875" tIns="66675" rIns="1428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Goal. Use one mobile phone to scan a static scene and then record vibration from several fixed viewpoints at different times. Recover a view-consistent, high-detail 3D Gaussian model and spatial vibration fields without synchronized cameras.</a:t>
            </a:r>
          </a:p>
        </p:txBody>
      </p:sp>
      <p:sp>
        <p:nvSpPr>
          <p:cNvPr id="4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8F22374D-41C5-4FC1-ABC9-11EED549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3076575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496577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496577"/>
                </a:solidFill>
                <a:latin typeface="Aptos"/>
                <a:ea typeface="Aptos"/>
                <a:cs typeface="Aptos"/>
              </a:rPr>
              <a:t>End-to-end pipeline</a:t>
            </a:r>
          </a:p>
        </p:txBody>
      </p:sp>
      <p:sp>
        <p:nvSpPr>
          <p:cNvPr id="5" name="pipeline-arrow-1">
            <a:extLst xmlns:a="http://schemas.openxmlformats.org/drawingml/2006/main">
              <a:ext uri="{FF2B5EF4-FFF2-40B4-BE49-F238E27FC236}">
                <a16:creationId xmlns:a16="http://schemas.microsoft.com/office/drawing/2014/main" id="{F24507E7-DA11-4CC8-8ABA-7A501CE8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86175"/>
            <a:ext cx="1619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4763">
            <a:solidFill>
              <a:srgbClr val="53616A"/>
            </a:solidFill>
            <a:prstDash val="solid"/>
          </a:ln>
        </p:spPr>
      </p:sp>
      <p:sp>
        <p:nvSpPr>
          <p:cNvPr id="6" name="pipeline-arrow-2">
            <a:extLst xmlns:a="http://schemas.openxmlformats.org/drawingml/2006/main">
              <a:ext uri="{FF2B5EF4-FFF2-40B4-BE49-F238E27FC236}">
                <a16:creationId xmlns:a16="http://schemas.microsoft.com/office/drawing/2014/main" id="{BF1222E4-039F-42B6-96C0-91CE8F5B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86175"/>
            <a:ext cx="1619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4763">
            <a:solidFill>
              <a:srgbClr val="53616A"/>
            </a:solidFill>
            <a:prstDash val="solid"/>
          </a:ln>
        </p:spPr>
      </p:sp>
      <p:sp>
        <p:nvSpPr>
          <p:cNvPr id="7" name="pipeline-arrow-3">
            <a:extLst xmlns:a="http://schemas.openxmlformats.org/drawingml/2006/main">
              <a:ext uri="{FF2B5EF4-FFF2-40B4-BE49-F238E27FC236}">
                <a16:creationId xmlns:a16="http://schemas.microsoft.com/office/drawing/2014/main" id="{376A67B9-6377-46DA-8E90-6FC92FD8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686175"/>
            <a:ext cx="1619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4763">
            <a:solidFill>
              <a:srgbClr val="53616A"/>
            </a:solidFill>
            <a:prstDash val="solid"/>
          </a:ln>
        </p:spPr>
      </p:sp>
      <p:sp>
        <p:nvSpPr>
          <p:cNvPr id="8" name="pipeline-arrow-4">
            <a:extLst xmlns:a="http://schemas.openxmlformats.org/drawingml/2006/main">
              <a:ext uri="{FF2B5EF4-FFF2-40B4-BE49-F238E27FC236}">
                <a16:creationId xmlns:a16="http://schemas.microsoft.com/office/drawing/2014/main" id="{E72F1A66-2BC2-47DA-92E0-23D46CEC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3686175"/>
            <a:ext cx="1619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4763">
            <a:solidFill>
              <a:srgbClr val="53616A"/>
            </a:solidFill>
            <a:prstDash val="solid"/>
          </a:ln>
        </p:spPr>
      </p:sp>
      <p:sp>
        <p:nvSpPr>
          <p:cNvPr id="9" name="pipeline-arrow-5">
            <a:extLst xmlns:a="http://schemas.openxmlformats.org/drawingml/2006/main">
              <a:ext uri="{FF2B5EF4-FFF2-40B4-BE49-F238E27FC236}">
                <a16:creationId xmlns:a16="http://schemas.microsoft.com/office/drawing/2014/main" id="{337A1CC5-F416-4743-8067-A9A7F217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4900" y="3686175"/>
            <a:ext cx="1619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4763">
            <a:solidFill>
              <a:srgbClr val="53616A"/>
            </a:solidFill>
            <a:prstDash val="solid"/>
          </a:ln>
        </p:spPr>
      </p:sp>
      <p:sp>
        <p:nvSpPr>
          <p:cNvPr id="10" name="pipeline-arrow-6">
            <a:extLst xmlns:a="http://schemas.openxmlformats.org/drawingml/2006/main">
              <a:ext uri="{FF2B5EF4-FFF2-40B4-BE49-F238E27FC236}">
                <a16:creationId xmlns:a16="http://schemas.microsoft.com/office/drawing/2014/main" id="{B9A5A954-4C57-4ADE-9DCA-68794282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9575" y="3686175"/>
            <a:ext cx="1619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4763">
            <a:solidFill>
              <a:srgbClr val="53616A"/>
            </a:solidFill>
            <a:prstDash val="solid"/>
          </a:ln>
        </p:spPr>
      </p:sp>
      <p:sp>
        <p:nvSpPr>
          <p:cNvPr id="11" name="pipeline-arrow-7">
            <a:extLst xmlns:a="http://schemas.openxmlformats.org/drawingml/2006/main">
              <a:ext uri="{FF2B5EF4-FFF2-40B4-BE49-F238E27FC236}">
                <a16:creationId xmlns:a16="http://schemas.microsoft.com/office/drawing/2014/main" id="{7838CC60-0951-443A-A460-3AB28B53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0" y="3686175"/>
            <a:ext cx="1619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4763">
            <a:solidFill>
              <a:srgbClr val="53616A"/>
            </a:solidFill>
            <a:prstDash val="solid"/>
          </a:ln>
        </p:spPr>
      </p:sp>
      <p:sp>
        <p:nvSpPr>
          <p:cNvPr id="12" name="pipeline-step-1">
            <a:extLst xmlns:a="http://schemas.openxmlformats.org/drawingml/2006/main">
              <a:ext uri="{FF2B5EF4-FFF2-40B4-BE49-F238E27FC236}">
                <a16:creationId xmlns:a16="http://schemas.microsoft.com/office/drawing/2014/main" id="{1479AE05-82A6-4039-83B9-46F483ED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476625"/>
            <a:ext cx="2905125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1. Sweep + fixed videos</a:t>
            </a:r>
          </a:p>
        </p:txBody>
      </p:sp>
      <p:sp>
        <p:nvSpPr>
          <p:cNvPr id="13" name="pipeline-step-2">
            <a:extLst xmlns:a="http://schemas.openxmlformats.org/drawingml/2006/main">
              <a:ext uri="{FF2B5EF4-FFF2-40B4-BE49-F238E27FC236}">
                <a16:creationId xmlns:a16="http://schemas.microsoft.com/office/drawing/2014/main" id="{51ACCB21-E153-4ADA-9820-E1367F12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7175" y="3476625"/>
            <a:ext cx="2905125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2. Joint COLMAP</a:t>
            </a:r>
          </a:p>
        </p:txBody>
      </p:sp>
      <p:sp>
        <p:nvSpPr>
          <p:cNvPr id="14" name="pipeline-step-3">
            <a:extLst xmlns:a="http://schemas.openxmlformats.org/drawingml/2006/main">
              <a:ext uri="{FF2B5EF4-FFF2-40B4-BE49-F238E27FC236}">
                <a16:creationId xmlns:a16="http://schemas.microsoft.com/office/drawing/2014/main" id="{280AC303-07E8-4D57-9937-00CF3C83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3476625"/>
            <a:ext cx="2905125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658B70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3. Static 3DGS</a:t>
            </a:r>
          </a:p>
        </p:txBody>
      </p:sp>
      <p:sp>
        <p:nvSpPr>
          <p:cNvPr id="15" name="pipeline-step-4">
            <a:extLst xmlns:a="http://schemas.openxmlformats.org/drawingml/2006/main">
              <a:ext uri="{FF2B5EF4-FFF2-40B4-BE49-F238E27FC236}">
                <a16:creationId xmlns:a16="http://schemas.microsoft.com/office/drawing/2014/main" id="{5FCDFE69-FB88-43FA-8507-7ECA5E57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6525" y="3476625"/>
            <a:ext cx="2905125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956B58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4. Flow + Fourier modes</a:t>
            </a:r>
          </a:p>
        </p:txBody>
      </p:sp>
      <p:sp>
        <p:nvSpPr>
          <p:cNvPr id="16" name="pipeline-step-5">
            <a:extLst xmlns:a="http://schemas.openxmlformats.org/drawingml/2006/main">
              <a:ext uri="{FF2B5EF4-FFF2-40B4-BE49-F238E27FC236}">
                <a16:creationId xmlns:a16="http://schemas.microsoft.com/office/drawing/2014/main" id="{2BB85B5C-654C-447E-B465-499B9C57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11200" y="3476625"/>
            <a:ext cx="2905125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658B70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5. Pixel–Gaussian topology</a:t>
            </a:r>
          </a:p>
        </p:txBody>
      </p:sp>
      <p:sp>
        <p:nvSpPr>
          <p:cNvPr id="17" name="pipeline-step-6">
            <a:extLst xmlns:a="http://schemas.openxmlformats.org/drawingml/2006/main">
              <a:ext uri="{FF2B5EF4-FFF2-40B4-BE49-F238E27FC236}">
                <a16:creationId xmlns:a16="http://schemas.microsoft.com/office/drawing/2014/main" id="{5C6F4826-8507-4F34-B80C-08B7BF59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25875" y="3476625"/>
            <a:ext cx="2905125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956B58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6. View phase sync</a:t>
            </a:r>
          </a:p>
        </p:txBody>
      </p:sp>
      <p:sp>
        <p:nvSpPr>
          <p:cNvPr id="18" name="pipeline-step-7">
            <a:extLst xmlns:a="http://schemas.openxmlformats.org/drawingml/2006/main">
              <a:ext uri="{FF2B5EF4-FFF2-40B4-BE49-F238E27FC236}">
                <a16:creationId xmlns:a16="http://schemas.microsoft.com/office/drawing/2014/main" id="{6DCA9F1C-C9D3-45E8-88B8-BC273B76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40550" y="3476625"/>
            <a:ext cx="2905125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7. Local 3D solve</a:t>
            </a:r>
          </a:p>
        </p:txBody>
      </p:sp>
      <p:sp>
        <p:nvSpPr>
          <p:cNvPr id="19" name="pipeline-step-8">
            <a:extLst xmlns:a="http://schemas.openxmlformats.org/drawingml/2006/main">
              <a:ext uri="{FF2B5EF4-FFF2-40B4-BE49-F238E27FC236}">
                <a16:creationId xmlns:a16="http://schemas.microsoft.com/office/drawing/2014/main" id="{3725F4B3-2D4B-4FE4-AC56-A1E60783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55225" y="3476625"/>
            <a:ext cx="2905125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658B70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8. Motion fill</a:t>
            </a:r>
          </a:p>
        </p:txBody>
      </p:sp>
      <p:sp>
        <p:nvSpPr>
          <p:cNvPr id="20" name="pipeline-output">
            <a:extLst xmlns:a="http://schemas.openxmlformats.org/drawingml/2006/main">
              <a:ext uri="{FF2B5EF4-FFF2-40B4-BE49-F238E27FC236}">
                <a16:creationId xmlns:a16="http://schemas.microsoft.com/office/drawing/2014/main" id="{E165CF70-7CDE-4261-B6F4-65BDCE69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41433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53616A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53616A"/>
                </a:solidFill>
                <a:latin typeface="Cambria Math"/>
                <a:ea typeface="Cambria Math"/>
                <a:cs typeface="Cambria Math"/>
              </a:rPr>
              <a:t>Output: completed complex spatial fields  φₖ ∈ ℂᴳˣ³</a:t>
            </a:r>
          </a:p>
        </p:txBody>
      </p:sp>
      <p:sp>
        <p:nvSpPr>
          <p:cNvPr id="21" name="section-1.-3D Gaussian Splatting">
            <a:extLst xmlns:a="http://schemas.openxmlformats.org/drawingml/2006/main">
              <a:ext uri="{FF2B5EF4-FFF2-40B4-BE49-F238E27FC236}">
                <a16:creationId xmlns:a16="http://schemas.microsoft.com/office/drawing/2014/main" id="{A5E95558-2FC4-4CE7-B03B-1E28D156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4762500"/>
            <a:ext cx="8686800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577"/>
          </a:solidFill>
          <a:ln xmlns:a="http://schemas.openxmlformats.org/drawingml/2006/main" w="9525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114300" tIns="47625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1. 3D Gaussian Splatting</a:t>
            </a:r>
          </a:p>
        </p:txBody>
      </p:sp>
      <p:sp>
        <p:nvSpPr>
          <p:cNvPr id="22" name="gs-subhead">
            <a:extLst xmlns:a="http://schemas.openxmlformats.org/drawingml/2006/main">
              <a:ext uri="{FF2B5EF4-FFF2-40B4-BE49-F238E27FC236}">
                <a16:creationId xmlns:a16="http://schemas.microsoft.com/office/drawing/2014/main" id="{001EE7C9-C781-406D-8130-5B18C5EF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5661660"/>
            <a:ext cx="868680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3D Gaussian Splatting in one paragraph</a:t>
            </a:r>
          </a:p>
        </p:txBody>
      </p:sp>
      <p:sp>
        <p:nvSpPr>
          <p:cNvPr id="23" name="gs-body-1">
            <a:extLst xmlns:a="http://schemas.openxmlformats.org/drawingml/2006/main">
              <a:ext uri="{FF2B5EF4-FFF2-40B4-BE49-F238E27FC236}">
                <a16:creationId xmlns:a16="http://schemas.microsoft.com/office/drawing/2014/main" id="{6DA3C900-0CE5-48B6-BABE-0D5D815A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6223635"/>
            <a:ext cx="8686800" cy="110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3D Gaussian Splatting (3DGS) represents a scene as explicit, oriented, semi-transparent ellipsoids rather than a dense voxel grid (Kerbl et al., 2023). Each Gaussian stores</a:t>
            </a:r>
          </a:p>
        </p:txBody>
      </p:sp>
      <p:sp>
        <p:nvSpPr>
          <p:cNvPr id="24" name="gs-state">
            <a:extLst xmlns:a="http://schemas.openxmlformats.org/drawingml/2006/main">
              <a:ext uri="{FF2B5EF4-FFF2-40B4-BE49-F238E27FC236}">
                <a16:creationId xmlns:a16="http://schemas.microsoft.com/office/drawing/2014/main" id="{6D740B5E-6692-4809-89F3-82443120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7482459"/>
            <a:ext cx="8686800" cy="6076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𝒢_g = (μ_g, Σ_g, o_g, c_g)</a:t>
            </a:r>
          </a:p>
        </p:txBody>
      </p:sp>
      <p:sp>
        <p:nvSpPr>
          <p:cNvPr id="25" name="gs-body-2">
            <a:extLst xmlns:a="http://schemas.openxmlformats.org/drawingml/2006/main">
              <a:ext uri="{FF2B5EF4-FFF2-40B4-BE49-F238E27FC236}">
                <a16:creationId xmlns:a16="http://schemas.microsoft.com/office/drawing/2014/main" id="{A7816A36-914F-4556-AF59-4021C398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8246745"/>
            <a:ext cx="8686800" cy="1309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where μ_g ∈ ℝ³ is its center, Σ_g its 3D covariance, o_g opacity, and c_g appearance. A calibrated camera projects each Gaussian to an image-space ellipse. Depth-ordered alpha compositing gives</a:t>
            </a:r>
          </a:p>
        </p:txBody>
      </p:sp>
      <p:sp>
        <p:nvSpPr>
          <p:cNvPr id="26" name="gs-composite">
            <a:extLst xmlns:a="http://schemas.openxmlformats.org/drawingml/2006/main">
              <a:ext uri="{FF2B5EF4-FFF2-40B4-BE49-F238E27FC236}">
                <a16:creationId xmlns:a16="http://schemas.microsoft.com/office/drawing/2014/main" id="{03140D8B-D200-4AB3-B899-E693E9A5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9730359"/>
            <a:ext cx="8686800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Ĉ(p) = Σᵢ Tₚ,ᵢ aₚ,ᵢ cᵢ,     Tₚ,ᵢ = Πⱼ&lt;ᵢ (1 − aₚ,ⱼ)</a:t>
            </a:r>
          </a:p>
        </p:txBody>
      </p:sp>
      <p:sp>
        <p:nvSpPr>
          <p:cNvPr id="27" name="gs-ray-1">
            <a:extLst xmlns:a="http://schemas.openxmlformats.org/drawingml/2006/main">
              <a:ext uri="{FF2B5EF4-FFF2-40B4-BE49-F238E27FC236}">
                <a16:creationId xmlns:a16="http://schemas.microsoft.com/office/drawing/2014/main" id="{F5AF9601-C9EF-4043-8B77-F4F32674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14425" y="11191494"/>
            <a:ext cx="3381375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CD4D8"/>
            </a:solidFill>
            <a:prstDash val="dash"/>
          </a:ln>
        </p:spPr>
      </p:sp>
      <p:sp>
        <p:nvSpPr>
          <p:cNvPr id="28" name="gs-ray-2">
            <a:extLst xmlns:a="http://schemas.openxmlformats.org/drawingml/2006/main">
              <a:ext uri="{FF2B5EF4-FFF2-40B4-BE49-F238E27FC236}">
                <a16:creationId xmlns:a16="http://schemas.microsoft.com/office/drawing/2014/main" id="{F5789112-4814-43C3-8357-E557A164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4425" y="11562398"/>
            <a:ext cx="4810125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CD4D8"/>
            </a:solidFill>
            <a:prstDash val="dash"/>
          </a:ln>
        </p:spPr>
      </p:sp>
      <p:sp>
        <p:nvSpPr>
          <p:cNvPr id="29" name="gs-ray-3">
            <a:extLst xmlns:a="http://schemas.openxmlformats.org/drawingml/2006/main">
              <a:ext uri="{FF2B5EF4-FFF2-40B4-BE49-F238E27FC236}">
                <a16:creationId xmlns:a16="http://schemas.microsoft.com/office/drawing/2014/main" id="{BCB66333-3B56-4D60-BE38-FF44B637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14425" y="11101578"/>
            <a:ext cx="6143625" cy="7124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CD4D8"/>
            </a:solidFill>
            <a:prstDash val="dash"/>
          </a:ln>
        </p:spPr>
      </p:sp>
      <p:sp>
        <p:nvSpPr>
          <p:cNvPr id="30" name="gs-camera-plane">
            <a:extLst xmlns:a="http://schemas.openxmlformats.org/drawingml/2006/main">
              <a:ext uri="{FF2B5EF4-FFF2-40B4-BE49-F238E27FC236}">
                <a16:creationId xmlns:a16="http://schemas.microsoft.com/office/drawing/2014/main" id="{27BDE5FA-1ECB-4D3B-89E4-246DEF56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5850" y="10921746"/>
            <a:ext cx="9525" cy="12258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313A"/>
            </a:solidFill>
            <a:prstDash val="solid"/>
          </a:ln>
        </p:spPr>
      </p:sp>
      <p:sp>
        <p:nvSpPr>
          <p:cNvPr id="31" name="gs-gaussian-1">
            <a:extLst xmlns:a="http://schemas.openxmlformats.org/drawingml/2006/main">
              <a:ext uri="{FF2B5EF4-FFF2-40B4-BE49-F238E27FC236}">
                <a16:creationId xmlns:a16="http://schemas.microsoft.com/office/drawing/2014/main" id="{D6264BA2-E9F5-469B-A234-A49EC6A8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4210050" y="11011662"/>
            <a:ext cx="1143000" cy="4819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577">
              <a:alpha val="33333"/>
            </a:srgbClr>
          </a:solidFill>
          <a:ln xmlns:a="http://schemas.openxmlformats.org/drawingml/2006/main" w="14288">
            <a:solidFill>
              <a:srgbClr val="496577"/>
            </a:solidFill>
            <a:prstDash val="solid"/>
          </a:ln>
        </p:spPr>
      </p:sp>
      <p:sp>
        <p:nvSpPr>
          <p:cNvPr id="32" name="gs-gaussian-2">
            <a:extLst xmlns:a="http://schemas.openxmlformats.org/drawingml/2006/main">
              <a:ext uri="{FF2B5EF4-FFF2-40B4-BE49-F238E27FC236}">
                <a16:creationId xmlns:a16="http://schemas.microsoft.com/office/drawing/2014/main" id="{39170C65-4305-4155-A22A-1D7E29EA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5543550" y="11483721"/>
            <a:ext cx="142875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8B70">
              <a:alpha val="33333"/>
            </a:srgbClr>
          </a:solidFill>
          <a:ln xmlns:a="http://schemas.openxmlformats.org/drawingml/2006/main" w="14288">
            <a:solidFill>
              <a:srgbClr val="658B70"/>
            </a:solidFill>
            <a:prstDash val="solid"/>
          </a:ln>
        </p:spPr>
      </p:sp>
      <p:sp>
        <p:nvSpPr>
          <p:cNvPr id="33" name="gs-gaussian-3">
            <a:extLst xmlns:a="http://schemas.openxmlformats.org/drawingml/2006/main">
              <a:ext uri="{FF2B5EF4-FFF2-40B4-BE49-F238E27FC236}">
                <a16:creationId xmlns:a16="http://schemas.microsoft.com/office/drawing/2014/main" id="{1D70C336-11B6-420B-AE44-82B7D2FA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7019925" y="10888028"/>
            <a:ext cx="1238250" cy="471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6B58">
              <a:alpha val="33333"/>
            </a:srgbClr>
          </a:solidFill>
          <a:ln xmlns:a="http://schemas.openxmlformats.org/drawingml/2006/main" w="14288">
            <a:solidFill>
              <a:srgbClr val="956B58"/>
            </a:solidFill>
            <a:prstDash val="solid"/>
          </a:ln>
        </p:spPr>
      </p:sp>
      <p:sp>
        <p:nvSpPr>
          <p:cNvPr id="34" name="gs-camera-label">
            <a:extLst xmlns:a="http://schemas.openxmlformats.org/drawingml/2006/main">
              <a:ext uri="{FF2B5EF4-FFF2-40B4-BE49-F238E27FC236}">
                <a16:creationId xmlns:a16="http://schemas.microsoft.com/office/drawing/2014/main" id="{E5ADFB6A-BF9D-445F-B68B-AB3A48EB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42925" y="11011662"/>
            <a:ext cx="4762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5361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16A"/>
                </a:solidFill>
                <a:latin typeface="Aptos"/>
                <a:ea typeface="Aptos"/>
                <a:cs typeface="Aptos"/>
              </a:rPr>
              <a:t>camera image</a:t>
            </a:r>
          </a:p>
        </p:txBody>
      </p:sp>
      <p:sp>
        <p:nvSpPr>
          <p:cNvPr id="35" name="gs-diagram-caption">
            <a:extLst xmlns:a="http://schemas.openxmlformats.org/drawingml/2006/main">
              <a:ext uri="{FF2B5EF4-FFF2-40B4-BE49-F238E27FC236}">
                <a16:creationId xmlns:a16="http://schemas.microsoft.com/office/drawing/2014/main" id="{DBEE758E-1D03-453C-AE71-4BE72198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0" y="12236767"/>
            <a:ext cx="6248400" cy="356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53616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3616A"/>
                </a:solidFill>
                <a:latin typeface="Aptos"/>
                <a:ea typeface="Aptos"/>
                <a:cs typeface="Aptos"/>
              </a:rPr>
              <a:t>explicit centers support a 3D displacement field</a:t>
            </a:r>
          </a:p>
        </p:txBody>
      </p:sp>
      <p:sp>
        <p:nvSpPr>
          <p:cNvPr id="36" name="section-2.-Why Modal Analysis?">
            <a:extLst xmlns:a="http://schemas.openxmlformats.org/drawingml/2006/main">
              <a:ext uri="{FF2B5EF4-FFF2-40B4-BE49-F238E27FC236}">
                <a16:creationId xmlns:a16="http://schemas.microsoft.com/office/drawing/2014/main" id="{18519773-EFE2-4295-944B-76B0742F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12967335"/>
            <a:ext cx="8686800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8B70"/>
          </a:solidFill>
          <a:ln xmlns:a="http://schemas.openxmlformats.org/drawingml/2006/main" w="9525">
            <a:solidFill>
              <a:srgbClr val="658B70"/>
            </a:solidFill>
            <a:prstDash val="solid"/>
          </a:ln>
        </p:spPr>
        <p:txBody>
          <a:bodyPr xmlns:a="http://schemas.openxmlformats.org/drawingml/2006/main" wrap="square" lIns="114300" tIns="47625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2. Why Modal Analysis?</a:t>
            </a:r>
          </a:p>
        </p:txBody>
      </p:sp>
      <p:sp>
        <p:nvSpPr>
          <p:cNvPr id="37" name="modal-pixel-subhead">
            <a:extLst xmlns:a="http://schemas.openxmlformats.org/drawingml/2006/main">
              <a:ext uri="{FF2B5EF4-FFF2-40B4-BE49-F238E27FC236}">
                <a16:creationId xmlns:a16="http://schemas.microsoft.com/office/drawing/2014/main" id="{C1695A0C-2A18-4CBD-A484-C286B5B3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13866495"/>
            <a:ext cx="868680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Pixels are too many degrees of freedom</a:t>
            </a:r>
          </a:p>
        </p:txBody>
      </p:sp>
      <p:sp>
        <p:nvSpPr>
          <p:cNvPr id="38" name="modal-pixel-body">
            <a:extLst xmlns:a="http://schemas.openxmlformats.org/drawingml/2006/main">
              <a:ext uri="{FF2B5EF4-FFF2-40B4-BE49-F238E27FC236}">
                <a16:creationId xmlns:a16="http://schemas.microsoft.com/office/drawing/2014/main" id="{454DAA16-AB75-4FE2-8344-15E5C121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14428470"/>
            <a:ext cx="8686800" cy="110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Tracking P pixels independently produces a coupled displacement vector d(t) ∈ ℝ²ᴾ. Modal analysis replaces these dense degrees of freedom with a compact basis:</a:t>
            </a:r>
          </a:p>
        </p:txBody>
      </p:sp>
      <p:sp>
        <p:nvSpPr>
          <p:cNvPr id="39" name="modal-basis">
            <a:extLst xmlns:a="http://schemas.openxmlformats.org/drawingml/2006/main">
              <a:ext uri="{FF2B5EF4-FFF2-40B4-BE49-F238E27FC236}">
                <a16:creationId xmlns:a16="http://schemas.microsoft.com/office/drawing/2014/main" id="{7F5B3C8F-240C-4437-9B7F-651EB2BA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15664815"/>
            <a:ext cx="8686800" cy="6915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658B70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d(t) ≈ Φq(t) = Σₖ₌₁ᴷ φₖqₖ(t),     K ≪ 2P</a:t>
            </a:r>
          </a:p>
        </p:txBody>
      </p:sp>
      <p:sp>
        <p:nvSpPr>
          <p:cNvPr id="40" name="modal-benefit">
            <a:extLst xmlns:a="http://schemas.openxmlformats.org/drawingml/2006/main">
              <a:ext uri="{FF2B5EF4-FFF2-40B4-BE49-F238E27FC236}">
                <a16:creationId xmlns:a16="http://schemas.microsoft.com/office/drawing/2014/main" id="{3DC38686-7A8E-4267-9782-EB52AE93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16507778"/>
            <a:ext cx="8686800" cy="1728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Each φₖ is a coherent spatial motion pattern and qₖ(t) is its temporal activation. Under small linear motion, modal coordinates approximately decouple. Only a few modes dominate the visible response: they are resonantly excited, lightly damped, and clearly projected into the camera.</a:t>
            </a:r>
          </a:p>
        </p:txBody>
      </p:sp>
      <p:sp>
        <p:nvSpPr>
          <p:cNvPr id="41" name="mass-wall">
            <a:extLst xmlns:a="http://schemas.openxmlformats.org/drawingml/2006/main">
              <a:ext uri="{FF2B5EF4-FFF2-40B4-BE49-F238E27FC236}">
                <a16:creationId xmlns:a16="http://schemas.microsoft.com/office/drawing/2014/main" id="{102DA825-2250-4D98-94DD-31FAB9F7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81100" y="18755678"/>
            <a:ext cx="9525" cy="890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313A"/>
            </a:solidFill>
            <a:prstDash val="solid"/>
          </a:ln>
        </p:spPr>
      </p:sp>
      <p:sp>
        <p:nvSpPr>
          <p:cNvPr id="42" name="mass-spring-left">
            <a:extLst xmlns:a="http://schemas.openxmlformats.org/drawingml/2006/main">
              <a:ext uri="{FF2B5EF4-FFF2-40B4-BE49-F238E27FC236}">
                <a16:creationId xmlns:a16="http://schemas.microsoft.com/office/drawing/2014/main" id="{366507D8-78BD-4F86-9ED6-1831F7DE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81100" y="19261455"/>
            <a:ext cx="1857375" cy="104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6577"/>
            </a:solidFill>
            <a:prstDash val="solid"/>
          </a:ln>
        </p:spPr>
      </p:sp>
      <p:sp>
        <p:nvSpPr>
          <p:cNvPr id="43" name="mass-spring-middle">
            <a:extLst xmlns:a="http://schemas.openxmlformats.org/drawingml/2006/main">
              <a:ext uri="{FF2B5EF4-FFF2-40B4-BE49-F238E27FC236}">
                <a16:creationId xmlns:a16="http://schemas.microsoft.com/office/drawing/2014/main" id="{40C649B4-47D1-424A-8AB3-A8361B18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33850" y="19261455"/>
            <a:ext cx="1857375" cy="104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6577"/>
            </a:solidFill>
            <a:prstDash val="solid"/>
          </a:ln>
        </p:spPr>
      </p:sp>
      <p:sp>
        <p:nvSpPr>
          <p:cNvPr id="44" name="mass-one">
            <a:extLst xmlns:a="http://schemas.openxmlformats.org/drawingml/2006/main">
              <a:ext uri="{FF2B5EF4-FFF2-40B4-BE49-F238E27FC236}">
                <a16:creationId xmlns:a16="http://schemas.microsoft.com/office/drawing/2014/main" id="{0120DF11-6237-4658-982C-4B06A947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8475" y="18868073"/>
            <a:ext cx="1095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4288">
            <a:solidFill>
              <a:srgbClr val="23313A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m₁</a:t>
            </a:r>
          </a:p>
        </p:txBody>
      </p:sp>
      <p:sp>
        <p:nvSpPr>
          <p:cNvPr id="45" name="mass-two">
            <a:extLst xmlns:a="http://schemas.openxmlformats.org/drawingml/2006/main">
              <a:ext uri="{FF2B5EF4-FFF2-40B4-BE49-F238E27FC236}">
                <a16:creationId xmlns:a16="http://schemas.microsoft.com/office/drawing/2014/main" id="{224FB567-CC33-4922-9E46-508D08BC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1225" y="18868073"/>
            <a:ext cx="1095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4288">
            <a:solidFill>
              <a:srgbClr val="23313A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m₂</a:t>
            </a:r>
          </a:p>
        </p:txBody>
      </p:sp>
      <p:sp>
        <p:nvSpPr>
          <p:cNvPr id="46" name="mass-title">
            <a:extLst xmlns:a="http://schemas.openxmlformats.org/drawingml/2006/main">
              <a:ext uri="{FF2B5EF4-FFF2-40B4-BE49-F238E27FC236}">
                <a16:creationId xmlns:a16="http://schemas.microsoft.com/office/drawing/2014/main" id="{36711336-65A4-4269-B333-3843CAE2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18384774"/>
            <a:ext cx="49530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53616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16A"/>
                </a:solidFill>
                <a:latin typeface="Aptos"/>
                <a:ea typeface="Aptos"/>
                <a:cs typeface="Aptos"/>
              </a:rPr>
              <a:t>two coupled degrees of freedom</a:t>
            </a:r>
          </a:p>
        </p:txBody>
      </p:sp>
      <p:sp>
        <p:nvSpPr>
          <p:cNvPr id="47" name="mode-one-label">
            <a:extLst xmlns:a="http://schemas.openxmlformats.org/drawingml/2006/main">
              <a:ext uri="{FF2B5EF4-FFF2-40B4-BE49-F238E27FC236}">
                <a16:creationId xmlns:a16="http://schemas.microsoft.com/office/drawing/2014/main" id="{0689F81E-C93D-45B5-88A1-989DD0B7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19879628"/>
            <a:ext cx="6191250" cy="39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Mode 1: in phase     →  →     φ₁ ∝ [1, 1]ᵀ</a:t>
            </a:r>
          </a:p>
        </p:txBody>
      </p:sp>
      <p:sp>
        <p:nvSpPr>
          <p:cNvPr id="48" name="mode-two-label">
            <a:extLst xmlns:a="http://schemas.openxmlformats.org/drawingml/2006/main">
              <a:ext uri="{FF2B5EF4-FFF2-40B4-BE49-F238E27FC236}">
                <a16:creationId xmlns:a16="http://schemas.microsoft.com/office/drawing/2014/main" id="{47CCDEF0-9CFD-4F90-A8BA-21F242E1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20329208"/>
            <a:ext cx="6572250" cy="39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Mode 2: out of phase  →  ←     φ₂ ∝ [1, −1]ᵀ</a:t>
            </a:r>
          </a:p>
        </p:txBody>
      </p:sp>
      <p:sp>
        <p:nvSpPr>
          <p:cNvPr id="49" name="frequency-subhead">
            <a:extLst xmlns:a="http://schemas.openxmlformats.org/drawingml/2006/main">
              <a:ext uri="{FF2B5EF4-FFF2-40B4-BE49-F238E27FC236}">
                <a16:creationId xmlns:a16="http://schemas.microsoft.com/office/drawing/2014/main" id="{8244E724-56E9-4C3E-B6FA-B93C22B7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21059775"/>
            <a:ext cx="868680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Why the frequency domain?</a:t>
            </a:r>
          </a:p>
        </p:txBody>
      </p:sp>
      <p:sp>
        <p:nvSpPr>
          <p:cNvPr id="50" name="frequency-body">
            <a:extLst xmlns:a="http://schemas.openxmlformats.org/drawingml/2006/main">
              <a:ext uri="{FF2B5EF4-FFF2-40B4-BE49-F238E27FC236}">
                <a16:creationId xmlns:a16="http://schemas.microsoft.com/office/drawing/2014/main" id="{51E50BA0-A4A7-4B40-9DFC-87F81D09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21621750"/>
            <a:ext cx="868680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Time-domain pixel motion mixes many modes. Because each mode has a natural frequency, the temporal Fourier transform separates their responses:</a:t>
            </a:r>
          </a:p>
        </p:txBody>
      </p:sp>
      <p:sp>
        <p:nvSpPr>
          <p:cNvPr id="51" name="frequency-formula">
            <a:extLst xmlns:a="http://schemas.openxmlformats.org/drawingml/2006/main">
              <a:ext uri="{FF2B5EF4-FFF2-40B4-BE49-F238E27FC236}">
                <a16:creationId xmlns:a16="http://schemas.microsoft.com/office/drawing/2014/main" id="{834E312C-F500-4CC4-A69F-EA41B6B3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22610826"/>
            <a:ext cx="8686800" cy="6915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658B70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d̂(f) = Σₜ d(t)e⁻ⁱ²πᶠᵗ,     d̂(fₖ) ∝ φₖ²ᴰ</a:t>
            </a:r>
          </a:p>
        </p:txBody>
      </p:sp>
      <p:sp>
        <p:nvSpPr>
          <p:cNvPr id="52" name="frequency-davis">
            <a:extLst xmlns:a="http://schemas.openxmlformats.org/drawingml/2006/main">
              <a:ext uri="{FF2B5EF4-FFF2-40B4-BE49-F238E27FC236}">
                <a16:creationId xmlns:a16="http://schemas.microsoft.com/office/drawing/2014/main" id="{E01D86B3-A28A-49DB-B715-82375061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23442549"/>
            <a:ext cx="8686800" cy="1089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Near a resonant peak fₖ, one spatial mode often dominates. Davis, Chen, and Durand recover projected complex 2D modes from ordinary video without geometry or material parameters:</a:t>
            </a:r>
          </a:p>
        </p:txBody>
      </p:sp>
      <p:sp>
        <p:nvSpPr>
          <p:cNvPr id="53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1C2FB52C-15FE-42B1-BD91-161A366D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5094756"/>
            <a:ext cx="142875" cy="1781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4763">
            <a:solidFill>
              <a:srgbClr val="53616A"/>
            </a:solidFill>
            <a:prstDash val="solid"/>
          </a:ln>
        </p:spPr>
      </p:sp>
      <p:sp>
        <p:nvSpPr>
          <p:cNvPr id="54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8C4234C-88BF-48DA-A448-E5F46330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094756"/>
            <a:ext cx="142875" cy="1781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4763">
            <a:solidFill>
              <a:srgbClr val="53616A"/>
            </a:solidFill>
            <a:prstDash val="solid"/>
          </a:ln>
        </p:spPr>
      </p:sp>
      <p:sp>
        <p:nvSpPr>
          <p:cNvPr id="5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FB62791A-A75D-4171-8821-AE376CDC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5094756"/>
            <a:ext cx="142875" cy="1781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4763">
            <a:solidFill>
              <a:srgbClr val="53616A"/>
            </a:solidFill>
            <a:prstDash val="solid"/>
          </a:ln>
        </p:spPr>
      </p:sp>
      <p:sp>
        <p:nvSpPr>
          <p:cNvPr id="56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DA86B3A5-7152-4420-BF9D-74804EAB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094756"/>
            <a:ext cx="142875" cy="1781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4763">
            <a:solidFill>
              <a:srgbClr val="53616A"/>
            </a:solidFill>
            <a:prstDash val="solid"/>
          </a:ln>
        </p:spPr>
      </p:sp>
      <p:sp>
        <p:nvSpPr>
          <p:cNvPr id="57" name="flow-step-0">
            <a:extLst xmlns:a="http://schemas.openxmlformats.org/drawingml/2006/main">
              <a:ext uri="{FF2B5EF4-FFF2-40B4-BE49-F238E27FC236}">
                <a16:creationId xmlns:a16="http://schemas.microsoft.com/office/drawing/2014/main" id="{2EA3685A-3BC0-417B-8F05-FC55D55B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4712613"/>
            <a:ext cx="1476375" cy="890588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fixed-camera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video</a:t>
            </a:r>
          </a:p>
        </p:txBody>
      </p:sp>
      <p:sp>
        <p:nvSpPr>
          <p:cNvPr id="58" name="flow-step-1">
            <a:extLst xmlns:a="http://schemas.openxmlformats.org/drawingml/2006/main">
              <a:ext uri="{FF2B5EF4-FFF2-40B4-BE49-F238E27FC236}">
                <a16:creationId xmlns:a16="http://schemas.microsoft.com/office/drawing/2014/main" id="{95D1526F-C349-4D55-A8AC-79CE664E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24712613"/>
            <a:ext cx="1476375" cy="890588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58B70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small optical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flow</a:t>
            </a:r>
          </a:p>
        </p:txBody>
      </p:sp>
      <p:sp>
        <p:nvSpPr>
          <p:cNvPr id="59" name="flow-step-2">
            <a:extLst xmlns:a="http://schemas.openxmlformats.org/drawingml/2006/main">
              <a:ext uri="{FF2B5EF4-FFF2-40B4-BE49-F238E27FC236}">
                <a16:creationId xmlns:a16="http://schemas.microsoft.com/office/drawing/2014/main" id="{A259017A-6B1D-42AA-BC46-C3C1B2F6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24712613"/>
            <a:ext cx="1476375" cy="890588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56B58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temporal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FFT</a:t>
            </a:r>
          </a:p>
        </p:txBody>
      </p:sp>
      <p:sp>
        <p:nvSpPr>
          <p:cNvPr id="60" name="flow-step-3">
            <a:extLst xmlns:a="http://schemas.openxmlformats.org/drawingml/2006/main">
              <a:ext uri="{FF2B5EF4-FFF2-40B4-BE49-F238E27FC236}">
                <a16:creationId xmlns:a16="http://schemas.microsoft.com/office/drawing/2014/main" id="{1616A2BD-EAA2-4CA4-AF43-0747AAE7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4025" y="24712613"/>
            <a:ext cx="1476375" cy="890588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resonant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peak</a:t>
            </a:r>
          </a:p>
        </p:txBody>
      </p:sp>
      <p:sp>
        <p:nvSpPr>
          <p:cNvPr id="61" name="flow-step-4">
            <a:extLst xmlns:a="http://schemas.openxmlformats.org/drawingml/2006/main">
              <a:ext uri="{FF2B5EF4-FFF2-40B4-BE49-F238E27FC236}">
                <a16:creationId xmlns:a16="http://schemas.microsoft.com/office/drawing/2014/main" id="{C3D8ED49-58ED-4DDD-AD59-2101D1A8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24712613"/>
            <a:ext cx="1476375" cy="890588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58B70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complex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2D mode</a:t>
            </a:r>
          </a:p>
        </p:txBody>
      </p:sp>
      <p:sp>
        <p:nvSpPr>
          <p:cNvPr id="62" name="frequency-summary">
            <a:extLst xmlns:a="http://schemas.openxmlformats.org/drawingml/2006/main">
              <a:ext uri="{FF2B5EF4-FFF2-40B4-BE49-F238E27FC236}">
                <a16:creationId xmlns:a16="http://schemas.microsoft.com/office/drawing/2014/main" id="{66F4331B-9DF9-4D8F-93E4-DB2B06A7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25780365"/>
            <a:ext cx="8686800" cy="963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Each frequency slice is a candidate spatial pattern. Strong resonant peaks identify representative modes; their complex values retain displacement magnitude and relative phase.</a:t>
            </a:r>
          </a:p>
        </p:txBody>
      </p:sp>
      <p:sp>
        <p:nvSpPr>
          <p:cNvPr id="63" name="flow-frequency-placeholder">
            <a:extLst xmlns:a="http://schemas.openxmlformats.org/drawingml/2006/main">
              <a:ext uri="{FF2B5EF4-FFF2-40B4-BE49-F238E27FC236}">
                <a16:creationId xmlns:a16="http://schemas.microsoft.com/office/drawing/2014/main" id="{5D546567-AD22-4849-823E-CF45A8C1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926794"/>
            <a:ext cx="8686800" cy="2598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6193">
            <a:solidFill>
              <a:srgbClr val="658B70"/>
            </a:solidFill>
            <a:prstDash val="dash"/>
          </a:ln>
        </p:spPr>
      </p:sp>
      <p:sp>
        <p:nvSpPr>
          <p:cNvPr id="64" name="flow-frequency-placeholder-label">
            <a:extLst xmlns:a="http://schemas.openxmlformats.org/drawingml/2006/main">
              <a:ext uri="{FF2B5EF4-FFF2-40B4-BE49-F238E27FC236}">
                <a16:creationId xmlns:a16="http://schemas.microsoft.com/office/drawing/2014/main" id="{2F9AB0BB-D454-4BB8-9B02-FAD7431A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7151584"/>
            <a:ext cx="845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Figure placeholder</a:t>
            </a:r>
          </a:p>
        </p:txBody>
      </p:sp>
      <p:sp>
        <p:nvSpPr>
          <p:cNvPr id="65" name="flow-frequency-placeholder-file">
            <a:extLst xmlns:a="http://schemas.openxmlformats.org/drawingml/2006/main">
              <a:ext uri="{FF2B5EF4-FFF2-40B4-BE49-F238E27FC236}">
                <a16:creationId xmlns:a16="http://schemas.microsoft.com/office/drawing/2014/main" id="{A3946C02-51D2-42EF-92A3-4310FD60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8095702"/>
            <a:ext cx="834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53616A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53616A"/>
                </a:solidFill>
                <a:latin typeface="Consolas"/>
                <a:ea typeface="Consolas"/>
                <a:cs typeface="Consolas"/>
              </a:rPr>
              <a:t>bush_flow_and_frequency.png</a:t>
            </a:r>
          </a:p>
        </p:txBody>
      </p:sp>
      <p:sp>
        <p:nvSpPr>
          <p:cNvPr id="66" name="flow-frequency-placeholder-caption">
            <a:extLst xmlns:a="http://schemas.openxmlformats.org/drawingml/2006/main">
              <a:ext uri="{FF2B5EF4-FFF2-40B4-BE49-F238E27FC236}">
                <a16:creationId xmlns:a16="http://schemas.microsoft.com/office/drawing/2014/main" id="{8FD3D13C-BA4F-4064-810A-9B12C5CF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9747909"/>
            <a:ext cx="85725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5361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16A"/>
                </a:solidFill>
                <a:latin typeface="Aptos"/>
                <a:ea typeface="Aptos"/>
                <a:cs typeface="Aptos"/>
              </a:rPr>
              <a:t>Bush fixed-view optical flow, power spectrum, and one selected complex 2D mode.</a:t>
            </a:r>
          </a:p>
        </p:txBody>
      </p:sp>
      <p:sp>
        <p:nvSpPr>
          <p:cNvPr id="67" name="assumptions-subhead">
            <a:extLst xmlns:a="http://schemas.openxmlformats.org/drawingml/2006/main">
              <a:ext uri="{FF2B5EF4-FFF2-40B4-BE49-F238E27FC236}">
                <a16:creationId xmlns:a16="http://schemas.microsoft.com/office/drawing/2014/main" id="{0995326C-FEB5-4E54-A7E7-DF1F4338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30163770"/>
            <a:ext cx="868680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Working assumptions</a:t>
            </a:r>
          </a:p>
        </p:txBody>
      </p:sp>
      <p:sp>
        <p:nvSpPr>
          <p:cNvPr id="68" name="assumption-name-0">
            <a:extLst xmlns:a="http://schemas.openxmlformats.org/drawingml/2006/main">
              <a:ext uri="{FF2B5EF4-FFF2-40B4-BE49-F238E27FC236}">
                <a16:creationId xmlns:a16="http://schemas.microsoft.com/office/drawing/2014/main" id="{DF5B2AA7-4AA7-4A92-8B0E-3CAA7EFD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30748224"/>
            <a:ext cx="276225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496577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496577"/>
                </a:solidFill>
                <a:latin typeface="Aptos"/>
                <a:ea typeface="Aptos"/>
                <a:cs typeface="Aptos"/>
              </a:rPr>
              <a:t>Small linear motion</a:t>
            </a:r>
          </a:p>
        </p:txBody>
      </p:sp>
      <p:sp>
        <p:nvSpPr>
          <p:cNvPr id="69" name="assumption-copy-0">
            <a:extLst xmlns:a="http://schemas.openxmlformats.org/drawingml/2006/main">
              <a:ext uri="{FF2B5EF4-FFF2-40B4-BE49-F238E27FC236}">
                <a16:creationId xmlns:a16="http://schemas.microsoft.com/office/drawing/2014/main" id="{0B13CE49-E79C-4B22-989A-1B38003C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30748224"/>
            <a:ext cx="590550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Mode superposition and linear projection are valid.</a:t>
            </a:r>
          </a:p>
        </p:txBody>
      </p:sp>
      <p:sp>
        <p:nvSpPr>
          <p:cNvPr id="70" name="assumption-name-1">
            <a:extLst xmlns:a="http://schemas.openxmlformats.org/drawingml/2006/main">
              <a:ext uri="{FF2B5EF4-FFF2-40B4-BE49-F238E27FC236}">
                <a16:creationId xmlns:a16="http://schemas.microsoft.com/office/drawing/2014/main" id="{562C3A61-FC16-42B3-A9D1-8E775471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31332678"/>
            <a:ext cx="276225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496577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496577"/>
                </a:solidFill>
                <a:latin typeface="Aptos"/>
                <a:ea typeface="Aptos"/>
                <a:cs typeface="Aptos"/>
              </a:rPr>
              <a:t>Weak perspective</a:t>
            </a:r>
          </a:p>
        </p:txBody>
      </p:sp>
      <p:sp>
        <p:nvSpPr>
          <p:cNvPr id="71" name="assumption-copy-1">
            <a:extLst xmlns:a="http://schemas.openxmlformats.org/drawingml/2006/main">
              <a:ext uri="{FF2B5EF4-FFF2-40B4-BE49-F238E27FC236}">
                <a16:creationId xmlns:a16="http://schemas.microsoft.com/office/drawing/2014/main" id="{42BFB56C-3A66-4BAF-AF04-D8E976C8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31332678"/>
            <a:ext cx="590550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Small 3D displacement projects approximately linearly.</a:t>
            </a:r>
          </a:p>
        </p:txBody>
      </p:sp>
      <p:sp>
        <p:nvSpPr>
          <p:cNvPr id="72" name="assumption-name-2">
            <a:extLst xmlns:a="http://schemas.openxmlformats.org/drawingml/2006/main">
              <a:ext uri="{FF2B5EF4-FFF2-40B4-BE49-F238E27FC236}">
                <a16:creationId xmlns:a16="http://schemas.microsoft.com/office/drawing/2014/main" id="{FC293B4C-772C-44A2-BAF6-E40B354A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31917132"/>
            <a:ext cx="276225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496577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496577"/>
                </a:solidFill>
                <a:latin typeface="Aptos"/>
                <a:ea typeface="Aptos"/>
                <a:cs typeface="Aptos"/>
              </a:rPr>
              <a:t>Well-spaced modes</a:t>
            </a:r>
          </a:p>
        </p:txBody>
      </p:sp>
      <p:sp>
        <p:nvSpPr>
          <p:cNvPr id="73" name="assumption-copy-2">
            <a:extLst xmlns:a="http://schemas.openxmlformats.org/drawingml/2006/main">
              <a:ext uri="{FF2B5EF4-FFF2-40B4-BE49-F238E27FC236}">
                <a16:creationId xmlns:a16="http://schemas.microsoft.com/office/drawing/2014/main" id="{DC3EE673-003E-4A24-9928-4CED8EE5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31917132"/>
            <a:ext cx="590550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One mode dominates near each resonant peak.</a:t>
            </a:r>
          </a:p>
        </p:txBody>
      </p:sp>
      <p:sp>
        <p:nvSpPr>
          <p:cNvPr id="74" name="assumption-name-3">
            <a:extLst xmlns:a="http://schemas.openxmlformats.org/drawingml/2006/main">
              <a:ext uri="{FF2B5EF4-FFF2-40B4-BE49-F238E27FC236}">
                <a16:creationId xmlns:a16="http://schemas.microsoft.com/office/drawing/2014/main" id="{E4745A4E-AB8C-44D5-A4CE-4DEF84D0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32501586"/>
            <a:ext cx="276225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496577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496577"/>
                </a:solidFill>
                <a:latin typeface="Aptos"/>
                <a:ea typeface="Aptos"/>
                <a:cs typeface="Aptos"/>
              </a:rPr>
              <a:t>Broad-spectrum forcing</a:t>
            </a:r>
          </a:p>
        </p:txBody>
      </p:sp>
      <p:sp>
        <p:nvSpPr>
          <p:cNvPr id="75" name="assumption-copy-3">
            <a:extLst xmlns:a="http://schemas.openxmlformats.org/drawingml/2006/main">
              <a:ext uri="{FF2B5EF4-FFF2-40B4-BE49-F238E27FC236}">
                <a16:creationId xmlns:a16="http://schemas.microsoft.com/office/drawing/2014/main" id="{130240D6-9926-40CC-9DD7-4A47975E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32501586"/>
            <a:ext cx="590550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Relevant modes receive measurable excitation.</a:t>
            </a:r>
          </a:p>
        </p:txBody>
      </p:sp>
      <p:sp>
        <p:nvSpPr>
          <p:cNvPr id="76" name="section-3.-Why asynchronous multi-view is different">
            <a:extLst xmlns:a="http://schemas.openxmlformats.org/drawingml/2006/main">
              <a:ext uri="{FF2B5EF4-FFF2-40B4-BE49-F238E27FC236}">
                <a16:creationId xmlns:a16="http://schemas.microsoft.com/office/drawing/2014/main" id="{B879578E-6098-454F-8385-FE666EE1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4762500"/>
            <a:ext cx="8686800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6B58"/>
          </a:solidFill>
          <a:ln xmlns:a="http://schemas.openxmlformats.org/drawingml/2006/main" w="9525">
            <a:solidFill>
              <a:srgbClr val="956B58"/>
            </a:solidFill>
            <a:prstDash val="solid"/>
          </a:ln>
        </p:spPr>
        <p:txBody>
          <a:bodyPr xmlns:a="http://schemas.openxmlformats.org/drawingml/2006/main" wrap="square" lIns="114300" tIns="47625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3. Why asynchronous multi-view is different</a:t>
            </a:r>
          </a:p>
        </p:txBody>
      </p:sp>
      <p:sp>
        <p:nvSpPr>
          <p:cNvPr id="77" name="async-intro">
            <a:extLst xmlns:a="http://schemas.openxmlformats.org/drawingml/2006/main">
              <a:ext uri="{FF2B5EF4-FFF2-40B4-BE49-F238E27FC236}">
                <a16:creationId xmlns:a16="http://schemas.microsoft.com/office/drawing/2014/main" id="{3095E977-6364-4571-95BE-523F0166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5661660"/>
            <a:ext cx="868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Synchronized camera arrays can triangulate the same moving surface at the same instant. Most users own one phone: they revisit viewpoints, but recordings start at different times and experience different forcing.</a:t>
            </a:r>
          </a:p>
        </p:txBody>
      </p:sp>
      <p:sp>
        <p:nvSpPr>
          <p:cNvPr id="78" name="async-link-1">
            <a:extLst xmlns:a="http://schemas.openxmlformats.org/drawingml/2006/main">
              <a:ext uri="{FF2B5EF4-FFF2-40B4-BE49-F238E27FC236}">
                <a16:creationId xmlns:a16="http://schemas.microsoft.com/office/drawing/2014/main" id="{3705A617-4CF4-44BD-AD62-CA90D433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15675" y="8021955"/>
            <a:ext cx="247650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CCD4D8"/>
            </a:solidFill>
            <a:prstDash val="dash"/>
          </a:ln>
        </p:spPr>
      </p:sp>
      <p:sp>
        <p:nvSpPr>
          <p:cNvPr id="79" name="async-link-2">
            <a:extLst xmlns:a="http://schemas.openxmlformats.org/drawingml/2006/main">
              <a:ext uri="{FF2B5EF4-FFF2-40B4-BE49-F238E27FC236}">
                <a16:creationId xmlns:a16="http://schemas.microsoft.com/office/drawing/2014/main" id="{0BCEF3D7-A2A6-49CD-907A-3D54430C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163300" y="9033510"/>
            <a:ext cx="2428875" cy="890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CCD4D8"/>
            </a:solidFill>
            <a:prstDash val="dash"/>
          </a:ln>
        </p:spPr>
      </p:sp>
      <p:sp>
        <p:nvSpPr>
          <p:cNvPr id="80" name="async-link-3">
            <a:extLst xmlns:a="http://schemas.openxmlformats.org/drawingml/2006/main">
              <a:ext uri="{FF2B5EF4-FFF2-40B4-BE49-F238E27FC236}">
                <a16:creationId xmlns:a16="http://schemas.microsoft.com/office/drawing/2014/main" id="{CEB6C95E-769C-457E-8F18-7978C0A4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4497050" y="8864918"/>
            <a:ext cx="2000250" cy="104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CCD4D8"/>
            </a:solidFill>
            <a:prstDash val="dash"/>
          </a:ln>
        </p:spPr>
      </p:sp>
      <p:sp>
        <p:nvSpPr>
          <p:cNvPr id="81" name="async-camera-0">
            <a:extLst xmlns:a="http://schemas.openxmlformats.org/drawingml/2006/main">
              <a:ext uri="{FF2B5EF4-FFF2-40B4-BE49-F238E27FC236}">
                <a16:creationId xmlns:a16="http://schemas.microsoft.com/office/drawing/2014/main" id="{B0031F91-C450-4BCA-9CA4-E7F048F7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7628573"/>
            <a:ext cx="857250" cy="6076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4288">
            <a:solidFill>
              <a:srgbClr val="496577"/>
            </a:solidFill>
            <a:prstDash val="solid"/>
          </a:ln>
        </p:spPr>
      </p:sp>
      <p:sp>
        <p:nvSpPr>
          <p:cNvPr id="82" name="async-camera-label-0">
            <a:extLst xmlns:a="http://schemas.openxmlformats.org/drawingml/2006/main">
              <a:ext uri="{FF2B5EF4-FFF2-40B4-BE49-F238E27FC236}">
                <a16:creationId xmlns:a16="http://schemas.microsoft.com/office/drawing/2014/main" id="{75C2534C-FDFC-4151-AF3E-4E1369CA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7425" y="8325421"/>
            <a:ext cx="1571625" cy="649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53616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3616A"/>
                </a:solidFill>
                <a:latin typeface="Aptos"/>
                <a:ea typeface="Aptos"/>
                <a:cs typeface="Aptos"/>
              </a:rPr>
              <a:t>video 1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53616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3616A"/>
                </a:solidFill>
                <a:latin typeface="Aptos"/>
                <a:ea typeface="Aptos"/>
                <a:cs typeface="Aptos"/>
              </a:rPr>
              <a:t>unknown start τ₁</a:t>
            </a:r>
          </a:p>
        </p:txBody>
      </p:sp>
      <p:sp>
        <p:nvSpPr>
          <p:cNvPr id="83" name="async-camera-1">
            <a:extLst xmlns:a="http://schemas.openxmlformats.org/drawingml/2006/main">
              <a:ext uri="{FF2B5EF4-FFF2-40B4-BE49-F238E27FC236}">
                <a16:creationId xmlns:a16="http://schemas.microsoft.com/office/drawing/2014/main" id="{3F3C0427-4B8F-448F-BDA3-862D7D5E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9595485"/>
            <a:ext cx="857250" cy="6076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4288">
            <a:solidFill>
              <a:srgbClr val="496577"/>
            </a:solidFill>
            <a:prstDash val="solid"/>
          </a:ln>
        </p:spPr>
      </p:sp>
      <p:sp>
        <p:nvSpPr>
          <p:cNvPr id="84" name="async-camera-label-1">
            <a:extLst xmlns:a="http://schemas.openxmlformats.org/drawingml/2006/main">
              <a:ext uri="{FF2B5EF4-FFF2-40B4-BE49-F238E27FC236}">
                <a16:creationId xmlns:a16="http://schemas.microsoft.com/office/drawing/2014/main" id="{1704E9C2-1662-4241-BE73-905A5BB6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7425" y="10292334"/>
            <a:ext cx="1571625" cy="649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53616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3616A"/>
                </a:solidFill>
                <a:latin typeface="Aptos"/>
                <a:ea typeface="Aptos"/>
                <a:cs typeface="Aptos"/>
              </a:rPr>
              <a:t>video 2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53616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3616A"/>
                </a:solidFill>
                <a:latin typeface="Aptos"/>
                <a:ea typeface="Aptos"/>
                <a:cs typeface="Aptos"/>
              </a:rPr>
              <a:t>unknown start τ₂</a:t>
            </a:r>
          </a:p>
        </p:txBody>
      </p:sp>
      <p:sp>
        <p:nvSpPr>
          <p:cNvPr id="85" name="async-camera-2">
            <a:extLst xmlns:a="http://schemas.openxmlformats.org/drawingml/2006/main">
              <a:ext uri="{FF2B5EF4-FFF2-40B4-BE49-F238E27FC236}">
                <a16:creationId xmlns:a16="http://schemas.microsoft.com/office/drawing/2014/main" id="{A3AA0338-1FD8-4450-B200-18723B6F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8471535"/>
            <a:ext cx="857250" cy="6076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4288">
            <a:solidFill>
              <a:srgbClr val="496577"/>
            </a:solidFill>
            <a:prstDash val="solid"/>
          </a:ln>
        </p:spPr>
      </p:sp>
      <p:sp>
        <p:nvSpPr>
          <p:cNvPr id="86" name="async-camera-label-2">
            <a:extLst xmlns:a="http://schemas.openxmlformats.org/drawingml/2006/main">
              <a:ext uri="{FF2B5EF4-FFF2-40B4-BE49-F238E27FC236}">
                <a16:creationId xmlns:a16="http://schemas.microsoft.com/office/drawing/2014/main" id="{9DCC0BCA-D639-41E5-8689-D63ACB7F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63925" y="9168384"/>
            <a:ext cx="1571625" cy="649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956B5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956B58"/>
                </a:solidFill>
                <a:latin typeface="Aptos"/>
                <a:ea typeface="Aptos"/>
                <a:cs typeface="Aptos"/>
              </a:rPr>
              <a:t>video 3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956B5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956B58"/>
                </a:solidFill>
                <a:latin typeface="Aptos"/>
                <a:ea typeface="Aptos"/>
                <a:cs typeface="Aptos"/>
              </a:rPr>
              <a:t>unknown start τ₃</a:t>
            </a:r>
          </a:p>
        </p:txBody>
      </p:sp>
      <p:sp>
        <p:nvSpPr>
          <p:cNvPr id="87" name="async-object">
            <a:extLst xmlns:a="http://schemas.openxmlformats.org/drawingml/2006/main">
              <a:ext uri="{FF2B5EF4-FFF2-40B4-BE49-F238E27FC236}">
                <a16:creationId xmlns:a16="http://schemas.microsoft.com/office/drawing/2014/main" id="{7D41DE44-56FA-4127-84C5-155574BF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6925" y="8359140"/>
            <a:ext cx="1381125" cy="890588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7EFE9"/>
          </a:solidFill>
          <a:ln xmlns:a="http://schemas.openxmlformats.org/drawingml/2006/main" w="15240">
            <a:solidFill>
              <a:srgbClr val="658B70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same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object</a:t>
            </a:r>
          </a:p>
        </p:txBody>
      </p:sp>
      <p:sp>
        <p:nvSpPr>
          <p:cNvPr id="88" name="async-frequency">
            <a:extLst xmlns:a="http://schemas.openxmlformats.org/drawingml/2006/main">
              <a:ext uri="{FF2B5EF4-FFF2-40B4-BE49-F238E27FC236}">
                <a16:creationId xmlns:a16="http://schemas.microsoft.com/office/drawing/2014/main" id="{E5D83A44-53E1-4F32-93A6-6E754F7C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2050" y="9764078"/>
            <a:ext cx="3238500" cy="963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A"/>
          </a:solidFill>
          <a:ln xmlns:a="http://schemas.openxmlformats.org/drawingml/2006/main" w="14288">
            <a:solidFill>
              <a:srgbClr val="956B58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same resonant frequency fₖ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different complex phase/gain</a:t>
            </a:r>
          </a:p>
        </p:txBody>
      </p:sp>
      <p:sp>
        <p:nvSpPr>
          <p:cNvPr id="89" name="async-time">
            <a:extLst xmlns:a="http://schemas.openxmlformats.org/drawingml/2006/main">
              <a:ext uri="{FF2B5EF4-FFF2-40B4-BE49-F238E27FC236}">
                <a16:creationId xmlns:a16="http://schemas.microsoft.com/office/drawing/2014/main" id="{DB45AC57-7761-4B81-843F-74F9DE19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11000423"/>
            <a:ext cx="8686800" cy="963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Time-domain optical flow from these recordings is not synchronized and should not match frame by frame. Our central modeling assumption is weaker:</a:t>
            </a:r>
          </a:p>
        </p:txBody>
      </p:sp>
      <p:sp>
        <p:nvSpPr>
          <p:cNvPr id="90" name="frequency-consistency">
            <a:extLst xmlns:a="http://schemas.openxmlformats.org/drawingml/2006/main">
              <a:ext uri="{FF2B5EF4-FFF2-40B4-BE49-F238E27FC236}">
                <a16:creationId xmlns:a16="http://schemas.microsoft.com/office/drawing/2014/main" id="{7C34E1AB-960F-4659-8920-2F4F8413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12090654"/>
            <a:ext cx="8686800" cy="1760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A"/>
          </a:solidFill>
          <a:ln xmlns:a="http://schemas.openxmlformats.org/drawingml/2006/main" w="14288">
            <a:solidFill>
              <a:srgbClr val="956B5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Frequency-domain consistency assumption. If geometry, boundary conditions, and material properties remain fixed, the same natural frequency represents the same underlying 3D spatial mode. Each view may observe a different complex phase and amplitude.</a:t>
            </a:r>
          </a:p>
        </p:txBody>
      </p:sp>
      <p:sp>
        <p:nvSpPr>
          <p:cNvPr id="91" name="additional-assumptions">
            <a:extLst xmlns:a="http://schemas.openxmlformats.org/drawingml/2006/main">
              <a:ext uri="{FF2B5EF4-FFF2-40B4-BE49-F238E27FC236}">
                <a16:creationId xmlns:a16="http://schemas.microsoft.com/office/drawing/2014/main" id="{8ABEC256-3CAF-4A98-BE4A-573839AC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14147483"/>
            <a:ext cx="868680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Additional assumptions introduced by our setting</a:t>
            </a:r>
          </a:p>
        </p:txBody>
      </p:sp>
      <p:sp>
        <p:nvSpPr>
          <p:cNvPr id="92" name="additional-assumptions-list">
            <a:extLst xmlns:a="http://schemas.openxmlformats.org/drawingml/2006/main">
              <a:ext uri="{FF2B5EF4-FFF2-40B4-BE49-F238E27FC236}">
                <a16:creationId xmlns:a16="http://schemas.microsoft.com/office/drawing/2014/main" id="{323ED55E-D9B3-44E4-A14D-12EDCABB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14788134"/>
            <a:ext cx="8686800" cy="2598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• A static sweep defines one canonical rest geometry.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• Fixed reference cameras are calibrated into that coordinate system.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• Vibrations remain small enough for camera and modal linearization.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• The same modes are excited across takes, although forcing strength and phase may differ.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• Frequencies are stable and sufficiently separated over the capture.</a:t>
            </a:r>
          </a:p>
        </p:txBody>
      </p:sp>
      <p:sp>
        <p:nvSpPr>
          <p:cNvPr id="93" name="section-4.-Solving shared 3D modes">
            <a:extLst xmlns:a="http://schemas.openxmlformats.org/drawingml/2006/main">
              <a:ext uri="{FF2B5EF4-FFF2-40B4-BE49-F238E27FC236}">
                <a16:creationId xmlns:a16="http://schemas.microsoft.com/office/drawing/2014/main" id="{CACFB7CC-D1BF-4809-AB95-96C5134E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17744123"/>
            <a:ext cx="8686800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577"/>
          </a:solidFill>
          <a:ln xmlns:a="http://schemas.openxmlformats.org/drawingml/2006/main" w="9525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114300" tIns="47625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4. Solving shared 3D modes</a:t>
            </a:r>
          </a:p>
        </p:txBody>
      </p:sp>
      <p:sp>
        <p:nvSpPr>
          <p:cNvPr id="94" name="shared-scene-subhead">
            <a:extLst xmlns:a="http://schemas.openxmlformats.org/drawingml/2006/main">
              <a:ext uri="{FF2B5EF4-FFF2-40B4-BE49-F238E27FC236}">
                <a16:creationId xmlns:a16="http://schemas.microsoft.com/office/drawing/2014/main" id="{3AD31AEC-6D1B-470C-9BEA-B14B97DF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18643283"/>
            <a:ext cx="8686800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A. Shared canonical scene</a:t>
            </a:r>
          </a:p>
        </p:txBody>
      </p:sp>
      <p:sp>
        <p:nvSpPr>
          <p:cNvPr id="95" name="shared-scene-body">
            <a:extLst xmlns:a="http://schemas.openxmlformats.org/drawingml/2006/main">
              <a:ext uri="{FF2B5EF4-FFF2-40B4-BE49-F238E27FC236}">
                <a16:creationId xmlns:a16="http://schemas.microsoft.com/office/drawing/2014/main" id="{660C3360-1570-4D6C-AE6F-CCF7896E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19205258"/>
            <a:ext cx="8686800" cy="1299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We sample a sweep video and add one reference image from each fixed view to the same COLMAP reconstruction. Registered sweep views train a foreground/background 3DGS; fixed cameras are exported for modal projection.</a:t>
            </a:r>
          </a:p>
        </p:txBody>
      </p:sp>
      <p:sp>
        <p:nvSpPr>
          <p:cNvPr id="96" name="capture-cameras-placeholder">
            <a:extLst xmlns:a="http://schemas.openxmlformats.org/drawingml/2006/main">
              <a:ext uri="{FF2B5EF4-FFF2-40B4-BE49-F238E27FC236}">
                <a16:creationId xmlns:a16="http://schemas.microsoft.com/office/drawing/2014/main" id="{00557E9E-C3B7-4BFE-8F25-9FCA7AFC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700111"/>
            <a:ext cx="8686800" cy="193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6193">
            <a:solidFill>
              <a:srgbClr val="496577"/>
            </a:solidFill>
            <a:prstDash val="dash"/>
          </a:ln>
        </p:spPr>
      </p:sp>
      <p:sp>
        <p:nvSpPr>
          <p:cNvPr id="97" name="capture-cameras-placeholder-label">
            <a:extLst xmlns:a="http://schemas.openxmlformats.org/drawingml/2006/main">
              <a:ext uri="{FF2B5EF4-FFF2-40B4-BE49-F238E27FC236}">
                <a16:creationId xmlns:a16="http://schemas.microsoft.com/office/drawing/2014/main" id="{D8C6DFDD-A6A2-4C4D-8D59-C379CEC2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7850" y="20924901"/>
            <a:ext cx="845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Figure placeholder</a:t>
            </a:r>
          </a:p>
        </p:txBody>
      </p:sp>
      <p:sp>
        <p:nvSpPr>
          <p:cNvPr id="98" name="capture-cameras-placeholder-file">
            <a:extLst xmlns:a="http://schemas.openxmlformats.org/drawingml/2006/main">
              <a:ext uri="{FF2B5EF4-FFF2-40B4-BE49-F238E27FC236}">
                <a16:creationId xmlns:a16="http://schemas.microsoft.com/office/drawing/2014/main" id="{7D4BDFAC-658D-475F-B1F7-B95BAD2B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21514975"/>
            <a:ext cx="834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53616A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53616A"/>
                </a:solidFill>
                <a:latin typeface="Consolas"/>
                <a:ea typeface="Consolas"/>
                <a:cs typeface="Consolas"/>
              </a:rPr>
              <a:t>bush_capture_and_cameras.png</a:t>
            </a:r>
          </a:p>
        </p:txBody>
      </p:sp>
      <p:sp>
        <p:nvSpPr>
          <p:cNvPr id="99" name="capture-cameras-placeholder-caption">
            <a:extLst xmlns:a="http://schemas.openxmlformats.org/drawingml/2006/main">
              <a:ext uri="{FF2B5EF4-FFF2-40B4-BE49-F238E27FC236}">
                <a16:creationId xmlns:a16="http://schemas.microsoft.com/office/drawing/2014/main" id="{74516BC2-345F-4589-BA92-046EE5D7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22813137"/>
            <a:ext cx="85725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5361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16A"/>
                </a:solidFill>
                <a:latin typeface="Aptos"/>
                <a:ea typeface="Aptos"/>
                <a:cs typeface="Aptos"/>
              </a:rPr>
              <a:t>Sweep frames, fixed references, and registered cameras around the canonical scene.</a:t>
            </a:r>
          </a:p>
        </p:txBody>
      </p:sp>
      <p:sp>
        <p:nvSpPr>
          <p:cNvPr id="100" name="frequency-topology-subhead">
            <a:extLst xmlns:a="http://schemas.openxmlformats.org/drawingml/2006/main">
              <a:ext uri="{FF2B5EF4-FFF2-40B4-BE49-F238E27FC236}">
                <a16:creationId xmlns:a16="http://schemas.microsoft.com/office/drawing/2014/main" id="{1B82082E-DC4D-4E6E-ABE1-06732DF0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23217759"/>
            <a:ext cx="8686800" cy="607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B. Frequency evidence and observation topology</a:t>
            </a:r>
          </a:p>
        </p:txBody>
      </p:sp>
      <p:sp>
        <p:nvSpPr>
          <p:cNvPr id="101" name="frequency-topology-body-1">
            <a:extLst xmlns:a="http://schemas.openxmlformats.org/drawingml/2006/main">
              <a:ext uri="{FF2B5EF4-FFF2-40B4-BE49-F238E27FC236}">
                <a16:creationId xmlns:a16="http://schemas.microsoft.com/office/drawing/2014/main" id="{7BA8D66C-8B54-43F7-9E74-690DCB27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23925847"/>
            <a:ext cx="868680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Foreground optical flow is transformed over time:</a:t>
            </a:r>
          </a:p>
        </p:txBody>
      </p:sp>
      <p:sp>
        <p:nvSpPr>
          <p:cNvPr id="102" name="flow-transform">
            <a:extLst xmlns:a="http://schemas.openxmlformats.org/drawingml/2006/main">
              <a:ext uri="{FF2B5EF4-FFF2-40B4-BE49-F238E27FC236}">
                <a16:creationId xmlns:a16="http://schemas.microsoft.com/office/drawing/2014/main" id="{BCCA1D17-119D-4EDE-A3D0-1939843E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24431625"/>
            <a:ext cx="868680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d̂ᵥ,ₚ(f) = Σₜ dᵥ,ₚ(t)e⁻ⁱ²πᶠᵗ</a:t>
            </a:r>
          </a:p>
        </p:txBody>
      </p:sp>
      <p:sp>
        <p:nvSpPr>
          <p:cNvPr id="103" name="frequency-topology-body-2">
            <a:extLst xmlns:a="http://schemas.openxmlformats.org/drawingml/2006/main">
              <a:ext uri="{FF2B5EF4-FFF2-40B4-BE49-F238E27FC236}">
                <a16:creationId xmlns:a16="http://schemas.microsoft.com/office/drawing/2014/main" id="{3E078684-E4A8-4DD9-A823-0C713DDB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25162193"/>
            <a:ext cx="8686800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Greedy frequency selection chooses a compact set that reconstructs the observed flow spectra. Rendered depth unprojects each retained pixel to a canonical point Xᵥ,ₚ. Nearby Gaussians are ranked by</a:t>
            </a:r>
          </a:p>
        </p:txBody>
      </p:sp>
      <p:sp>
        <p:nvSpPr>
          <p:cNvPr id="104" name="gaussian-score">
            <a:extLst xmlns:a="http://schemas.openxmlformats.org/drawingml/2006/main">
              <a:ext uri="{FF2B5EF4-FFF2-40B4-BE49-F238E27FC236}">
                <a16:creationId xmlns:a16="http://schemas.microsoft.com/office/drawing/2014/main" id="{A0FBC3B0-C275-4A1B-B8F0-C4790F29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26567130"/>
            <a:ext cx="8686800" cy="6915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sᵥ,ₚ,₍g₎ = o_g exp[−½(Xᵥ,ₚ−μ_g)ᵀΣ_g⁻¹(Xᵥ,ₚ−μ_g)]</a:t>
            </a:r>
          </a:p>
        </p:txBody>
      </p:sp>
      <p:sp>
        <p:nvSpPr>
          <p:cNvPr id="105" name="frequency-topology-body-3">
            <a:extLst xmlns:a="http://schemas.openxmlformats.org/drawingml/2006/main">
              <a:ext uri="{FF2B5EF4-FFF2-40B4-BE49-F238E27FC236}">
                <a16:creationId xmlns:a16="http://schemas.microsoft.com/office/drawing/2014/main" id="{73E2FC09-DF4D-4632-B20F-F715B1D5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27398853"/>
            <a:ext cx="868680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This creates a mode-independent observation topology connecting complex 2D measurements to plausible foreground Gaussian centers.</a:t>
            </a:r>
          </a:p>
        </p:txBody>
      </p:sp>
      <p:sp>
        <p:nvSpPr>
          <p:cNvPr id="106" name="phase-sync-subhead">
            <a:extLst xmlns:a="http://schemas.openxmlformats.org/drawingml/2006/main">
              <a:ext uri="{FF2B5EF4-FFF2-40B4-BE49-F238E27FC236}">
                <a16:creationId xmlns:a16="http://schemas.microsoft.com/office/drawing/2014/main" id="{91D9A5F9-8D00-4DD7-91CA-F10086DF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28421648"/>
            <a:ext cx="86868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C. Synchronizing phase without synchronized time</a:t>
            </a:r>
          </a:p>
        </p:txBody>
      </p:sp>
      <p:sp>
        <p:nvSpPr>
          <p:cNvPr id="107" name="phase-sync-intro">
            <a:extLst xmlns:a="http://schemas.openxmlformats.org/drawingml/2006/main">
              <a:ext uri="{FF2B5EF4-FFF2-40B4-BE49-F238E27FC236}">
                <a16:creationId xmlns:a16="http://schemas.microsoft.com/office/drawing/2014/main" id="{AE51F565-6CB0-41B0-B8A1-2DCE1C32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29197173"/>
            <a:ext cx="86868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At frequency k, view v observes a complex 2D displacement d̂ᵥ,ₖ,ₚ. For a Gaussian point g with complex 3D mode vector φₖ,g, first-order camera projection gives</a:t>
            </a:r>
          </a:p>
        </p:txBody>
      </p:sp>
      <p:sp>
        <p:nvSpPr>
          <p:cNvPr id="108" name="phase-projection">
            <a:extLst xmlns:a="http://schemas.openxmlformats.org/drawingml/2006/main">
              <a:ext uri="{FF2B5EF4-FFF2-40B4-BE49-F238E27FC236}">
                <a16:creationId xmlns:a16="http://schemas.microsoft.com/office/drawing/2014/main" id="{7AFC369B-0F66-4389-87A0-78EFC8DF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30500955"/>
            <a:ext cx="8686800" cy="6076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956B58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d̂ᵥ,ₖ,ₚ ≈ αᵥ,ₖ Jᵥ,g φₖ,g</a:t>
            </a:r>
          </a:p>
        </p:txBody>
      </p:sp>
      <p:sp>
        <p:nvSpPr>
          <p:cNvPr id="109" name="phase-projection-def">
            <a:extLst xmlns:a="http://schemas.openxmlformats.org/drawingml/2006/main">
              <a:ext uri="{FF2B5EF4-FFF2-40B4-BE49-F238E27FC236}">
                <a16:creationId xmlns:a16="http://schemas.microsoft.com/office/drawing/2014/main" id="{81877919-3847-449A-A3EC-4584B51B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31231522"/>
            <a:ext cx="8686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Jᵥ,g ∈ ℝ²ˣ³ is the camera projection Jacobian and αᵥ,ₖ ∈ ℂ is the unknown view-specific phase/gain.</a:t>
            </a:r>
          </a:p>
        </p:txBody>
      </p:sp>
      <p:sp>
        <p:nvSpPr>
          <p:cNvPr id="110" name="phase-bilinear">
            <a:extLst xmlns:a="http://schemas.openxmlformats.org/drawingml/2006/main">
              <a:ext uri="{FF2B5EF4-FFF2-40B4-BE49-F238E27FC236}">
                <a16:creationId xmlns:a16="http://schemas.microsoft.com/office/drawing/2014/main" id="{BCFC0CB3-282E-43D5-88FE-F7A329BF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32096964"/>
            <a:ext cx="8686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Direct optimization of both φ and every α is bilinear. We set βᵥ,ₖ = αᵥ,ₖ⁻¹ and use points observed by multiple cameras. For one shared Gaussian:</a:t>
            </a:r>
          </a:p>
        </p:txBody>
      </p:sp>
      <p:sp>
        <p:nvSpPr>
          <p:cNvPr id="111" name="phase-stacked">
            <a:extLst xmlns:a="http://schemas.openxmlformats.org/drawingml/2006/main">
              <a:ext uri="{FF2B5EF4-FFF2-40B4-BE49-F238E27FC236}">
                <a16:creationId xmlns:a16="http://schemas.microsoft.com/office/drawing/2014/main" id="{06189823-ECDA-4FD2-903F-E47EA870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33254632"/>
            <a:ext cx="868680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956B58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A_g φₖ,g = B_g βₖ</a:t>
            </a:r>
          </a:p>
        </p:txBody>
      </p:sp>
      <p:sp>
        <p:nvSpPr>
          <p:cNvPr id="112" name="phase-sync-continued">
            <a:extLst xmlns:a="http://schemas.openxmlformats.org/drawingml/2006/main">
              <a:ext uri="{FF2B5EF4-FFF2-40B4-BE49-F238E27FC236}">
                <a16:creationId xmlns:a16="http://schemas.microsoft.com/office/drawing/2014/main" id="{75D2BCA0-DA85-4AA6-B50A-AD320572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4762500"/>
            <a:ext cx="868680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C. Synchronizing phase (continued)</a:t>
            </a:r>
          </a:p>
        </p:txBody>
      </p:sp>
      <p:sp>
        <p:nvSpPr>
          <p:cNvPr id="113" name="phase-nullspace-body">
            <a:extLst xmlns:a="http://schemas.openxmlformats.org/drawingml/2006/main">
              <a:ext uri="{FF2B5EF4-FFF2-40B4-BE49-F238E27FC236}">
                <a16:creationId xmlns:a16="http://schemas.microsoft.com/office/drawing/2014/main" id="{388A257D-C46C-49A6-ADED-C3FD67A2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5414391"/>
            <a:ext cx="8686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The columns of B_g place each view's measured complex flow in the corresponding view block. Let N_g span the left null space of the stacked Jacobian A_g:</a:t>
            </a:r>
          </a:p>
        </p:txBody>
      </p:sp>
      <p:sp>
        <p:nvSpPr>
          <p:cNvPr id="114" name="phase-nullspace">
            <a:extLst xmlns:a="http://schemas.openxmlformats.org/drawingml/2006/main">
              <a:ext uri="{FF2B5EF4-FFF2-40B4-BE49-F238E27FC236}">
                <a16:creationId xmlns:a16="http://schemas.microsoft.com/office/drawing/2014/main" id="{0D10FE56-84D5-44FE-A4A1-D2AEA8A9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6617018"/>
            <a:ext cx="86868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956B58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N_gᴴ A_g = 0</a:t>
            </a:r>
          </a:p>
        </p:txBody>
      </p:sp>
      <p:sp>
        <p:nvSpPr>
          <p:cNvPr id="115" name="phase-constraint-body">
            <a:extLst xmlns:a="http://schemas.openxmlformats.org/drawingml/2006/main">
              <a:ext uri="{FF2B5EF4-FFF2-40B4-BE49-F238E27FC236}">
                <a16:creationId xmlns:a16="http://schemas.microsoft.com/office/drawing/2014/main" id="{A193F3AD-4092-470F-B2D1-970C99D1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7280148"/>
            <a:ext cx="86868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Any set of view offsets explained by one common 3D displacement must therefore satisfy</a:t>
            </a:r>
          </a:p>
        </p:txBody>
      </p:sp>
      <p:sp>
        <p:nvSpPr>
          <p:cNvPr id="116" name="phase-constraint">
            <a:extLst xmlns:a="http://schemas.openxmlformats.org/drawingml/2006/main">
              <a:ext uri="{FF2B5EF4-FFF2-40B4-BE49-F238E27FC236}">
                <a16:creationId xmlns:a16="http://schemas.microsoft.com/office/drawing/2014/main" id="{08F852B9-CD4E-4703-8856-F7709042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8066913"/>
            <a:ext cx="8686800" cy="5657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956B58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N_gᴴ B_g βₖ = 0</a:t>
            </a:r>
          </a:p>
        </p:txBody>
      </p:sp>
      <p:sp>
        <p:nvSpPr>
          <p:cNvPr id="117" name="sync-arrow-0">
            <a:extLst xmlns:a="http://schemas.openxmlformats.org/drawingml/2006/main">
              <a:ext uri="{FF2B5EF4-FFF2-40B4-BE49-F238E27FC236}">
                <a16:creationId xmlns:a16="http://schemas.microsoft.com/office/drawing/2014/main" id="{C1902B31-F201-49EB-AD20-A58EC6CD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5875" y="9348216"/>
            <a:ext cx="161925" cy="18859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3810">
            <a:solidFill>
              <a:srgbClr val="53616A"/>
            </a:solidFill>
            <a:prstDash val="solid"/>
          </a:ln>
        </p:spPr>
      </p:sp>
      <p:sp>
        <p:nvSpPr>
          <p:cNvPr id="118" name="sync-arrow-1">
            <a:extLst xmlns:a="http://schemas.openxmlformats.org/drawingml/2006/main">
              <a:ext uri="{FF2B5EF4-FFF2-40B4-BE49-F238E27FC236}">
                <a16:creationId xmlns:a16="http://schemas.microsoft.com/office/drawing/2014/main" id="{9EBDC252-5BDC-4A66-9218-A577195D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25" y="9348216"/>
            <a:ext cx="161925" cy="18859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3810">
            <a:solidFill>
              <a:srgbClr val="53616A"/>
            </a:solidFill>
            <a:prstDash val="solid"/>
          </a:ln>
        </p:spPr>
      </p:sp>
      <p:sp>
        <p:nvSpPr>
          <p:cNvPr id="119" name="sync-arrow-2">
            <a:extLst xmlns:a="http://schemas.openxmlformats.org/drawingml/2006/main">
              <a:ext uri="{FF2B5EF4-FFF2-40B4-BE49-F238E27FC236}">
                <a16:creationId xmlns:a16="http://schemas.microsoft.com/office/drawing/2014/main" id="{21D1A14F-CCE9-4F8F-A9CB-2C0D6220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6375" y="9348216"/>
            <a:ext cx="161925" cy="18859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3810">
            <a:solidFill>
              <a:srgbClr val="53616A"/>
            </a:solidFill>
            <a:prstDash val="solid"/>
          </a:ln>
        </p:spPr>
      </p:sp>
      <p:sp>
        <p:nvSpPr>
          <p:cNvPr id="120" name="sync-step-0">
            <a:extLst xmlns:a="http://schemas.openxmlformats.org/drawingml/2006/main">
              <a:ext uri="{FF2B5EF4-FFF2-40B4-BE49-F238E27FC236}">
                <a16:creationId xmlns:a16="http://schemas.microsoft.com/office/drawing/2014/main" id="{5ECE2472-BFDB-4004-ABB4-F58BB094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26125" y="8864918"/>
            <a:ext cx="1809750" cy="1100138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shared Gaussian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multi-view J and d̂</a:t>
            </a:r>
          </a:p>
        </p:txBody>
      </p:sp>
      <p:sp>
        <p:nvSpPr>
          <p:cNvPr id="121" name="sync-step-1">
            <a:extLst xmlns:a="http://schemas.openxmlformats.org/drawingml/2006/main">
              <a:ext uri="{FF2B5EF4-FFF2-40B4-BE49-F238E27FC236}">
                <a16:creationId xmlns:a16="http://schemas.microsoft.com/office/drawing/2014/main" id="{23B9652F-2F87-4D03-8BA0-F3F22F3F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26375" y="8864918"/>
            <a:ext cx="1809750" cy="1100138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56B58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SVD of stacked A_g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left-null N_g</a:t>
            </a:r>
          </a:p>
        </p:txBody>
      </p:sp>
      <p:sp>
        <p:nvSpPr>
          <p:cNvPr id="122" name="sync-step-2">
            <a:extLst xmlns:a="http://schemas.openxmlformats.org/drawingml/2006/main">
              <a:ext uri="{FF2B5EF4-FFF2-40B4-BE49-F238E27FC236}">
                <a16:creationId xmlns:a16="http://schemas.microsoft.com/office/drawing/2014/main" id="{0D4821B5-8DB0-403F-8C55-F79E119D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26625" y="8864918"/>
            <a:ext cx="1809750" cy="1100138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58B70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aggregate N_gᴴB_g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across points</a:t>
            </a:r>
          </a:p>
        </p:txBody>
      </p:sp>
      <p:sp>
        <p:nvSpPr>
          <p:cNvPr id="123" name="sync-step-3">
            <a:extLst xmlns:a="http://schemas.openxmlformats.org/drawingml/2006/main">
              <a:ext uri="{FF2B5EF4-FFF2-40B4-BE49-F238E27FC236}">
                <a16:creationId xmlns:a16="http://schemas.microsoft.com/office/drawing/2014/main" id="{9481637B-47AF-48CD-899B-5260351F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26875" y="8864918"/>
            <a:ext cx="1809750" cy="1100138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47625" tIns="38100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fix β₁,k = 1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solve remaining views</a:t>
            </a:r>
          </a:p>
        </p:txBody>
      </p:sp>
      <p:sp>
        <p:nvSpPr>
          <p:cNvPr id="124" name="phase-solve-body">
            <a:extLst xmlns:a="http://schemas.openxmlformats.org/drawingml/2006/main">
              <a:ext uri="{FF2B5EF4-FFF2-40B4-BE49-F238E27FC236}">
                <a16:creationId xmlns:a16="http://schemas.microsoft.com/office/drawing/2014/main" id="{8D850473-2CB9-4943-A9AA-1AC3993C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10213658"/>
            <a:ext cx="86868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We aggregate these constraints over shared points, fix one reference-view gauge β₁,ₖ = 1, and solve a robust least-squares synchronization. Rank and information tests exclude views whose phase is not identifiable from the shared geometry.</a:t>
            </a:r>
          </a:p>
        </p:txBody>
      </p:sp>
      <p:sp>
        <p:nvSpPr>
          <p:cNvPr id="125" name="phase-interpretation">
            <a:extLst xmlns:a="http://schemas.openxmlformats.org/drawingml/2006/main">
              <a:ext uri="{FF2B5EF4-FFF2-40B4-BE49-F238E27FC236}">
                <a16:creationId xmlns:a16="http://schemas.microsoft.com/office/drawing/2014/main" id="{3F25FE77-65DA-4015-A25B-51E945EE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12011978"/>
            <a:ext cx="8686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4288">
            <a:solidFill>
              <a:srgbClr val="956B5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Interpretation. The left-null projection removes the unknown 3D vector from synchronization. It asks only whether differently phased 2D observations could have come from some common 3D motion.</a:t>
            </a:r>
          </a:p>
        </p:txBody>
      </p:sp>
      <p:sp>
        <p:nvSpPr>
          <p:cNvPr id="126" name="spatial-structure-subhead">
            <a:extLst xmlns:a="http://schemas.openxmlformats.org/drawingml/2006/main">
              <a:ext uri="{FF2B5EF4-FFF2-40B4-BE49-F238E27FC236}">
                <a16:creationId xmlns:a16="http://schemas.microsoft.com/office/drawing/2014/main" id="{577BA636-639B-4AAC-B027-E1E8DD33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13754100"/>
            <a:ext cx="8686800" cy="607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D. Spatial structure, local solve, and completion</a:t>
            </a:r>
          </a:p>
        </p:txBody>
      </p:sp>
      <p:sp>
        <p:nvSpPr>
          <p:cNvPr id="127" name="spatial-structure-body-1">
            <a:extLst xmlns:a="http://schemas.openxmlformats.org/drawingml/2006/main">
              <a:ext uri="{FF2B5EF4-FFF2-40B4-BE49-F238E27FC236}">
                <a16:creationId xmlns:a16="http://schemas.microsoft.com/office/drawing/2014/main" id="{F39A93BD-ED7B-41AA-8898-0E7060BF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14484667"/>
            <a:ext cx="8686800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Mutual KNN edges are removed across strong Gaussian-color or rendered-depth discontinuities. Remaining connected neighborhoods provide local structure. For a local first-order rigid component c:</a:t>
            </a:r>
          </a:p>
        </p:txBody>
      </p:sp>
      <p:sp>
        <p:nvSpPr>
          <p:cNvPr id="128" name="rigid-component">
            <a:extLst xmlns:a="http://schemas.openxmlformats.org/drawingml/2006/main">
              <a:ext uri="{FF2B5EF4-FFF2-40B4-BE49-F238E27FC236}">
                <a16:creationId xmlns:a16="http://schemas.microsoft.com/office/drawing/2014/main" id="{737FA5C8-9482-4C5C-B7AA-83696436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15889605"/>
            <a:ext cx="8686800" cy="5657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φₖ,g = B_c,g ξₖ,c</a:t>
            </a:r>
          </a:p>
        </p:txBody>
      </p:sp>
      <p:sp>
        <p:nvSpPr>
          <p:cNvPr id="129" name="spatial-structure-body-2">
            <a:extLst xmlns:a="http://schemas.openxmlformats.org/drawingml/2006/main">
              <a:ext uri="{FF2B5EF4-FFF2-40B4-BE49-F238E27FC236}">
                <a16:creationId xmlns:a16="http://schemas.microsoft.com/office/drawing/2014/main" id="{8F4E67B6-CC80-4A4F-83B5-9F40DE69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16563975"/>
            <a:ext cx="8686800" cy="649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The complex twist is obtained by matching its projections to all aligned 2D observations:</a:t>
            </a:r>
          </a:p>
        </p:txBody>
      </p:sp>
      <p:sp>
        <p:nvSpPr>
          <p:cNvPr id="130" name="local-solve">
            <a:extLst xmlns:a="http://schemas.openxmlformats.org/drawingml/2006/main">
              <a:ext uri="{FF2B5EF4-FFF2-40B4-BE49-F238E27FC236}">
                <a16:creationId xmlns:a16="http://schemas.microsoft.com/office/drawing/2014/main" id="{C753AE0A-EC4A-40AF-9030-D618F1C6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17328261"/>
            <a:ext cx="8686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23313A"/>
                </a:solidFill>
                <a:latin typeface="Cambria Math"/>
                <a:ea typeface="Cambria Math"/>
                <a:cs typeface="Cambria Math"/>
              </a:rPr>
              <a:t>ξ*ₖ,c = arg min_ξ  Σ₍ᵥ,ₚ,g₎∈𝒪_c w̄ᵥ,ₚ,g ‖αᵥ,ₖJᵥ,gB_c,gξ − d̂ᵥ,ₖ,ₚ‖₂²</a:t>
            </a:r>
          </a:p>
        </p:txBody>
      </p:sp>
      <p:sp>
        <p:nvSpPr>
          <p:cNvPr id="131" name="motion-fill-body">
            <a:extLst xmlns:a="http://schemas.openxmlformats.org/drawingml/2006/main">
              <a:ext uri="{FF2B5EF4-FFF2-40B4-BE49-F238E27FC236}">
                <a16:creationId xmlns:a16="http://schemas.microsoft.com/office/drawing/2014/main" id="{E399530E-7AF2-406B-A5C8-13FD6036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18317337"/>
            <a:ext cx="868680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A separate foreground graph propagates trusted observed motion into compatible unobserved Gaussians while preserving the measured solution.</a:t>
            </a:r>
          </a:p>
        </p:txBody>
      </p:sp>
      <p:sp>
        <p:nvSpPr>
          <p:cNvPr id="132" name="rigid-components-placeholder">
            <a:extLst xmlns:a="http://schemas.openxmlformats.org/drawingml/2006/main">
              <a:ext uri="{FF2B5EF4-FFF2-40B4-BE49-F238E27FC236}">
                <a16:creationId xmlns:a16="http://schemas.microsoft.com/office/drawing/2014/main" id="{9637C4D1-A57D-4876-9E78-EEB9C0F8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19351371"/>
            <a:ext cx="86868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6193">
            <a:solidFill>
              <a:srgbClr val="496577"/>
            </a:solidFill>
            <a:prstDash val="dash"/>
          </a:ln>
        </p:spPr>
      </p:sp>
      <p:sp>
        <p:nvSpPr>
          <p:cNvPr id="133" name="rigid-components-placeholder-label">
            <a:extLst xmlns:a="http://schemas.openxmlformats.org/drawingml/2006/main">
              <a:ext uri="{FF2B5EF4-FFF2-40B4-BE49-F238E27FC236}">
                <a16:creationId xmlns:a16="http://schemas.microsoft.com/office/drawing/2014/main" id="{E11C06C6-68BE-4A95-AE8C-E63FA0E5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2300" y="19576161"/>
            <a:ext cx="845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Figure placeholder</a:t>
            </a:r>
          </a:p>
        </p:txBody>
      </p:sp>
      <p:sp>
        <p:nvSpPr>
          <p:cNvPr id="134" name="rigid-components-placeholder-file">
            <a:extLst xmlns:a="http://schemas.openxmlformats.org/drawingml/2006/main">
              <a:ext uri="{FF2B5EF4-FFF2-40B4-BE49-F238E27FC236}">
                <a16:creationId xmlns:a16="http://schemas.microsoft.com/office/drawing/2014/main" id="{94CD1DF0-640E-41AC-B9CC-ADDB59B4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59450" y="21093494"/>
            <a:ext cx="834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53616A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53616A"/>
                </a:solidFill>
                <a:latin typeface="Consolas"/>
                <a:ea typeface="Consolas"/>
                <a:cs typeface="Consolas"/>
              </a:rPr>
              <a:t>bush_rigid_components.png</a:t>
            </a:r>
          </a:p>
        </p:txBody>
      </p:sp>
      <p:sp>
        <p:nvSpPr>
          <p:cNvPr id="135" name="rigid-components-placeholder-caption">
            <a:extLst xmlns:a="http://schemas.openxmlformats.org/drawingml/2006/main">
              <a:ext uri="{FF2B5EF4-FFF2-40B4-BE49-F238E27FC236}">
                <a16:creationId xmlns:a16="http://schemas.microsoft.com/office/drawing/2014/main" id="{F577635E-19DA-4F39-A42D-735EF172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45150" y="23318915"/>
            <a:ext cx="85725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5361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16A"/>
                </a:solidFill>
                <a:latin typeface="Aptos"/>
                <a:ea typeface="Aptos"/>
                <a:cs typeface="Aptos"/>
              </a:rPr>
              <a:t>Bush Gaussian graph colored by local component or observation support.</a:t>
            </a:r>
          </a:p>
        </p:txBody>
      </p:sp>
      <p:sp>
        <p:nvSpPr>
          <p:cNvPr id="136" name="modes-grid-placeholder">
            <a:extLst xmlns:a="http://schemas.openxmlformats.org/drawingml/2006/main">
              <a:ext uri="{FF2B5EF4-FFF2-40B4-BE49-F238E27FC236}">
                <a16:creationId xmlns:a16="http://schemas.microsoft.com/office/drawing/2014/main" id="{06782B36-1F6F-47AC-8C34-769AF13E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23869650"/>
            <a:ext cx="8686800" cy="576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16193">
            <a:solidFill>
              <a:srgbClr val="658B70"/>
            </a:solidFill>
            <a:prstDash val="dash"/>
          </a:ln>
        </p:spPr>
      </p:sp>
      <p:sp>
        <p:nvSpPr>
          <p:cNvPr id="137" name="modes-grid-placeholder-label">
            <a:extLst xmlns:a="http://schemas.openxmlformats.org/drawingml/2006/main">
              <a:ext uri="{FF2B5EF4-FFF2-40B4-BE49-F238E27FC236}">
                <a16:creationId xmlns:a16="http://schemas.microsoft.com/office/drawing/2014/main" id="{4DD30F40-A4BA-4236-9BC6-FDE8ECE4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2300" y="24094440"/>
            <a:ext cx="845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Figure placeholder</a:t>
            </a:r>
          </a:p>
        </p:txBody>
      </p:sp>
      <p:sp>
        <p:nvSpPr>
          <p:cNvPr id="138" name="modes-grid-placeholder-file">
            <a:extLst xmlns:a="http://schemas.openxmlformats.org/drawingml/2006/main">
              <a:ext uri="{FF2B5EF4-FFF2-40B4-BE49-F238E27FC236}">
                <a16:creationId xmlns:a16="http://schemas.microsoft.com/office/drawing/2014/main" id="{C06E0F5E-61BD-4EB9-B3C6-BDD7E044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59450" y="26735723"/>
            <a:ext cx="834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53616A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53616A"/>
                </a:solidFill>
                <a:latin typeface="Consolas"/>
                <a:ea typeface="Consolas"/>
                <a:cs typeface="Consolas"/>
              </a:rPr>
              <a:t>bush_modes_grid.png</a:t>
            </a:r>
          </a:p>
        </p:txBody>
      </p:sp>
      <p:sp>
        <p:nvSpPr>
          <p:cNvPr id="139" name="modes-grid-placeholder-caption">
            <a:extLst xmlns:a="http://schemas.openxmlformats.org/drawingml/2006/main">
              <a:ext uri="{FF2B5EF4-FFF2-40B4-BE49-F238E27FC236}">
                <a16:creationId xmlns:a16="http://schemas.microsoft.com/office/drawing/2014/main" id="{F2ACF465-29C7-454F-A648-3F8A49E8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45150" y="30085094"/>
            <a:ext cx="85725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5361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16A"/>
                </a:solidFill>
                <a:latin typeface="Aptos"/>
                <a:ea typeface="Aptos"/>
                <a:cs typeface="Aptos"/>
              </a:rPr>
              <a:t>Representative completed Bush spatial 3D modes, shown from a common view and scale.</a:t>
            </a:r>
          </a:p>
        </p:txBody>
      </p:sp>
      <p:sp>
        <p:nvSpPr>
          <p:cNvPr id="140" name="current-interpretation">
            <a:extLst xmlns:a="http://schemas.openxmlformats.org/drawingml/2006/main">
              <a:ext uri="{FF2B5EF4-FFF2-40B4-BE49-F238E27FC236}">
                <a16:creationId xmlns:a16="http://schemas.microsoft.com/office/drawing/2014/main" id="{1977E07B-93D2-4335-A16A-6415FB67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0" y="30613350"/>
            <a:ext cx="86868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A"/>
          </a:solidFill>
          <a:ln xmlns:a="http://schemas.openxmlformats.org/drawingml/2006/main" w="14288">
            <a:solidFill>
              <a:srgbClr val="496577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331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13A"/>
                </a:solidFill>
                <a:latin typeface="Aptos"/>
                <a:ea typeface="Aptos"/>
                <a:cs typeface="Aptos"/>
              </a:rPr>
              <a:t>Current interpretation. The output modes are evidence-driven, spatially coherent complex displacement patterns. They are not yet mass- and stiffness-normalized structural eigenmodes. Accuracy depends on camera calibration, masks, optical flow, static Gaussian quality, and the shared-frequency assumption.</a:t>
            </a:r>
          </a:p>
        </p:txBody>
      </p:sp>
    </p:spTree>
    <p:extLst>
      <p:ext uri="{BB962C8B-B14F-4D97-AF65-F5344CB8AC3E}">
        <p14:creationId xmlns:p14="http://schemas.microsoft.com/office/powerpoint/2010/main" val="349087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2026-08-06T07:54:52.1990000Z</dcterms:created>
  <dcterms:modified xsi:type="dcterms:W3CDTF">2026-08-06T07:54:52.1990000Z</dcterms:modified>
</coreProperties>
</file>